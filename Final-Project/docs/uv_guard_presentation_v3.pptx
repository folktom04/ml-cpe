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" id="{38f8460b-9764-218e-54a5-8a51ada4f7d8}">
          <p14:sldIdLst>
            <p14:sldId id="256"/>
          </p14:sldIdLst>
        </p14:section>
        <p14:section name="ที่มา" id="{f08058d8-8cc9-e015-6b54-a696f3dc2368}">
          <p14:sldIdLst>
            <p14:sldId id="257"/>
          </p14:sldIdLst>
        </p14:section>
        <p14:section name="ระบบ" id="{0bfeb75e-7887-3da7-cfb8-b70faf0e38c3}">
          <p14:sldIdLst>
            <p14:sldId id="258"/>
            <p14:sldId id="259"/>
          </p14:sldIdLst>
        </p14:section>
        <p14:section name="โมเดล" id="{d1eb9f59-40ec-0f96-7ee9-f8e699b17ccf}">
          <p14:sldIdLst>
            <p14:sldId id="260"/>
            <p14:sldId id="261"/>
          </p14:sldIdLst>
        </p14:section>
        <p14:section name="ผลทดสอบ" id="{46598f72-b759-9e62-3f26-677dc5542f47}">
          <p14:sldIdLst>
            <p14:sldId id="262"/>
            <p14:sldId id="263"/>
            <p14:sldId id="264"/>
          </p14:sldIdLst>
        </p14:section>
        <p14:section name="แอป" id="{67387d6a-a73d-cb85-388c-57eee4cf0591}">
          <p14:sldIdLst>
            <p14:sldId id="265"/>
            <p14:sldId id="266"/>
            <p14:sldId id="267"/>
          </p14:sldIdLst>
        </p14:section>
        <p14:section name="ปิด" id="{7b8bca9f-4a27-5659-aa7e-cf509a39688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UV ตอนฟ้าใส (ฟิสิกส์)</c:v>
                </c:pt>
              </c:strCache>
            </c:strRef>
          </c:tx>
          <c:spPr>
            <a:ln w="25400">
              <a:solidFill>
                <a:srgbClr val="B8BCCB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6:00</c:v>
                </c:pt>
                <c:pt idx="1">
                  <c:v>7:00</c:v>
                </c:pt>
                <c:pt idx="2">
                  <c:v>8:00</c:v>
                </c:pt>
                <c:pt idx="3">
                  <c:v>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  <c:pt idx="9">
                  <c:v>15:00</c:v>
                </c:pt>
                <c:pt idx="10">
                  <c:v>16:00</c:v>
                </c:pt>
                <c:pt idx="11">
                  <c:v>17:00</c:v>
                </c:pt>
                <c:pt idx="12">
                  <c:v>18:00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0.3</c:v>
                </c:pt>
                <c:pt idx="1">
                  <c:v>1.5</c:v>
                </c:pt>
                <c:pt idx="2">
                  <c:v>3.5</c:v>
                </c:pt>
                <c:pt idx="3">
                  <c:v>6.0</c:v>
                </c:pt>
                <c:pt idx="4">
                  <c:v>8.5</c:v>
                </c:pt>
                <c:pt idx="5">
                  <c:v>10.0</c:v>
                </c:pt>
                <c:pt idx="6">
                  <c:v>10.5</c:v>
                </c:pt>
                <c:pt idx="7">
                  <c:v>10.0</c:v>
                </c:pt>
                <c:pt idx="8">
                  <c:v>8.5</c:v>
                </c:pt>
                <c:pt idx="9">
                  <c:v>6.0</c:v>
                </c:pt>
                <c:pt idx="10">
                  <c:v>3.5</c:v>
                </c:pt>
                <c:pt idx="11">
                  <c:v>1.5</c:v>
                </c:pt>
                <c:pt idx="12">
                  <c:v>0.3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UV จริง (มีเมฆ)</c:v>
                </c:pt>
              </c:strCache>
            </c:strRef>
          </c:tx>
          <c:spPr>
            <a:ln w="34925">
              <a:solidFill>
                <a:srgbClr val="F28C28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6:00</c:v>
                </c:pt>
                <c:pt idx="1">
                  <c:v>7:00</c:v>
                </c:pt>
                <c:pt idx="2">
                  <c:v>8:00</c:v>
                </c:pt>
                <c:pt idx="3">
                  <c:v>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  <c:pt idx="9">
                  <c:v>15:00</c:v>
                </c:pt>
                <c:pt idx="10">
                  <c:v>16:00</c:v>
                </c:pt>
                <c:pt idx="11">
                  <c:v>17:00</c:v>
                </c:pt>
                <c:pt idx="12">
                  <c:v>18:00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0.3</c:v>
                </c:pt>
                <c:pt idx="1">
                  <c:v>1.5</c:v>
                </c:pt>
                <c:pt idx="2">
                  <c:v>3.15</c:v>
                </c:pt>
                <c:pt idx="3">
                  <c:v>5.1</c:v>
                </c:pt>
                <c:pt idx="4">
                  <c:v>6.38</c:v>
                </c:pt>
                <c:pt idx="5">
                  <c:v>6.0</c:v>
                </c:pt>
                <c:pt idx="6">
                  <c:v>5.78</c:v>
                </c:pt>
                <c:pt idx="7">
                  <c:v>6.5</c:v>
                </c:pt>
                <c:pt idx="8">
                  <c:v>6.38</c:v>
                </c:pt>
                <c:pt idx="9">
                  <c:v>4.8</c:v>
                </c:pt>
                <c:pt idx="10">
                  <c:v>2.98</c:v>
                </c:pt>
                <c:pt idx="11">
                  <c:v>1.42</c:v>
                </c:pt>
                <c:pt idx="12">
                  <c:v>0.3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5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850">
          <a:solidFill>
            <a:srgbClr val="4A507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/>
              <a:t>ผิดเฉลี่ยบนสอบย่อย 2024 (ต่ำ = ดี)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B8BCCB"/>
            </a:solidFill>
          </c:spPr>
          <c:dPt>
            <c:idx val="3"/>
            <c:spPr>
              <a:solidFill>
                <a:srgbClr val="F5A85A"/>
              </a:solidFill>
            </c:spPr>
          </c:dPt>
          <c:dPt>
            <c:idx val="4"/>
            <c:spPr>
              <a:solidFill>
                <a:srgbClr val="F28C28"/>
              </a:solidFill>
            </c:spPr>
          </c:dPt>
          <c:cat>
            <c:strRef>
              <c:f>Sheet1!$A$2:$A$6</c:f>
              <c:strCache>
                <c:ptCount val="5"/>
                <c:pt idx="0">
                  <c:v>Open-Meteo (ไม่ใช้ ML)</c:v>
                </c:pt>
                <c:pt idx="1">
                  <c:v>CMF คงที่</c:v>
                </c:pt>
                <c:pt idx="2">
                  <c:v>Linear regression</c:v>
                </c:pt>
                <c:pt idx="3">
                  <c:v>XGBoost</c:v>
                </c:pt>
                <c:pt idx="4">
                  <c:v>XGBoost + ปรับค่า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1.252</c:v>
                </c:pt>
                <c:pt idx="1">
                  <c:v>0.703</c:v>
                </c:pt>
                <c:pt idx="2">
                  <c:v>0.473</c:v>
                </c:pt>
                <c:pt idx="3">
                  <c:v>0.462</c:v>
                </c:pt>
                <c:pt idx="4">
                  <c:v>0.45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A5070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/>
              <a:t>เวลาก่อนผิวไหม้ที่ UV 10 (นาที)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นาที</c:v>
                </c:pt>
              </c:strCache>
            </c:strRef>
          </c:tx>
          <c:spPr>
            <a:solidFill>
              <a:srgbClr val="F28C28"/>
            </a:solidFill>
          </c:spPr>
          <c:dPt>
            <c:idx val="2"/>
            <c:spPr>
              <a:solidFill>
                <a:srgbClr val="E36B12"/>
              </a:solidFill>
            </c:spPr>
          </c:dPt>
          <c:cat>
            <c:strRef>
              <c:f>Sheet1!$A$2:$A$7</c:f>
              <c:strCache>
                <c:ptCount val="6"/>
                <c:pt idx="0">
                  <c:v>I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V</c:v>
                </c:pt>
                <c:pt idx="5">
                  <c:v>VI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17</c:v>
                </c:pt>
                <c:pt idx="2">
                  <c:v>23</c:v>
                </c:pt>
                <c:pt idx="3">
                  <c:v>30</c:v>
                </c:pt>
                <c:pt idx="4">
                  <c:v>40</c:v>
                </c:pt>
                <c:pt idx="5">
                  <c:v>67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A5070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 · รวม 0:25]</a:t>
            </a:r>
          </a:p>
          <a:p>
            <a:r>
              <a:t>สวัสดีครับ ผมจักรพัทศ์ ยอดระยับ</a:t>
            </a:r>
          </a:p>
          <a:p>
            <a:r>
              <a:t>ถ้าตอนนี้เราออกไปยืนกลางแดดตอนเที่ยง เรารู้ไหมว่ายืนได้กี่นาทีก่อนผิวจะไหม้ ส่วนใหญ่ไม่มีใครรู้</a:t>
            </a:r>
          </a:p>
          <a:p>
            <a:r>
              <a:t>UV Guard ตอบคำถามนี้ใน 3 ขั้น (ชี้แถบ): ประเมิน UV ตรงจุดที่เรายืน คิดตามผิวของแต่ละคน และเตือนก่อนผิวไหม้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 · รวม 1:20]</a:t>
            </a:r>
          </a:p>
          <a:p>
            <a:r>
              <a:t>ที่มามี 3 ข้อครับ</a:t>
            </a:r>
          </a:p>
          <a:p>
            <a:r>
              <a:t>(ชี้ซ้าย) ข้อแรก แดดบ้านเราแรงมาก เที่ยงวันฟ้าใสที่ปทุมธานี UV ถึง 12–13 อยู่ปลายสุดของแถบ คือ "รุนแรงมาก"</a:t>
            </a:r>
          </a:p>
          <a:p>
            <a:r>
              <a:t>(ชี้กลาง) ข้อสอง แอปทั่วไปที่ใช้ Open-Meteo ผิดเฉลี่ย 2.43 หน่วยเมื่อเทียบดาวเทียม NASA ระดับ "สูง" กว้างแค่ 2 หน่วย จึงอาจเตือนว่า "สูง" ทั้งที่จริงเป็น "สูงมาก"</a:t>
            </a:r>
          </a:p>
          <a:p>
            <a:r>
              <a:t>(ชี้ขวา) ข้อสาม คนทนแดดไม่เท่ากัน ที่ UV 10 ผิวขาวไหม้ใน 13 นาที ผิวคล้ำ 67 นาที ต่างกัน 5 เท่า</a:t>
            </a:r>
          </a:p>
          <a:p>
            <a:r>
              <a:t>(ชี้แถบล่าง) โจทย์ของผมจึงเป็น: ทำนาย UV ให้แม่นขึ้น แล้วบอกเวลาก่อนผิวไหม้ของแต่ละคน ด้วยมือถือเครื่องเดียว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รวม 1:55]</a:t>
            </a:r>
          </a:p>
          <a:p>
            <a:r>
              <a:t>ผู้ใช้ได้อะไร: ตอบ 5 คำถามเพื่อรู้ประเภทผิว → เห็น UV ตอนนี้พร้อมช่วงและกราฟทั้งวัน → กด "ออกแดด" แอปนับเวลาที่เหลือ → ใกล้ถึงเวลาก็ได้แจ้งเตือน</a:t>
            </a:r>
          </a:p>
          <a:p>
            <a:r>
              <a:t>(ชี้ภาพขวา) นี่คือหน้าจอจริง UV 7.1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 · รวม 2:50]</a:t>
            </a:r>
          </a:p>
          <a:p>
            <a:r>
              <a:t>ก่อนเข้าเรื่องเทคนิค ขออธิบายคำศัพท์ด้าน UV ครับ</a:t>
            </a:r>
          </a:p>
          <a:p>
            <a:r>
              <a:t>(ชี้แถบสี) UV Index หรือ UVI เป็นตัวเลขบอกความแรงของแดด WHO แบ่งเป็น 5 ระดับ แต่ละระดับมีคำแนะนำ ตั้งแต่ป้องกันเล็กน้อย จนถึงอยู่ในร่มให้มากที่สุด</a:t>
            </a:r>
          </a:p>
          <a:p>
            <a:r>
              <a:t>(ชี้ UVA/UVB) แดดมี UV 2 ชนิด UVB คลื่นสั้น ทำให้ผิวไหม้ UVA คลื่นยาว ลงลึก ทำให้ผิวแก่</a:t>
            </a:r>
          </a:p>
          <a:p>
            <a:r>
              <a:t>(ชี้ MED) MED คือปริมาณ UV น้อยที่สุดที่ทำให้ผิวแดง ให้นึกว่าผิวเป็นถัง แดดเป็นน้ำที่ไหลลง พอถังเต็มผิวก็ไหม้</a:t>
            </a:r>
          </a:p>
          <a:p>
            <a:r>
              <a:t>(ชี้วงกลมสีผิว) ผิว 6 ประเภท ยิ่งคล้ำถังยิ่งใหญ่ ผิว I มี 200 ผิว VI มี 1,000 แอปหาประเภทผิวจากคำถาม 5 ข้อ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 · รวม 3:45]</a:t>
            </a:r>
          </a:p>
          <a:p>
            <a:r>
              <a:t>ต่อด้วยคำศัพท์ด้าน Machine Learning</a:t>
            </a:r>
          </a:p>
          <a:p>
            <a:r>
              <a:t>- Machine Learning คือให้คอมพิวเตอร์หารูปแบบจากตัวอย่างในอดีต แล้วใช้ทายเหตุการณ์ใหม่ เหมือนนักเรียนทำแบบฝึกหัดจนเก่ง</a:t>
            </a:r>
          </a:p>
          <a:p>
            <a:r>
              <a:t>- โมเดล คือผลลัพธ์ที่ได้หลังเรียน เหมือนสูตรที่คอมพิวเตอร์คิดเอง</a:t>
            </a:r>
          </a:p>
          <a:p>
            <a:r>
              <a:t>- Feature คือโจทย์ เช่น เมฆ ฝุ่น ส่วน Target คือเฉลย คือค่า UV</a:t>
            </a:r>
          </a:p>
          <a:p>
            <a:r>
              <a:t>- Train / Dev / Test คือการบ้าน สอบย่อย และสอบจริง</a:t>
            </a:r>
          </a:p>
          <a:p>
            <a:r>
              <a:t>- MAE คือทายผิดเฉลี่ยกี่หน่วย เช่น จริง 8 ทาย 7.5 ผิด 0.5</a:t>
            </a:r>
          </a:p>
          <a:p>
            <a:r>
              <a:t>- Data leakage คือโมเดลแอบเห็นเฉลย คะแนนจึงดีเกินจริง ต้องระวังที่สุด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รวม 4:45] หน้าสำคัญที่สุด พูดช้า ๆ</a:t>
            </a:r>
          </a:p>
          <a:p>
            <a:r>
              <a:t>หลักการของระบบคือสมการนี้ (ชี้แถวบน): UV จริง = UV ตอนฟ้าใส × CMF</a:t>
            </a:r>
          </a:p>
          <a:p>
            <a:r>
              <a:t>(ชี้กล่องส้ม) เปรียบกับหลอดไฟและม่าน หลอดไฟคือดวงอาทิตย์ ถ้าไม่มีเมฆ คำนวณด้วยสูตรฟิสิกส์ได้แม่นจากมุมดวงอาทิตย์และโอโซน ม่านคือเมฆกับฝุ่น คำนวณตรง ๆ ไม่ได้ จึงให้ ML ทายเป็นตัวเลข CMF 0 ถึง 1 เช่น 0.7 แปลว่าบังไป 30 %</a:t>
            </a:r>
          </a:p>
          <a:p>
            <a:r>
              <a:t>(ชี้กราฟ) เส้นเทาคือ UV ตอนฟ้าใส เป็นรูประฆัง เส้นส้มคือ UV จริงที่ลดลงตามเมฆ</a:t>
            </a:r>
          </a:p>
          <a:p>
            <a:r>
              <a:t>ข้อดีคือ ML ไม่ต้องเรียนสิ่งที่ฟิสิกส์รู้อยู่แล้ว เรียนแค่ส่วนที่ยาก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รวม 5:30]</a:t>
            </a:r>
          </a:p>
          <a:p>
            <a:r>
              <a:t>ข้อมูลมาจาก 4 แหล่ง ทำหน้าที่ต่างกัน (ชี้แถบสีด้านล่างของแต่ละการ์ด)</a:t>
            </a:r>
          </a:p>
          <a:p>
            <a:r>
              <a:t>- Open-Meteo ให้ข้อมูลอากาศรายชั่วโมง เช่น เมฆ ความชื้น ฝุ่น เป็นโจทย์</a:t>
            </a:r>
          </a:p>
          <a:p>
            <a:r>
              <a:t>- NASA POWER ให้ค่า UV รายชั่วโมง เป็นเฉลย ผมเลือกเพราะเทียบดาวเทียม OMI แล้วผิด 1.14 ขณะที่ Open-Meteo ผิด 2.43</a:t>
            </a:r>
          </a:p>
          <a:p>
            <a:r>
              <a:t>- OMI และ TEMIS ใช้ตรวจอย่างเดียว ไม่เคยใช้ฝึก เหมือนกรรมการภายนอก</a:t>
            </a:r>
          </a:p>
          <a:p>
            <a:r>
              <a:t>รวม 3 ปี 11,156 ชั่วโมงกลางวัน ที่ปทุมธานี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 · รวม 6:25]</a:t>
            </a:r>
          </a:p>
          <a:p>
            <a:r>
              <a:t>ระบบทำงาน 6 ขั้นทุก 30 นาที (อ่านตามแถบส้มเป็นตัวอย่าง)</a:t>
            </a:r>
          </a:p>
          <a:p>
            <a:r>
              <a:t>1. รับข้อมูลอากาศ วันนี้เมฆมาก ฝุ่นน้อย</a:t>
            </a:r>
          </a:p>
          <a:p>
            <a:r>
              <a:t>2. สูตรฟิสิกส์คำนวณ UV ฟ้าใสได้ 10</a:t>
            </a:r>
          </a:p>
          <a:p>
            <a:r>
              <a:t>3. ML ทาย CMF ได้ 0.7</a:t>
            </a:r>
          </a:p>
          <a:p>
            <a:r>
              <a:t>4. UV ประมาณ 7 อยู่ระหว่าง 6 ถึง 8</a:t>
            </a:r>
          </a:p>
          <a:p>
            <a:r>
              <a:t>5. ผิวประเภท III จะไหม้ในประมาณ 29 นาที คิดจากค่าบน</a:t>
            </a:r>
          </a:p>
          <a:p>
            <a:r>
              <a:t>6. ส่งไปแสดงบนแอป และแจ้งเตือน</a:t>
            </a:r>
          </a:p>
          <a:p>
            <a:r>
              <a:t>ขั้น 1–5 อยู่บนเซิร์ฟเวอร์ ขั้น 6 อยู่บนมือถือ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 · รวม 7:20]</a:t>
            </a:r>
          </a:p>
          <a:p>
            <a:r>
              <a:t>ML ที่ใช้คือ XGBoost (ชี้ซ้าย) มันคือต้นไม้ตัดสินใจหลายร้อยต้น ต้นแรกทายได้ 0.50 ยังขาด 0.20 ต้นที่สองดูว่าต้นแรกผิดตรงไหนแล้วแก้เพิ่ม ต้นต่อ ๆ ไปก็แก้ส่วนที่เหลือ รวม 850 ต้น ค่าทายจึงเข้าใกล้ค่าจริง (ตัวเลขเป็นตัวอย่างประกอบ)</a:t>
            </a:r>
          </a:p>
          <a:p>
            <a:r>
              <a:t>(ชี้กราฟขวา) ทำไมเลือก XGBoost: ผมเทียบหลายวิธีบนข้อมูลสอบย่อย ใช้ค่าจาก Open-Meteo ตรง ๆ ผิด 1.252 ใช้ CMF คงที่ผิด 0.703 วิธีเส้นตรงผิด 0.473 XGBoost ที่ปรับค่าแล้วผิดน้อยสุด 0.450 และยังทำเป็นแบบช่วงได้ด้วย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รวม 8:05]</a:t>
            </a:r>
          </a:p>
          <a:p>
            <a:r>
              <a:t>การสอนโมเดล (ชี้แถวบน): โจทย์ 23 อย่าง → โมเดล → เฉลยจาก NASA</a:t>
            </a:r>
          </a:p>
          <a:p>
            <a:r>
              <a:t>(ชี้แถบแดง) กฎสำคัญคือห้ามเอาข้อมูล NASA ไปเป็นโจทย์ เพราะเหมือนให้นักเรียนเห็นเฉลยระหว่างสอบ</a:t>
            </a:r>
          </a:p>
          <a:p>
            <a:r>
              <a:t>(ชี้กล่องปี) แบ่งข้อมูลตามเวลา ไม่สุ่ม: 2023 การบ้าน, 2024 สอบย่อย, 2025 สอบจริง เปิดได้ครั้งเดียว และผมเขียนเกณฑ์ผ่านไว้ก่อนเปิดผลทุกครั้ง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 · รวม 8:55]</a:t>
            </a:r>
          </a:p>
          <a:p>
            <a:r>
              <a:t>(ชี้กล่องซ้ายบน) แอปบอกเป็นช่วง เหมือนพยากรณ์อากาศ "30–34 องศา" ที่บอกได้มากกว่า "32 องศา"</a:t>
            </a:r>
          </a:p>
          <a:p>
            <a:r>
              <a:t>(ชี้แถบช่วง) เช่น UV 7.1 อยู่ระหว่าง 6.0 ถึง 8.1 แอปเตือนตามค่าสูงสุด 8.1 เหมือนเผื่อเวลาเดินทาง ยอมเตือนเกินบ้าง แต่ไม่พลาด</a:t>
            </a:r>
          </a:p>
          <a:p>
            <a:r>
              <a:t>(ชี้กล่องขวา) ช่วงต้องเชื่อได้ ค่าจริงควรตกในช่วงราว 80 % ตอนแรกได้แค่ 58 % คือช่วงแคบเกินไป ผมปรับด้วยวิธี CQR ได้ 84 % อยู่ในแถบเขียวที่เป็นเป้า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 · รวม 9:45]</a:t>
            </a:r>
          </a:p>
          <a:p>
            <a:r>
              <a:t>คิดเวลาก่อนผิวไหม้ด้วยภาพถังน้ำ</a:t>
            </a:r>
          </a:p>
          <a:p>
            <a:r>
              <a:t>(ชี้ทีละกล่อง) ผิวประเภท III แบบคนไทยทั่วไปมีถังขนาด 350 ที่ UV 10 น้ำไหลลงนาทีละ 15 จึงเต็มในประมาณ 23 นาที</a:t>
            </a:r>
          </a:p>
          <a:p>
            <a:r>
              <a:t>สูตรอยู่ในกล่องส้ม และแอปใช้ค่า UV ด้านบนของช่วงเสมอ</a:t>
            </a:r>
          </a:p>
          <a:p>
            <a:r>
              <a:t>(ชี้กราฟ) แดดเท่ากัน ผิว I ทนได้ 13 นาที ผิว VI ทนได้ 67 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รวม 10:30]</a:t>
            </a:r>
          </a:p>
          <a:p>
            <a:r>
              <a:t>การแจ้งเตือนมี 2 แบบ</a:t>
            </a:r>
          </a:p>
          <a:p>
            <a:r>
              <a:t>(ชี้ซ้าย) แบบในเครื่อง ทำงานแม้ไม่มีเน็ต: เตือนเมื่อ UV สูงตามพยากรณ์ สรุปตอนเช้า 7 โมง ปุ่มออกแดดเตือนเมื่อถึง 80 % ของ MED และเตือนทาครีมซ้ำทุก 2 ชั่วโมง</a:t>
            </a:r>
          </a:p>
          <a:p>
            <a:r>
              <a:t>(ชี้ขวา) แบบ push จากเซิร์ฟเวอร์ ส่งได้แม้ไม่เปิดแอป: ตรวจทุก 30 นาที ถ้า UV ถึง 8 ส่ง "UV สูง" แล้วพัก 3 ชั่วโมงไม่ส่งซ้ำ ถ้าลดต่ำกว่า 6 ส่ง "ปลอดภัยแล้ว"</a:t>
            </a:r>
          </a:p>
          <a:p>
            <a:r>
              <a:t>(ชี้แถบล่าง) เซิร์ฟเวอร์รู้แค่ชื่อจังหวัด และเงียบหลังพระอาทิตย์ตก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รวม 11:30] ผลหลัก เน้นหน้านี้</a:t>
            </a:r>
          </a:p>
          <a:p>
            <a:r>
              <a:t>ปี 2025 คือสอบจริง ผมตั้งเกณฑ์ 15 ข้อก่อนเปิด และเปิดครั้งเดียว</a:t>
            </a:r>
          </a:p>
          <a:p>
            <a:r>
              <a:t>(ชี้ 0.479) ผิดเฉลี่ย 0.479 ไม่ถึงครึ่งหน่วย ขณะที่ระดับเตือนหนึ่งขั้นกว้าง 2 หน่วย</a:t>
            </a:r>
          </a:p>
          <a:p>
            <a:r>
              <a:t>(ชี้ 2.6×) Open-Meteo ผิด 1.244 โมเดลแม่นกว่าประมาณ 2.6 เท่า</a:t>
            </a:r>
          </a:p>
          <a:p>
            <a:r>
              <a:t>(ชี้ 98.6 %) ในชั่วโมงที่ UV สูงมากจริง เตือนทัน 98.6 % พลาดประมาณ 1 ใน 70 ชั่วโมง</a:t>
            </a:r>
          </a:p>
          <a:p>
            <a:r>
              <a:t>(ชี้แถวจุด) ผ่าน 14 จาก 15 ข้อ ข้อที่ไม่ผ่านคือค่า UVA/UVB ยังสอดคล้องกับดาวเทียมไม่ถึงเกณฑ์ รายละเอียดทุกข้ออยู่ในภาคผนวก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 · รวม 12:25]</a:t>
            </a:r>
          </a:p>
          <a:p>
            <a:r>
              <a:t>ผมลองของใหม่ 3 อย่าง และตั้งเกณฑ์ไว้ก่อนทุกครั้ง (ชี้ทีละกล่อง)</a:t>
            </a:r>
          </a:p>
          <a:p>
            <a:r>
              <a:t>- LSTM เป็น AI ที่จำลำดับเวลา ต้องผิดน้อยกว่า 0.430 ได้ 0.463 ไม่ผ่าน ใช้ XGBoost ต่อ</a:t>
            </a:r>
          </a:p>
          <a:p>
            <a:r>
              <a:t>- CNN ดูภาพท้องฟ้า แยกเมฆ 11 ชนิดได้ 48.6 % ไม่ถึง 60 % จึงไม่แสดง แต่แยกฟ้า 6 แบบได้ 97.5 % ใช้แสดงประกอบ</a:t>
            </a:r>
          </a:p>
          <a:p>
            <a:r>
              <a:t>- ดาวเทียม Himawari ต้องดีขึ้นเกิน 0.02 แต่บนข้อมูลใหม่ดีขึ้นแค่ 0.007 จึงไม่ใส่ แม้ทำเสร็จแล้ว (รายละเอียดใน A3)</a:t>
            </a:r>
          </a:p>
          <a:p>
            <a:r>
              <a:t>(ชี้แถบล่าง) ถ้าเลือกเกณฑ์หลังเห็นผล เราจะหลอกตัวเองได้ง่าย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รวม 13:10]</a:t>
            </a:r>
          </a:p>
          <a:p>
            <a:r>
              <a:t>วันที่ 4 ตุลาคม ใช้แอปจริงทั้งวัน (ชี้ไทม์ไลน์) กดออกแดด 10:08 เตือน 10:31 ตรงตามสูตร</a:t>
            </a:r>
          </a:p>
          <a:p>
            <a:r>
              <a:t>(ชี้กล่องกลาง) แจ้งเตือนช้า 2–9 นาทีเพราะ Android ประหยัดแบต เจอบั๊ก 4 ตัวทั้งที่เทสต์ผ่านหมด แก้แล้ว และกล้องตอบ "เมฆบางสีขาว" ทุกภาพ</a:t>
            </a:r>
          </a:p>
          <a:p>
            <a:r>
              <a:t>บทเรียนคือต้องทดสอบบนเครื่องจริงเสมอ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รวม 13:45]</a:t>
            </a:r>
          </a:p>
          <a:p>
            <a:r>
              <a:t>ข้อจำกัด 4 ข้อ: ไม่มีเครื่องวัด UV จริง, วันฟ้าใสค่าต่ำกว่าจริงราว 1.4 เพราะเฉลยของ NASA เองก็ต่ำ, ข้อมูลที่ปทุมธานีที่เดียว, และกล้องยังไม่ได้วัดผลกับภาพมือถือ</a:t>
            </a:r>
          </a:p>
          <a:p>
            <a:r>
              <a:t>(ชี้แถวล่าง) งานต่อไปตามนี้ครับ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รวม 14:15]</a:t>
            </a:r>
          </a:p>
          <a:p>
            <a:r>
              <a:t>สรุปครับ UV Guard บอก UV และเวลาก่อนผิวไหม้ของแต่ละคน ผิดเฉลี่ยไม่ถึงครึ่งหน่วย แม่นกว่าแอปทั่วไป 2.6 เท่า เตือนชั่วโมงอันตรายทัน 98.6 %</a:t>
            </a:r>
          </a:p>
          <a:p>
            <a:r>
              <a:t>สิ่งที่ได้เรียนรู้คือ ตั้งเกณฑ์ก่อนดูผล และทดสอบบนเครื่องจริงเสมอ</a:t>
            </a:r>
          </a:p>
          <a:p>
            <a:r>
              <a:t>ค่าทั้งหมดเป็นค่าประมาณเพื่อการศึกษา ไม่ใช่การวินิจฉัยทางการแพทย์ ขอบคุณครับ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ภาคผนวก ไม่ต้องบรรยาย กระโดดมาที่หน้านี้เมื่อมีคำถาม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 ใช้ตอบ: "สูตรคำนวณ UV ฟ้าใส / เวลาผิวไหม้ มาจากไหน" อธิบายว่า μ₀ คือ cos ของมุมดวงอาทิตย์จากจุดเหนือศีรษะ ดวงอาทิตย์ยิ่งตั้งฉาก UV ยิ่งสูง โอโซนยิ่งหนา UV ยิ่งต่ำ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A2 ใช้ตอบ: "เกณฑ์ผ่านมีอะไรบ้าง ไม่ผ่านข้อไหน" ไม่ผ่านแค่ T4 คือ r ของ UVA/UVB กับ irradiance ของ OMI ต่ำสุด 0.533 แต่ยังดีกว่าฟิสิกส์ฟ้าใสทุกคู่ (T4b)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A3 ใช้ตอบ: "ทำไมไม่ใช้ดาวเทียมรู้สภาพเมฆเฉพาะจุด" ลองแล้ว บน dev ดีขึ้นชัด แต่บนข้อมูลใหม่ครึ่งแรกปี 2026 ดีขึ้นแค่ 0.007 และช่วงความเชื่อมั่นคร่อม 0 จึงไม่ผ่านเกณฑ์ที่ประกาศไว้ สมมติฐาน: ช่วงนั้นฟ้าเปิดกว่าปกติ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 ใช้ตอบ: "โมเดลตั้งค่ายังไง / ข้อมูลกี่ชั่วโมง / ตัวเลขอื่น ๆ" เช่น precision 0.564 แปลว่าเตือน 100 ครั้ง อันตรายจริงประมาณ 56 ครั้ง เพราะเลือกเตือนเผื่อไว้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UV Guard · ML-CPE RMUTT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8.jp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chart" Target="../charts/chart1.xml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4.png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chart" Target="../charts/chart2.xml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14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7.png"/><Relationship Id="rId5" Type="http://schemas.openxmlformats.org/officeDocument/2006/relationships/chart" Target="../charts/chart3.xml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28.png"/><Relationship Id="rId12" Type="http://schemas.openxmlformats.org/officeDocument/2006/relationships/image" Target="../media/image44.png"/><Relationship Id="rId1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20.png"/><Relationship Id="rId6" Type="http://schemas.openxmlformats.org/officeDocument/2006/relationships/image" Target="../media/image47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3" Type="http://schemas.openxmlformats.org/officeDocument/2006/relationships/image" Target="../media/image7.png"/><Relationship Id="rId4" Type="http://schemas.openxmlformats.org/officeDocument/2006/relationships/image" Target="../media/image48.png"/><Relationship Id="rId5" Type="http://schemas.openxmlformats.org/officeDocument/2006/relationships/image" Target="../media/image46.png"/><Relationship Id="rId6" Type="http://schemas.openxmlformats.org/officeDocument/2006/relationships/image" Target="../media/image49.jpg"/><Relationship Id="rId7" Type="http://schemas.openxmlformats.org/officeDocument/2006/relationships/image" Target="../media/image50.jpg"/><Relationship Id="rId8" Type="http://schemas.openxmlformats.org/officeDocument/2006/relationships/image" Target="../media/image12.png"/><Relationship Id="rId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6.png"/><Relationship Id="rId10" Type="http://schemas.openxmlformats.org/officeDocument/2006/relationships/image" Target="../media/image20.png"/><Relationship Id="rId1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7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UV Guard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แอปที่บอกว่า "คุณ" ตากแดดได้อีกกี่นาที ก่อนผิวจะไหม้</a:t>
            </a:r>
          </a:p>
        </p:txBody>
      </p:sp>
      <p:sp>
        <p:nvSpPr>
          <p:cNvPr id="4" name="Oval 3"/>
          <p:cNvSpPr/>
          <p:nvPr/>
        </p:nvSpPr>
        <p:spPr>
          <a:xfrm>
            <a:off x="6720840" y="137160"/>
            <a:ext cx="2103120" cy="2103120"/>
          </a:xfrm>
          <a:prstGeom prst="ellipse">
            <a:avLst/>
          </a:prstGeom>
          <a:solidFill>
            <a:srgbClr val="4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86600" y="502920"/>
            <a:ext cx="1371600" cy="13716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333756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3447288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70432" y="329184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ประเมิน UV ตรงจุด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3566160"/>
            <a:ext cx="182880" cy="0"/>
          </a:xfrm>
          <a:prstGeom prst="line">
            <a:avLst/>
          </a:prstGeom>
          <a:ln w="2540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63240" y="329184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36392" y="333756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s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447288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85032" y="329184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คิดตามผิวของแต่ละคน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9240" y="3566160"/>
            <a:ext cx="182880" cy="0"/>
          </a:xfrm>
          <a:prstGeom prst="line">
            <a:avLst/>
          </a:prstGeom>
          <a:ln w="2540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77840" y="329184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50992" y="333756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e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447288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9631" y="329184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เตือนก่อนผิวไหม้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5D7E5"/>
                </a:solidFill>
              </a:rPr>
              <a:t>จักรพัทศ์ ยอดระยับ · วิศวกรรมคอมพิวเตอร์ มทร.ธัญบุรี (RMUTT) · ตุลาคม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ที่มา: ออกไปตอนเที่ยง ยืนกลางแดดได้กี่นาที?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1133856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u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09" y="1234805"/>
            <a:ext cx="218724" cy="2187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97280" y="1133856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แดดบ้านเราแรงมาก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68980" y="1024128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06140" y="1133856"/>
            <a:ext cx="420624" cy="420624"/>
          </a:xfrm>
          <a:prstGeom prst="ellipse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ho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089" y="1234805"/>
            <a:ext cx="218724" cy="21872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09060" y="1133856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แอปทั่วไปบอกค่าต่ำไป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1024128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17920" y="1133856"/>
            <a:ext cx="420624" cy="420624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us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869" y="1234805"/>
            <a:ext cx="218724" cy="2187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20840" y="1133856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แต่ละคนทนแดดไม่เท่ากัน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1691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A3FC2"/>
                </a:solidFill>
              </a:rPr>
              <a:t>12–13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21945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UV เที่ยงวันฟ้าใส (ปี 2025)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2788920"/>
            <a:ext cx="461772" cy="219456"/>
          </a:xfrm>
          <a:prstGeom prst="rect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044952"/>
            <a:ext cx="4800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ต่ำ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0140" y="2788920"/>
            <a:ext cx="461772" cy="219456"/>
          </a:xfrm>
          <a:prstGeom prst="rect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0140" y="3044952"/>
            <a:ext cx="4800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กลาง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0200" y="2788920"/>
            <a:ext cx="301752" cy="219456"/>
          </a:xfrm>
          <a:prstGeom prst="rect">
            <a:avLst/>
          </a:prstGeom>
          <a:solidFill>
            <a:srgbClr val="E3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00200" y="30449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สูง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0240" y="2788920"/>
            <a:ext cx="461772" cy="219456"/>
          </a:xfrm>
          <a:prstGeom prst="rect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3044952"/>
            <a:ext cx="4800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สูงมาก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00300" y="2788920"/>
            <a:ext cx="461772" cy="219456"/>
          </a:xfrm>
          <a:prstGeom prst="rect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00300" y="3044952"/>
            <a:ext cx="4800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รุนแรง</a:t>
            </a:r>
          </a:p>
        </p:txBody>
      </p:sp>
      <p:sp>
        <p:nvSpPr>
          <p:cNvPr id="50" name="Merge 49"/>
          <p:cNvSpPr/>
          <p:nvPr/>
        </p:nvSpPr>
        <p:spPr>
          <a:xfrm>
            <a:off x="2548890" y="2587752"/>
            <a:ext cx="182880" cy="155448"/>
          </a:xfrm>
          <a:prstGeom prst="flowChartMerg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32918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เกินระดับสูงสุดของ WHO (11 ขึ้นไป)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33572" y="1691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22F3A"/>
                </a:solidFill>
              </a:rPr>
              <a:t>2.43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33572" y="219456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ผิดเฉลี่ย (หน่วย UV) เทียบดาวเทียม NASA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33572" y="254203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ความกว้างระดับ "สูง" (6–7)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33572" y="2724912"/>
            <a:ext cx="1005840" cy="182880"/>
          </a:xfrm>
          <a:prstGeom prst="rect">
            <a:avLst/>
          </a:prstGeom>
          <a:solidFill>
            <a:srgbClr val="B8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5132" y="27157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A5070"/>
                </a:solidFill>
              </a:rPr>
              <a:t>2 หน่วย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33572" y="295351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22F3A"/>
                </a:solidFill>
              </a:rPr>
              <a:t>ความผิดเฉลี่ยของแอปทั่วไป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33572" y="3136392"/>
            <a:ext cx="1222095" cy="182880"/>
          </a:xfrm>
          <a:prstGeom prst="rect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1387" y="31272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22F3A"/>
                </a:solidFill>
              </a:rPr>
              <a:t>2.43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33572" y="33832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ผิดเกิน 1 ขั้น → อาจเตือนว่า "สูง" ทั้งที่จริงเป็น "สูงมาก"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1691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</a:rPr>
              <a:t>13 ↔ 67 นาที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21945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เวลาก่อนผิวไหม้ ที่ UV 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25877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ผิวขาว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2615184"/>
            <a:ext cx="310486" cy="18288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22766" y="259689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6B12"/>
                </a:solidFill>
              </a:rPr>
              <a:t>13 นาที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45352" y="29260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ผิวคล้ำ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0" y="2953512"/>
            <a:ext cx="1600200" cy="18288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6560" y="313639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36B12"/>
                </a:solidFill>
              </a:rPr>
              <a:t>67 นาที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45352" y="33649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แดดเท่ากัน แต่ทนได้ต่างกันประมาณ 5 เท่า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3913632"/>
            <a:ext cx="8229600" cy="64008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94360" y="4023360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arg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09" y="4124309"/>
            <a:ext cx="218724" cy="21872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143000" y="3913632"/>
            <a:ext cx="7406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8C28"/>
                </a:solidFill>
              </a:rPr>
              <a:t>โจทย์ของโปรเจกต์: </a:t>
            </a:r>
            <a:r>
              <a:rPr sz="1200" b="0">
                <a:solidFill>
                  <a:srgbClr val="FFFFFF"/>
                </a:solidFill>
              </a:rPr>
              <a:t>ทำนาย UV ให้แม่นขึ้น แล้วบอกเวลาก่อนผิวไหม้ของแต่ละคน โดยใช้มือถือเครื่องเดียว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ผู้ใช้ได้อะไรจากแอป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3063240" cy="141732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1280160"/>
            <a:ext cx="566928" cy="566928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is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2" y="1416222"/>
            <a:ext cx="294802" cy="2948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71600" y="1234439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1F3B"/>
                </a:solidFill>
              </a:rPr>
              <a:t>1. ตอบ 5 คำถาม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5070"/>
                </a:solidFill>
              </a:rPr>
              <a:t>แอปรู้ว่าผิวเป็นประเภทไหน (I–VI)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1051560"/>
            <a:ext cx="3063240" cy="141732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886200" y="128016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u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262" y="1416222"/>
            <a:ext cx="294802" cy="29480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617720" y="1234439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1F3B"/>
                </a:solidFill>
              </a:rPr>
              <a:t>2. ดู UV ตอนนี้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5070"/>
                </a:solidFill>
              </a:rPr>
              <a:t>ค่า UV + ช่วงต่ำสุด–สูงสุด + กราฟทั้งวัน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651760"/>
            <a:ext cx="3063240" cy="141732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2" y="3016422"/>
            <a:ext cx="294802" cy="2948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71600" y="2834640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1F3B"/>
                </a:solidFill>
              </a:rPr>
              <a:t>3. กดปุ่ม "ออกแดด"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5070"/>
                </a:solidFill>
              </a:rPr>
              <a:t>แอปนับเวลาที่เหลือก่อนผิวไหม้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03320" y="2651760"/>
            <a:ext cx="3063240" cy="141732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886200" y="2880360"/>
            <a:ext cx="566928" cy="566928"/>
          </a:xfrm>
          <a:prstGeom prst="ellipse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el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262" y="3016422"/>
            <a:ext cx="294802" cy="29480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17720" y="2834640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1F3B"/>
                </a:solidFill>
              </a:rPr>
              <a:t>4. ได้แจ้งเตือน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5070"/>
                </a:solidFill>
              </a:rPr>
              <a:t>"ใกล้ถึงเวลาผิวไหม้" · "ทาครีมซ้ำ" · "UV ลดลงแล้ว"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538728" y="1755648"/>
            <a:ext cx="146304" cy="0"/>
          </a:xfrm>
          <a:prstGeom prst="line">
            <a:avLst/>
          </a:prstGeom>
          <a:ln w="2222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538728" y="3355848"/>
            <a:ext cx="146304" cy="0"/>
          </a:xfrm>
          <a:prstGeom prst="line">
            <a:avLst/>
          </a:prstGeom>
          <a:ln w="2222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993392" y="2487168"/>
            <a:ext cx="3236976" cy="146304"/>
          </a:xfrm>
          <a:prstGeom prst="line">
            <a:avLst/>
          </a:prstGeom>
          <a:ln w="15875">
            <a:solidFill>
              <a:srgbClr val="B8BCC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1051560"/>
            <a:ext cx="1508760" cy="303009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49440" y="4160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หน้าหลักของแอปจริง (4 ต.ค.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คำศัพท์ด้าน UV และผิว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8C28"/>
                </a:solidFill>
              </a:rPr>
              <a:t>UV Index (UVI)</a:t>
            </a:r>
            <a:r>
              <a:rPr sz="1100" b="0">
                <a:solidFill>
                  <a:srgbClr val="1B1F3B"/>
                </a:solidFill>
              </a:rPr>
              <a:t> = ตัวเลขบอกความแรงของแดด แบ่ง 5 ระดับตาม WHO พร้อมคำแนะนำ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261872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261872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0–2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ต่ำ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87451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1F3B"/>
                </a:solidFill>
              </a:rPr>
              <a:t>ป้องกันเล็กน้อย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21408" y="1261872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21408" y="1261872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3–5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ปานกลาง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7128" y="187451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1F3B"/>
                </a:solidFill>
              </a:rPr>
              <a:t>ทาครีม สวมหมวก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6" y="1261872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E3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85616" y="1261872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6–7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สูง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31336" y="187451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1F3B"/>
                </a:solidFill>
              </a:rPr>
              <a:t>ทาครีม + หลบร่มช่วงเที่ยง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9824" y="1261872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49824" y="1261872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8–10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สูงมาก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95544" y="187451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1F3B"/>
                </a:solidFill>
              </a:rPr>
              <a:t>เลี่ยงแดดช่วงเที่ยง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14032" y="1261872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4032" y="1261872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11+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รุนแรงมาก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2" y="187451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B1F3B"/>
                </a:solidFill>
              </a:rPr>
              <a:t>อยู่ในร่มให้มากที่สุด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331720"/>
            <a:ext cx="2651760" cy="2212848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4360" y="2441448"/>
            <a:ext cx="420624" cy="420624"/>
          </a:xfrm>
          <a:prstGeom prst="ellipse">
            <a:avLst/>
          </a:prstGeom>
          <a:solidFill>
            <a:srgbClr val="E3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lay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09" y="2542397"/>
            <a:ext cx="218724" cy="21872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97280" y="2441448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B1F3B"/>
                </a:solidFill>
              </a:rPr>
              <a:t>UVA / UVB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292608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070"/>
                </a:solidFill>
              </a:rPr>
              <a:t>รังสี UV 2 ชนิดในแสงแดด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" y="3200400"/>
            <a:ext cx="233172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200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D22F3A"/>
                </a:solidFill>
              </a:rPr>
              <a:t>UVB </a:t>
            </a:r>
            <a:r>
              <a:rPr sz="900" b="0">
                <a:solidFill>
                  <a:srgbClr val="4A5070"/>
                </a:solidFill>
              </a:rPr>
              <a:t>คลื่นสั้น 280–315 nm</a:t>
            </a:r>
          </a:p>
          <a:p>
            <a:pPr algn="l"/>
            <a:r>
              <a:rPr sz="950" b="0">
                <a:solidFill>
                  <a:srgbClr val="1B1F3B"/>
                </a:solidFill>
              </a:rPr>
              <a:t>ทำผิวไหม้ แดง แสบ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" y="3767328"/>
            <a:ext cx="233172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376732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UVA </a:t>
            </a:r>
            <a:r>
              <a:rPr sz="900" b="0">
                <a:solidFill>
                  <a:srgbClr val="4A5070"/>
                </a:solidFill>
              </a:rPr>
              <a:t>คลื่นยาว 315–400 nm</a:t>
            </a:r>
          </a:p>
          <a:p>
            <a:pPr algn="l"/>
            <a:r>
              <a:rPr sz="950" b="0">
                <a:solidFill>
                  <a:srgbClr val="1B1F3B"/>
                </a:solidFill>
              </a:rPr>
              <a:t>ลงลึก ทำผิวแก่ เกิดฝ้า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42976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UVI คิดตามผลต่อผิวไหม้เป็นหลัก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46120" y="2331720"/>
            <a:ext cx="2651760" cy="2212848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383279" y="2441448"/>
            <a:ext cx="420624" cy="420624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glas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229" y="2542397"/>
            <a:ext cx="218724" cy="21872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886200" y="2395728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B1F3B"/>
                </a:solidFill>
              </a:rPr>
              <a:t>MED</a:t>
            </a:r>
          </a:p>
          <a:p>
            <a:pPr algn="l"/>
            <a:r>
              <a:rPr sz="850" b="0">
                <a:solidFill>
                  <a:srgbClr val="4A5070"/>
                </a:solidFill>
              </a:rPr>
              <a:t>Minimal Erythema Dose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10712" y="29260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ปริมาณ UV น้อยที่สุดที่ทำให้ผิวเริ่มแดง หน่วย J/m²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11879" y="3913632"/>
            <a:ext cx="731520" cy="457200"/>
          </a:xfrm>
          <a:prstGeom prst="rect">
            <a:avLst/>
          </a:prstGeom>
          <a:solidFill>
            <a:srgbClr val="F9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11879" y="3474720"/>
            <a:ext cx="731520" cy="896112"/>
          </a:xfrm>
          <a:prstGeom prst="rect">
            <a:avLst/>
          </a:prstGeom>
          <a:noFill/>
          <a:ln w="25400">
            <a:solidFill>
              <a:srgbClr val="4A5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611879" y="3913632"/>
            <a:ext cx="731521" cy="0"/>
          </a:xfrm>
          <a:prstGeom prst="line">
            <a:avLst/>
          </a:prstGeom>
          <a:ln w="12700">
            <a:solidFill>
              <a:srgbClr val="E36B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611879" y="35204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8A3FC2"/>
                </a:solidFill>
              </a:rPr>
              <a:t>MED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6279" y="3401568"/>
            <a:ext cx="1325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8A3FC2"/>
                </a:solidFill>
              </a:rPr>
              <a:t>ผิว = ถัง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3B"/>
                </a:solidFill>
              </a:rPr>
              <a:t>แดด = น้ำที่ไหลลง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D22F3A"/>
                </a:solidFill>
              </a:rPr>
              <a:t>ถังเต็ม = ผิวไหม้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0" y="2331720"/>
            <a:ext cx="2651760" cy="2212848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172200" y="2441448"/>
            <a:ext cx="420624" cy="42062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us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149" y="2542397"/>
            <a:ext cx="218724" cy="21872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675120" y="2441448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B1F3B"/>
                </a:solidFill>
              </a:rPr>
              <a:t>ประเภทผิว I–VI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9631" y="29260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ยิ่งผิวคล้ำ ถังยิ่งใหญ่ ทนแดดได้นานกว่า (MED, J/m²)</a:t>
            </a:r>
          </a:p>
        </p:txBody>
      </p:sp>
      <p:sp>
        <p:nvSpPr>
          <p:cNvPr id="67" name="Oval 66"/>
          <p:cNvSpPr/>
          <p:nvPr/>
        </p:nvSpPr>
        <p:spPr>
          <a:xfrm>
            <a:off x="6199631" y="3429000"/>
            <a:ext cx="329184" cy="329184"/>
          </a:xfrm>
          <a:prstGeom prst="ellipse">
            <a:avLst/>
          </a:prstGeom>
          <a:solidFill>
            <a:srgbClr val="F6E1D3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53912" y="379476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B1F3B"/>
                </a:solidFill>
              </a:rPr>
              <a:t>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35623" y="39867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200</a:t>
            </a:r>
          </a:p>
        </p:txBody>
      </p:sp>
      <p:sp>
        <p:nvSpPr>
          <p:cNvPr id="70" name="Oval 69"/>
          <p:cNvSpPr/>
          <p:nvPr/>
        </p:nvSpPr>
        <p:spPr>
          <a:xfrm>
            <a:off x="6592823" y="3429000"/>
            <a:ext cx="329184" cy="329184"/>
          </a:xfrm>
          <a:prstGeom prst="ellipse">
            <a:avLst/>
          </a:prstGeom>
          <a:solidFill>
            <a:srgbClr val="EDC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47103" y="379476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B1F3B"/>
                </a:solidFill>
              </a:rPr>
              <a:t>II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28815" y="39867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250</a:t>
            </a:r>
          </a:p>
        </p:txBody>
      </p:sp>
      <p:sp>
        <p:nvSpPr>
          <p:cNvPr id="73" name="Oval 72"/>
          <p:cNvSpPr/>
          <p:nvPr/>
        </p:nvSpPr>
        <p:spPr>
          <a:xfrm>
            <a:off x="6986016" y="3429000"/>
            <a:ext cx="329184" cy="329184"/>
          </a:xfrm>
          <a:prstGeom prst="ellipse">
            <a:avLst/>
          </a:prstGeom>
          <a:solidFill>
            <a:srgbClr val="D9A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0296" y="379476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B1F3B"/>
                </a:solidFill>
              </a:rPr>
              <a:t>III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22007" y="39867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350</a:t>
            </a:r>
          </a:p>
        </p:txBody>
      </p:sp>
      <p:sp>
        <p:nvSpPr>
          <p:cNvPr id="76" name="Oval 75"/>
          <p:cNvSpPr/>
          <p:nvPr/>
        </p:nvSpPr>
        <p:spPr>
          <a:xfrm>
            <a:off x="7379208" y="3429000"/>
            <a:ext cx="329184" cy="329184"/>
          </a:xfrm>
          <a:prstGeom prst="ellipse">
            <a:avLst/>
          </a:prstGeom>
          <a:solidFill>
            <a:srgbClr val="B9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33488" y="379476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B1F3B"/>
                </a:solidFill>
              </a:rPr>
              <a:t>IV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9867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450</a:t>
            </a:r>
          </a:p>
        </p:txBody>
      </p:sp>
      <p:sp>
        <p:nvSpPr>
          <p:cNvPr id="79" name="Oval 78"/>
          <p:cNvSpPr/>
          <p:nvPr/>
        </p:nvSpPr>
        <p:spPr>
          <a:xfrm>
            <a:off x="7772400" y="3429000"/>
            <a:ext cx="329184" cy="329184"/>
          </a:xfrm>
          <a:prstGeom prst="ellipse">
            <a:avLst/>
          </a:prstGeom>
          <a:solidFill>
            <a:srgbClr val="8A5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26679" y="379476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B1F3B"/>
                </a:solidFill>
              </a:rPr>
              <a:t>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08392" y="39867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600</a:t>
            </a:r>
          </a:p>
        </p:txBody>
      </p:sp>
      <p:sp>
        <p:nvSpPr>
          <p:cNvPr id="82" name="Oval 81"/>
          <p:cNvSpPr/>
          <p:nvPr/>
        </p:nvSpPr>
        <p:spPr>
          <a:xfrm>
            <a:off x="8165592" y="3429000"/>
            <a:ext cx="329184" cy="329184"/>
          </a:xfrm>
          <a:prstGeom prst="ellipse">
            <a:avLst/>
          </a:prstGeom>
          <a:solidFill>
            <a:srgbClr val="5A3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19871" y="379476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B1F3B"/>
                </a:solidFill>
              </a:rPr>
              <a:t>VI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01583" y="39867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1000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9631" y="4251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6B12"/>
                </a:solidFill>
              </a:rPr>
              <a:t>แอปถาม 5 ข้อเพื่อหาประเภทผิว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คำศัพท์ด้าน Machine Learning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2651760" cy="164592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1792" y="1170432"/>
            <a:ext cx="457200" cy="45720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r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80160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88720" y="11704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Machine Learning (ML)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ให้คอมพิวเตอร์หารูปแบบจากตัวอย่างในอดีต แล้วใช้ทายเหตุการณ์ใหม่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22402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ulb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95144"/>
            <a:ext cx="201168" cy="2011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1832" y="224028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เหมือนนักเรียนทำแบบฝึกหัดจนเก่ง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1024128"/>
            <a:ext cx="2651760" cy="164592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10712" y="1170432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o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280160"/>
            <a:ext cx="237744" cy="2377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977639" y="11704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โมเดล (Model)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0712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สิ่งที่ได้หลังเรียนเสร็จ รับข้อมูลเข้า แล้วตอบตัวเลขออกมา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79" y="22402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ulb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295144"/>
            <a:ext cx="201168" cy="201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730752" y="224028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เหมือนสูตรที่คอมพิวเตอร์คิดเอง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1024128"/>
            <a:ext cx="2651760" cy="164592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99631" y="1170432"/>
            <a:ext cx="457200" cy="457200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lis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59" y="1280160"/>
            <a:ext cx="237744" cy="2377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66559" y="11704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Feature / 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1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Feature = ข้อมูลที่ให้โมเดลดู (โจทย์) · Target = ค่าที่ต้องทาย (เฉลย)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22402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bulb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95144"/>
            <a:ext cx="201168" cy="2011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519672" y="224028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โจทย์: เมฆ ฝุ่น → เฉลย: UV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2807208"/>
            <a:ext cx="2651760" cy="164592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1792" y="2953512"/>
            <a:ext cx="457200" cy="457200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boo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19" y="3063240"/>
            <a:ext cx="237744" cy="23774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88720" y="295351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Train / Dev / 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348386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ข้อมูล 3 ชุด สำหรับเรียน, ปรับ, และสอบครั้งสุดท้าย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40233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ulb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78224"/>
            <a:ext cx="201168" cy="201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41832" y="402336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การบ้าน · สอบย่อย · สอบจริง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46120" y="2807208"/>
            <a:ext cx="2651760" cy="164592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10712" y="2953512"/>
            <a:ext cx="457200" cy="457200"/>
          </a:xfrm>
          <a:prstGeom prst="ellipse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ruler2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063240"/>
            <a:ext cx="237744" cy="2377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3977639" y="295351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MAE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10712" y="348386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ค่าเฉลี่ยของ |ค่าที่ทาย − ค่าจริง| ยิ่งน้อยยิ่งแม่น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383279" y="40233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bulb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078224"/>
            <a:ext cx="201168" cy="20116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730752" y="402336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จริง 8 ทาย 7.5 → ผิด 0.5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0" y="2807208"/>
            <a:ext cx="2651760" cy="164592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199631" y="2953512"/>
            <a:ext cx="457200" cy="457200"/>
          </a:xfrm>
          <a:prstGeom prst="ellipse">
            <a:avLst/>
          </a:prstGeom>
          <a:solidFill>
            <a:srgbClr val="E3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ba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59" y="3063240"/>
            <a:ext cx="237744" cy="23774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766559" y="295351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Data leakage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9631" y="348386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โมเดลแอบเห็นคำตอบระหว่างเรียน คะแนนจึงดีเกินจริง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72200" y="40233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bulb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78224"/>
            <a:ext cx="201168" cy="20116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519672" y="402336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เหมือนเห็นเฉลยก่อนสอบ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หลักการ: UV จริง = UV ตอนฟ้าใส × CMF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072" y="1216152"/>
            <a:ext cx="475488" cy="47548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u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89" y="1330269"/>
            <a:ext cx="247253" cy="24725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70432" y="105156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B1F3B"/>
                </a:solidFill>
              </a:rPr>
              <a:t>UV ตอนฟ้าใส</a:t>
            </a:r>
          </a:p>
          <a:p>
            <a:pPr algn="l"/>
            <a:r>
              <a:rPr sz="950" b="0">
                <a:solidFill>
                  <a:srgbClr val="4A5070"/>
                </a:solidFill>
              </a:rPr>
              <a:t>ฟิสิกส์คำนวณได้แม่น (มุมดวงอาทิตย์ + โอโซน)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1024128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56432" y="1216152"/>
            <a:ext cx="475488" cy="47548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lou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549" y="1330269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050791" y="105156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B1F3B"/>
                </a:solidFill>
              </a:rPr>
              <a:t>CMF (ML ทาย)</a:t>
            </a:r>
          </a:p>
          <a:p>
            <a:pPr algn="l"/>
            <a:r>
              <a:rPr sz="950" b="0">
                <a:solidFill>
                  <a:srgbClr val="4A5070"/>
                </a:solidFill>
              </a:rPr>
              <a:t>เมฆ + ฝุ่นบังไปเท่าไร (0–1)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024128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36792" y="1216152"/>
            <a:ext cx="475488" cy="47548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909" y="1330269"/>
            <a:ext cx="247253" cy="24725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31152" y="105156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UV จริง</a:t>
            </a:r>
          </a:p>
          <a:p>
            <a:pPr algn="l"/>
            <a:r>
              <a:rPr sz="950" b="0">
                <a:solidFill>
                  <a:srgbClr val="C9CCE0"/>
                </a:solidFill>
              </a:rPr>
              <a:t>ค่าที่แอปแสดงและใช้เตือน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1024128"/>
            <a:ext cx="411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28C28"/>
                </a:solidFill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1024128"/>
            <a:ext cx="411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28C28"/>
                </a:solidFill>
              </a:rPr>
              <a:t>=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365760" y="2011680"/>
          <a:ext cx="4846320" cy="19659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57200" y="393192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ภาพประกอบหลักการ (ไม่ใช่ข้อมูลจริง)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94960" y="2057400"/>
            <a:ext cx="3291840" cy="1874519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32120" y="2176272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bul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3069" y="2277221"/>
            <a:ext cx="218724" cy="21872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35040" y="2176272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36B12"/>
                </a:solidFill>
              </a:rPr>
              <a:t>เปรียบเทียบง่าย 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269748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1F3B"/>
                </a:solidFill>
              </a:rPr>
              <a:t>หลอดไฟ</a:t>
            </a:r>
            <a:r>
              <a:rPr sz="1050" b="0">
                <a:solidFill>
                  <a:srgbClr val="1B1F3B"/>
                </a:solidFill>
              </a:rPr>
              <a:t> = ดวงอาทิตย์ คำนวณได้ด้วยสูตร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1B1F3B"/>
                </a:solidFill>
              </a:rPr>
              <a:t>ม่าน</a:t>
            </a:r>
            <a:r>
              <a:rPr sz="1050" b="0">
                <a:solidFill>
                  <a:srgbClr val="1B1F3B"/>
                </a:solidFill>
              </a:rPr>
              <a:t> = เมฆและฝุ่น คำนวณตรง ๆ ไม่ได้ ให้ ML ทายว่าบังไปเท่าไร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E36B12"/>
                </a:solidFill>
              </a:rPr>
              <a:t>ML จึงเรียนแค่ส่วนที่ยาก </a:t>
            </a:r>
            <a:r>
              <a:rPr sz="1050" b="0">
                <a:solidFill>
                  <a:srgbClr val="1B1F3B"/>
                </a:solidFill>
              </a:rPr>
              <a:t>ไม่ต้องเรียนว่า UV ขึ้นเช้า ลงเย็น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8000"/>
            </a:avLst>
          </a:prstGeom>
          <a:solidFill>
            <a:srgbClr val="F1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6928" y="4215383"/>
            <a:ext cx="347472" cy="347472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oo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21" y="4298777"/>
            <a:ext cx="180685" cy="18068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87552" y="4160520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คำศัพท์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0200" y="4197096"/>
            <a:ext cx="33604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CMF  </a:t>
            </a:r>
            <a:r>
              <a:rPr sz="950" b="0">
                <a:solidFill>
                  <a:srgbClr val="1B1F3B"/>
                </a:solidFill>
              </a:rPr>
              <a:t>สัดส่วนแสงที่ลอดเมฆลงมาได้ เช่น 0.7 = บังไป 30 %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7780" y="4197096"/>
            <a:ext cx="33604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ฟิสิกส์ฟ้าใส  </a:t>
            </a:r>
            <a:r>
              <a:rPr sz="950" b="0">
                <a:solidFill>
                  <a:srgbClr val="1B1F3B"/>
                </a:solidFill>
              </a:rPr>
              <a:t>สูตรคำนวณ UV เมื่อไม่มีเมฆ (Madronich)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ข้อมูลมาจากไหน: 4 แหล่ง 3 หน้าที่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1965960" cy="2395728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lou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5272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15568" y="1115568"/>
            <a:ext cx="12618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Open-Meteo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16916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พยากรณ์อากาศ + คุณภาพอากาศ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2121408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เมฆ ความชื้น อุณหภูมิ ฝุ่น PM2.5 ความขุ่นอากาศ (AOD) รายชั่วโมง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29718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971800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โจทย์ (Feature)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1024128"/>
            <a:ext cx="1965960" cy="2395728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697479" y="1143000"/>
            <a:ext cx="457200" cy="45720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a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252728"/>
            <a:ext cx="237744" cy="2377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218687" y="1115568"/>
            <a:ext cx="12618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NASA POWER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79" y="16916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UV จากดาวเทียม + แบบจำลอง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79" y="2121408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UVI, UVA, UVB รายชั่วโมง ที่จุดกริดปทุมธานี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97479" y="29718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79" y="2971800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เฉลย (Target)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1024128"/>
            <a:ext cx="1965960" cy="2395728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800600" y="1143000"/>
            <a:ext cx="457200" cy="457200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a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252728"/>
            <a:ext cx="237744" cy="2377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321807" y="1115568"/>
            <a:ext cx="12618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OMI (ดาวเทียม NASA)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16916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วัด UV วันละครั้งตอนเที่ยง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2121408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ใช้ตรวจว่าโมเดลแม่นจริงไหม ไม่ใช้ฝึกเลย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00600" y="29718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2971800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ตรวจอิสระ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66559" y="1024128"/>
            <a:ext cx="1965960" cy="2395728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903720" y="1143000"/>
            <a:ext cx="457200" cy="457200"/>
          </a:xfrm>
          <a:prstGeom prst="ellipse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252728"/>
            <a:ext cx="237744" cy="23774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24927" y="1115568"/>
            <a:ext cx="12618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TEMIS (ยุโรป)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16916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UV ตอนฟ้าใส กรุงเทพฯ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2121408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ใช้ตรวจวันฟ้าเปิด ไม่ใช้ฝึกเลย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03720" y="29718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2971800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ตรวจอิสระ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3547872"/>
            <a:ext cx="8229600" cy="411480"/>
          </a:xfrm>
          <a:prstGeom prst="roundRect">
            <a:avLst>
              <a:gd name="adj" fmla="val 3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map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30168"/>
            <a:ext cx="246888" cy="24688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32688" y="3547872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B1F3B"/>
                </a:solidFill>
              </a:rPr>
              <a:t>ปทุมธานี · 2023–2025 · 11,156 ชม. กลางวัน</a:t>
            </a:r>
            <a:r>
              <a:rPr sz="950" b="0">
                <a:solidFill>
                  <a:srgbClr val="4A5070"/>
                </a:solidFill>
              </a:rPr>
              <a:t>   เลือก NASA เป็นเฉลย เพราะเทียบ OMI ผิด 1.14 (Open-Meteo 2.43)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8000"/>
            </a:avLst>
          </a:prstGeom>
          <a:solidFill>
            <a:srgbClr val="F1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66928" y="4146804"/>
            <a:ext cx="347472" cy="347472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boo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21" y="4230197"/>
            <a:ext cx="180685" cy="18068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87552" y="4069080"/>
            <a:ext cx="5669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คำศัพท์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00200" y="4105656"/>
            <a:ext cx="33604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AOD  </a:t>
            </a:r>
            <a:r>
              <a:rPr sz="950" b="0">
                <a:solidFill>
                  <a:srgbClr val="1B1F3B"/>
                </a:solidFill>
              </a:rPr>
              <a:t>ความขุ่นของอากาศจากฝุ่นและควัน ยิ่งมาก UV ยิ่งลด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97780" y="4105656"/>
            <a:ext cx="33604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โอโซน  </a:t>
            </a:r>
            <a:r>
              <a:rPr sz="950" b="0">
                <a:solidFill>
                  <a:srgbClr val="1B1F3B"/>
                </a:solidFill>
              </a:rPr>
              <a:t>ชั้นก๊าซที่กรอง UV ใช้ค่าเฉลี่ยรายเดือนในสูตรฟ้าใส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ระบบทำงานอย่างไร (ทุก 30 นาที)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898648"/>
            <a:ext cx="13716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B1F3B"/>
                </a:solidFill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051560"/>
            <a:ext cx="1280160" cy="18288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7" y="1188720"/>
            <a:ext cx="512064" cy="512064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lou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43" y="1311615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0352" y="1810512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B1F3B"/>
                </a:solidFill>
              </a:rPr>
              <a:t>รับข้อมูลอากาศ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2286000"/>
            <a:ext cx="11338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4A5070"/>
                </a:solidFill>
              </a:rPr>
              <a:t>เมฆ ฝุ่น ความชื้น จาก Open-Meteo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9718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971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E36B12"/>
                </a:solidFill>
              </a:rPr>
              <a:t>เมฆมาก ฝุ่นน้อย</a:t>
            </a:r>
          </a:p>
        </p:txBody>
      </p:sp>
      <p:sp>
        <p:nvSpPr>
          <p:cNvPr id="34" name="Oval 33"/>
          <p:cNvSpPr/>
          <p:nvPr/>
        </p:nvSpPr>
        <p:spPr>
          <a:xfrm>
            <a:off x="1737360" y="134416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evron 34"/>
          <p:cNvSpPr/>
          <p:nvPr/>
        </p:nvSpPr>
        <p:spPr>
          <a:xfrm>
            <a:off x="1773936" y="1371600"/>
            <a:ext cx="54864" cy="64008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56232" y="1051560"/>
            <a:ext cx="1280160" cy="18288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40280" y="1188720"/>
            <a:ext cx="512064" cy="512064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alc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175" y="1311615"/>
            <a:ext cx="266273" cy="26627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929384" y="1810512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B1F3B"/>
                </a:solidFill>
              </a:rPr>
              <a:t>คำนวณฟ้าใส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9384" y="2286000"/>
            <a:ext cx="11338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4A5070"/>
                </a:solidFill>
              </a:rPr>
              <a:t>สูตรฟิสิกส์ ตามเวลาและตำแหน่ง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56232" y="29718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56232" y="2971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E36B12"/>
                </a:solidFill>
              </a:rPr>
              <a:t>ฟ้าใส = 10</a:t>
            </a:r>
          </a:p>
        </p:txBody>
      </p:sp>
      <p:sp>
        <p:nvSpPr>
          <p:cNvPr id="43" name="Oval 42"/>
          <p:cNvSpPr/>
          <p:nvPr/>
        </p:nvSpPr>
        <p:spPr>
          <a:xfrm>
            <a:off x="3136392" y="134416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/>
          <p:cNvSpPr/>
          <p:nvPr/>
        </p:nvSpPr>
        <p:spPr>
          <a:xfrm>
            <a:off x="3172968" y="1371600"/>
            <a:ext cx="54864" cy="64008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55264" y="1051560"/>
            <a:ext cx="1280160" cy="18288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39312" y="1188720"/>
            <a:ext cx="512064" cy="51206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o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207" y="1311615"/>
            <a:ext cx="266273" cy="26627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328416" y="1810512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B1F3B"/>
                </a:solidFill>
              </a:rPr>
              <a:t>ML ทาย CMF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8416" y="2286000"/>
            <a:ext cx="11338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4A5070"/>
                </a:solidFill>
              </a:rPr>
              <a:t>XGBoost ดูว่าเมฆบังไปเท่าไร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55264" y="29718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55264" y="2971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E36B12"/>
                </a:solidFill>
              </a:rPr>
              <a:t>CMF = 0.7</a:t>
            </a:r>
          </a:p>
        </p:txBody>
      </p:sp>
      <p:sp>
        <p:nvSpPr>
          <p:cNvPr id="52" name="Oval 51"/>
          <p:cNvSpPr/>
          <p:nvPr/>
        </p:nvSpPr>
        <p:spPr>
          <a:xfrm>
            <a:off x="4535424" y="134416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evron 52"/>
          <p:cNvSpPr/>
          <p:nvPr/>
        </p:nvSpPr>
        <p:spPr>
          <a:xfrm>
            <a:off x="4572000" y="1371600"/>
            <a:ext cx="54864" cy="64008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654296" y="1051560"/>
            <a:ext cx="1280160" cy="18288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038344" y="1188720"/>
            <a:ext cx="512064" cy="512064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arrow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239" y="1311615"/>
            <a:ext cx="266273" cy="26627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27448" y="1810512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B1F3B"/>
                </a:solidFill>
              </a:rPr>
              <a:t>บอกเป็นช่วง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27448" y="2286000"/>
            <a:ext cx="11338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4A5070"/>
                </a:solidFill>
              </a:rPr>
              <a:t>ค่าต่ำสุด–สูงสุดที่เป็นไปได้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54296" y="29718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54296" y="2971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E36B12"/>
                </a:solidFill>
              </a:rPr>
              <a:t>7 (ช่วง 6–8)</a:t>
            </a:r>
          </a:p>
        </p:txBody>
      </p:sp>
      <p:sp>
        <p:nvSpPr>
          <p:cNvPr id="61" name="Oval 60"/>
          <p:cNvSpPr/>
          <p:nvPr/>
        </p:nvSpPr>
        <p:spPr>
          <a:xfrm>
            <a:off x="5934456" y="134416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evron 61"/>
          <p:cNvSpPr/>
          <p:nvPr/>
        </p:nvSpPr>
        <p:spPr>
          <a:xfrm>
            <a:off x="5971031" y="1371600"/>
            <a:ext cx="54864" cy="64008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053328" y="1051560"/>
            <a:ext cx="1280160" cy="18288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37376" y="1188720"/>
            <a:ext cx="512064" cy="512064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us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271" y="1311615"/>
            <a:ext cx="266273" cy="266273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126480" y="1810512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B1F3B"/>
                </a:solidFill>
              </a:rPr>
              <a:t>คิดตามผิว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2286000"/>
            <a:ext cx="11338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4A5070"/>
                </a:solidFill>
              </a:rPr>
              <a:t>ระดับ WHO + เวลาก่อนผิวไหม้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53328" y="29718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53328" y="2971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E36B12"/>
                </a:solidFill>
              </a:rPr>
              <a:t>ผิว III ≈ 29 นาที</a:t>
            </a:r>
          </a:p>
        </p:txBody>
      </p:sp>
      <p:sp>
        <p:nvSpPr>
          <p:cNvPr id="70" name="Oval 69"/>
          <p:cNvSpPr/>
          <p:nvPr/>
        </p:nvSpPr>
        <p:spPr>
          <a:xfrm>
            <a:off x="7333488" y="134416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hevron 70"/>
          <p:cNvSpPr/>
          <p:nvPr/>
        </p:nvSpPr>
        <p:spPr>
          <a:xfrm>
            <a:off x="7370064" y="1371600"/>
            <a:ext cx="54864" cy="64008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452360" y="1051560"/>
            <a:ext cx="1280160" cy="18288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836408" y="1188720"/>
            <a:ext cx="512064" cy="512064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303" y="1311615"/>
            <a:ext cx="266273" cy="26627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7525512" y="1810512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B1F3B"/>
                </a:solidFill>
              </a:rPr>
              <a:t>ส่งไปแอป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25512" y="2286000"/>
            <a:ext cx="11338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4A5070"/>
                </a:solidFill>
              </a:rPr>
              <a:t>แสดงผล + แจ้งเตือน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52360" y="29718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52360" y="2971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E36B12"/>
                </a:solidFill>
              </a:rPr>
              <a:t>แจ้ง "ใกล้ไหม้"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3456432"/>
            <a:ext cx="3977639" cy="457200"/>
          </a:xfrm>
          <a:prstGeom prst="roundRect">
            <a:avLst>
              <a:gd name="adj" fmla="val 3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server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557016"/>
            <a:ext cx="256032" cy="25603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32688" y="345643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ขั้น 1–5 ทำบนเซิร์ฟเวอร์ (Python + FastAPI)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09160" y="3456432"/>
            <a:ext cx="3977639" cy="457200"/>
          </a:xfrm>
          <a:prstGeom prst="roundRect">
            <a:avLst>
              <a:gd name="adj" fmla="val 3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phone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557016"/>
            <a:ext cx="256032" cy="25603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184648" y="345643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ขั้น 6 บนมือถือ (แอป Expo / React Native)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8000"/>
            </a:avLst>
          </a:prstGeom>
          <a:solidFill>
            <a:srgbClr val="F1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66928" y="4142232"/>
            <a:ext cx="347472" cy="347472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book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321" y="4225625"/>
            <a:ext cx="180685" cy="180685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987552" y="4041648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คำศัพท์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00200" y="4078224"/>
            <a:ext cx="33604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XGBoost  </a:t>
            </a:r>
            <a:r>
              <a:rPr sz="950" b="0">
                <a:solidFill>
                  <a:srgbClr val="1B1F3B"/>
                </a:solidFill>
              </a:rPr>
              <a:t>ต้นไม้ตัดสินใจหลายร้อยต้น ต้นใหม่แก้ข้อผิดของต้นก่อน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97780" y="4078224"/>
            <a:ext cx="33604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API  </a:t>
            </a:r>
            <a:r>
              <a:rPr sz="950" b="0">
                <a:solidFill>
                  <a:srgbClr val="1B1F3B"/>
                </a:solidFill>
              </a:rPr>
              <a:t>ช่องทางที่โปรแกรมใช้ขอข้อมูลจากกัน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ML ที่ใช้: XGBoost ทำงานอย่างไร และทำไมเลือก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4160520" cy="292608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0972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ต้นไม้หลายร้อยต้น ต้นใหม่แก้ข้อผิดของต้นก่อน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ตัวอย่างทาย CMF ของชั่วโมงหนึ่ง (ค่าจริง 0.70)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1664208"/>
            <a:ext cx="475488" cy="475488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re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77" y="1778325"/>
            <a:ext cx="247253" cy="24725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1792" y="2194560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B1F3B"/>
                </a:solidFill>
              </a:rPr>
              <a:t>ต้นที่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240487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36B12"/>
                </a:solidFill>
              </a:rPr>
              <a:t>ทาย 0.50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651760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ยังขาด 0.20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71600" y="1901952"/>
            <a:ext cx="237744" cy="0"/>
          </a:xfrm>
          <a:prstGeom prst="line">
            <a:avLst/>
          </a:prstGeom>
          <a:ln w="1587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810512" y="1664208"/>
            <a:ext cx="475488" cy="475488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re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29" y="1778325"/>
            <a:ext cx="247253" cy="24725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09344" y="2194560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B1F3B"/>
                </a:solidFill>
              </a:rPr>
              <a:t>ต้นที่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9344" y="240487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36B12"/>
                </a:solidFill>
              </a:rPr>
              <a:t>+0.13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" y="2651760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ยังขาด 0.07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359152" y="1901952"/>
            <a:ext cx="237744" cy="0"/>
          </a:xfrm>
          <a:prstGeom prst="line">
            <a:avLst/>
          </a:prstGeom>
          <a:ln w="1587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798064" y="1664208"/>
            <a:ext cx="475488" cy="475488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tre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181" y="1778325"/>
            <a:ext cx="247253" cy="24725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96896" y="2194560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B1F3B"/>
                </a:solidFill>
              </a:rPr>
              <a:t>ต้นที่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96896" y="240487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36B12"/>
                </a:solidFill>
              </a:rPr>
              <a:t>+0.05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6896" y="2651760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ยังขาด 0.02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346704" y="1901952"/>
            <a:ext cx="237744" cy="0"/>
          </a:xfrm>
          <a:prstGeom prst="line">
            <a:avLst/>
          </a:prstGeom>
          <a:ln w="1587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785616" y="1664208"/>
            <a:ext cx="475488" cy="47548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733" y="1778325"/>
            <a:ext cx="247253" cy="24725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584448" y="2194560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B1F3B"/>
                </a:solidFill>
              </a:rPr>
              <a:t>… 850 ต้น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240487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E9B4F"/>
                </a:solidFill>
              </a:rPr>
              <a:t>รวม ≈ 0.70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2651760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A5070"/>
                </a:solidFill>
              </a:rPr>
              <a:t>ใกล้ค่าจริง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297180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ค่าทายเข้าใกล้ค่าจริงทีละน้อย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3200400"/>
            <a:ext cx="2377439" cy="118872"/>
          </a:xfrm>
          <a:prstGeom prst="rect">
            <a:avLst/>
          </a:prstGeom>
          <a:solidFill>
            <a:srgbClr val="B8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" y="3364992"/>
            <a:ext cx="2995574" cy="118872"/>
          </a:xfrm>
          <a:prstGeom prst="rect">
            <a:avLst/>
          </a:prstGeom>
          <a:solidFill>
            <a:srgbClr val="F9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3529584"/>
            <a:ext cx="3233318" cy="118872"/>
          </a:xfrm>
          <a:prstGeom prst="rect">
            <a:avLst/>
          </a:prstGeom>
          <a:solidFill>
            <a:srgbClr val="F5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3694176"/>
            <a:ext cx="3328415" cy="11887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3968496" y="3154680"/>
            <a:ext cx="0" cy="731520"/>
          </a:xfrm>
          <a:prstGeom prst="line">
            <a:avLst/>
          </a:prstGeom>
          <a:ln w="19050">
            <a:solidFill>
              <a:srgbClr val="3E9B4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191256" y="299008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3E9B4F"/>
                </a:solidFill>
              </a:rPr>
              <a:t>ค่าจริง</a:t>
            </a:r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4754880" y="1024128"/>
          <a:ext cx="3931920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9" name="Rounded Rectangle 58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8000"/>
            </a:avLst>
          </a:prstGeom>
          <a:solidFill>
            <a:srgbClr val="F1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66928" y="4142232"/>
            <a:ext cx="347472" cy="347472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oo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21" y="4225625"/>
            <a:ext cx="180685" cy="18068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87552" y="4041648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คำศัพท์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00200" y="4078224"/>
            <a:ext cx="33604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Baseline  </a:t>
            </a:r>
            <a:r>
              <a:rPr sz="950" b="0">
                <a:solidFill>
                  <a:srgbClr val="1B1F3B"/>
                </a:solidFill>
              </a:rPr>
              <a:t>วิธีง่าย ๆ ไว้เทียบ ถ้าโมเดลแพ้ก็ไม่ควรใช้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97780" y="4078224"/>
            <a:ext cx="33604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ปรับค่า (Optuna)  </a:t>
            </a:r>
            <a:r>
              <a:rPr sz="950" b="0">
                <a:solidFill>
                  <a:srgbClr val="1B1F3B"/>
                </a:solidFill>
              </a:rPr>
              <a:t>ให้คอมพิวเตอร์ลองตั้งค่าโมเดลหลายแบบ แล้วเลือกแบบที่ดีที่สุด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สอนโมเดลอย่างไร: โจทย์ เฉลย และการสอบ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2377440" cy="804672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118872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lou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29844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15568" y="1042415"/>
            <a:ext cx="16459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B1F3B"/>
                </a:solidFill>
              </a:rPr>
              <a:t>โจทย์ (23 อย่าง)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เมฆ ฝุ่น ความชื้น มุมดวงอาทิตย์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1024128"/>
            <a:ext cx="1828800" cy="804672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64408" y="1188720"/>
            <a:ext cx="457200" cy="45720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298448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813048" y="1042415"/>
            <a:ext cx="10972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B1F3B"/>
                </a:solidFill>
              </a:rPr>
              <a:t>โมเดล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เรียนว่าโจทย์แบบไหน ได้คำตอบเท่าไร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1024128"/>
            <a:ext cx="3383280" cy="804672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13248" y="1188720"/>
            <a:ext cx="457200" cy="457200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76" y="1298448"/>
            <a:ext cx="237744" cy="2377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961888" y="1042415"/>
            <a:ext cx="265176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B1F3B"/>
                </a:solidFill>
              </a:rPr>
              <a:t>เฉลย: NASA POWER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ค่า UV รายชั่วโมงจากดาวเทียมและแบบจำลองของ NASA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852928" y="1426464"/>
            <a:ext cx="274320" cy="0"/>
          </a:xfrm>
          <a:prstGeom prst="line">
            <a:avLst/>
          </a:prstGeom>
          <a:ln w="2222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01768" y="1426464"/>
            <a:ext cx="274320" cy="0"/>
          </a:xfrm>
          <a:prstGeom prst="line">
            <a:avLst/>
          </a:prstGeom>
          <a:ln w="2222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57200" y="1920240"/>
            <a:ext cx="8229600" cy="384048"/>
          </a:xfrm>
          <a:prstGeom prst="roundRect">
            <a:avLst>
              <a:gd name="adj" fmla="val 30000"/>
            </a:avLst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ban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84248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4400" y="1920240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D22F3A"/>
                </a:solidFill>
              </a:rPr>
              <a:t>ห้ามเอาข้อมูล NASA ไปเป็นโจทย์ เพราะเหมือนให้นักเรียนเห็นเฉลยระหว่างสอบ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2450592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book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06040"/>
            <a:ext cx="384048" cy="3840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43000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B1F3B"/>
                </a:solidFill>
              </a:rPr>
              <a:t>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09067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F3B"/>
                </a:solidFill>
              </a:rPr>
              <a:t>การบ้าน</a:t>
            </a:r>
          </a:p>
          <a:p>
            <a:pPr algn="l"/>
            <a:r>
              <a:rPr sz="1000" b="0">
                <a:solidFill>
                  <a:srgbClr val="4A5070"/>
                </a:solidFill>
              </a:rPr>
              <a:t>โมเดลเรียนจากปีนี้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090672" y="3154680"/>
            <a:ext cx="155448" cy="0"/>
          </a:xfrm>
          <a:prstGeom prst="line">
            <a:avLst/>
          </a:prstGeom>
          <a:ln w="2222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273552" y="2450592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pen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2606040"/>
            <a:ext cx="384048" cy="3840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959352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B1F3B"/>
                </a:solidFill>
              </a:rPr>
              <a:t>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6432" y="309067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F3B"/>
                </a:solidFill>
              </a:rPr>
              <a:t>สอบย่อย</a:t>
            </a:r>
          </a:p>
          <a:p>
            <a:pPr algn="l"/>
            <a:r>
              <a:rPr sz="1000" b="0">
                <a:solidFill>
                  <a:srgbClr val="4A5070"/>
                </a:solidFill>
              </a:rPr>
              <a:t>ใช้เลือกและปรับโมเดล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07024" y="3154680"/>
            <a:ext cx="155448" cy="0"/>
          </a:xfrm>
          <a:prstGeom prst="line">
            <a:avLst/>
          </a:prstGeom>
          <a:ln w="2222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089904" y="2450592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lock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606040"/>
            <a:ext cx="384048" cy="3840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775704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</a:rPr>
              <a:t>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2784" y="309067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สอบจริง</a:t>
            </a:r>
          </a:p>
          <a:p>
            <a:pPr algn="l"/>
            <a:r>
              <a:rPr sz="1000" b="0">
                <a:solidFill>
                  <a:srgbClr val="C9CCE0"/>
                </a:solidFill>
              </a:rPr>
              <a:t>เปิดดูได้ครั้งเดียว ห้ามแก้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8000"/>
            </a:avLst>
          </a:prstGeom>
          <a:solidFill>
            <a:srgbClr val="F1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66928" y="4142232"/>
            <a:ext cx="347472" cy="347472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boo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321" y="4225625"/>
            <a:ext cx="180685" cy="18068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87552" y="4041648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คำศัพท์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00200" y="4078224"/>
            <a:ext cx="33604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แบ่งตามเวลา  </a:t>
            </a:r>
            <a:r>
              <a:rPr sz="950" b="0">
                <a:solidFill>
                  <a:srgbClr val="1B1F3B"/>
                </a:solidFill>
              </a:rPr>
              <a:t>ไม่สุ่มแบ่ง เพื่อให้สอบด้วย "อนาคต" ที่โมเดลไม่เคยเห็น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97780" y="4078224"/>
            <a:ext cx="33604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ตั้งเกณฑ์ก่อน  </a:t>
            </a:r>
            <a:r>
              <a:rPr sz="950" b="0">
                <a:solidFill>
                  <a:srgbClr val="1B1F3B"/>
                </a:solidFill>
              </a:rPr>
              <a:t>เขียนไว้ก่อนว่าผ่านเมื่อไร แล้วค่อยเปิดผล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บอกเป็นช่วง แล้วเตือนที่ค่าบน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3931920" cy="118872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temp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9844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88720" y="1078992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เหมือนพยากรณ์อากาศ</a:t>
            </a:r>
          </a:p>
          <a:p>
            <a:pPr algn="l"/>
            <a:r>
              <a:rPr sz="1000" b="0">
                <a:solidFill>
                  <a:srgbClr val="4A5070"/>
                </a:solidFill>
              </a:rPr>
              <a:t>"พรุ่งนี้ 30–34 °C" บอกได้มากกว่า "32 °C" เพราะรู้ว่าอาจร้อนได้ถึง 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37744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ตัวอย่างบนแอป: UV 7.1 (ช่วง 6.0–8.1)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3063240"/>
            <a:ext cx="3566160" cy="0"/>
          </a:xfrm>
          <a:prstGeom prst="line">
            <a:avLst/>
          </a:prstGeom>
          <a:ln w="12700">
            <a:solidFill>
              <a:srgbClr val="B8B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531619" y="2971800"/>
            <a:ext cx="1872233" cy="182880"/>
          </a:xfrm>
          <a:prstGeom prst="roundRect">
            <a:avLst>
              <a:gd name="adj" fmla="val 50000"/>
            </a:avLst>
          </a:prstGeom>
          <a:solidFill>
            <a:srgbClr val="F9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402585" y="2953512"/>
            <a:ext cx="219456" cy="219456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5113" y="269748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B1F3B"/>
                </a:solidFill>
              </a:rPr>
              <a:t>ค่ากลาง 7.1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19" y="32186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ต่ำสุด 6.0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6653" y="32186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E36B12"/>
                </a:solidFill>
              </a:rPr>
              <a:t>สูงสุด 8.1</a:t>
            </a:r>
          </a:p>
        </p:txBody>
      </p:sp>
      <p:sp>
        <p:nvSpPr>
          <p:cNvPr id="37" name="Oval 36"/>
          <p:cNvSpPr/>
          <p:nvPr/>
        </p:nvSpPr>
        <p:spPr>
          <a:xfrm>
            <a:off x="3248405" y="2606040"/>
            <a:ext cx="310896" cy="310896"/>
          </a:xfrm>
          <a:prstGeom prst="ellipse">
            <a:avLst/>
          </a:prstGeom>
          <a:solidFill>
            <a:srgbClr val="E3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el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021" y="2680655"/>
            <a:ext cx="161665" cy="16166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352044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1F3B"/>
                </a:solidFill>
              </a:rPr>
              <a:t>แอปเตือนตาม "ค่าสูงสุด" เหมือนเผื่อเวลาเดินทาง: ยอมเตือนเกินบ้าง แต่ไม่พลาด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1024128"/>
            <a:ext cx="4023360" cy="288036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111556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ช่วงนี้เชื่อได้แค่ไหน?</a:t>
            </a:r>
          </a:p>
          <a:p>
            <a:pPr algn="l"/>
            <a:r>
              <a:rPr sz="950" b="0">
                <a:solidFill>
                  <a:srgbClr val="4A5070"/>
                </a:solidFill>
              </a:rPr>
              <a:t>ค่าจริงต้องตกในช่วงประมาณ 80 % ของเวลา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737360"/>
            <a:ext cx="329184" cy="1234440"/>
          </a:xfrm>
          <a:prstGeom prst="rect">
            <a:avLst/>
          </a:prstGeom>
          <a:solidFill>
            <a:srgbClr val="DC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17830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070"/>
                </a:solidFill>
              </a:rPr>
              <a:t>ก่อนปรับ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2011680"/>
            <a:ext cx="1909267" cy="256032"/>
          </a:xfrm>
          <a:prstGeom prst="rect">
            <a:avLst/>
          </a:prstGeom>
          <a:solidFill>
            <a:srgbClr val="B8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2011680"/>
            <a:ext cx="18361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1B1F3B"/>
                </a:solidFill>
              </a:rPr>
              <a:t>58 %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237744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070"/>
                </a:solidFill>
              </a:rPr>
              <a:t>หลังปรับด้วย CQR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2606040"/>
            <a:ext cx="2765145" cy="25603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2606040"/>
            <a:ext cx="269199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84 %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0632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E9B4F"/>
                </a:solidFill>
              </a:rPr>
              <a:t>แถบเขียว = เป้า 75–85 %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33375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ตอนแรกช่วงแคบไป (มั่นใจเกินจริง) หลังปรับ ค่าจริงตกในช่วง 84 % ของเวลา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8000"/>
            </a:avLst>
          </a:prstGeom>
          <a:solidFill>
            <a:srgbClr val="F1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6928" y="4142232"/>
            <a:ext cx="347472" cy="347472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21" y="4225625"/>
            <a:ext cx="180685" cy="18068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87552" y="4041648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คำศัพท์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4078224"/>
            <a:ext cx="33604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q10 / q90  </a:t>
            </a:r>
            <a:r>
              <a:rPr sz="950" b="0">
                <a:solidFill>
                  <a:srgbClr val="1B1F3B"/>
                </a:solidFill>
              </a:rPr>
              <a:t>ค่าต่ำสุด / สูงสุดที่เป็นไปได้ของช่วง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97780" y="4078224"/>
            <a:ext cx="33604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CQR  </a:t>
            </a:r>
            <a:r>
              <a:rPr sz="950" b="0">
                <a:solidFill>
                  <a:srgbClr val="1B1F3B"/>
                </a:solidFill>
              </a:rPr>
              <a:t>วิธีปรับความกว้างช่วงจากความผิดที่เกิดขึ้นจริง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คิดเวลาก่อนผิวไหม้อย่างไร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058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B12"/>
                </a:solidFill>
              </a:rPr>
              <a:t>ผิวเหมือน "ถัง" แดดเหมือน "น้ำ" ที่ไหลลงถังทุกนาที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417320"/>
            <a:ext cx="1463040" cy="16002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glass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08760"/>
            <a:ext cx="365760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0352" y="1901952"/>
            <a:ext cx="13167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B1F3B"/>
                </a:solidFill>
              </a:rPr>
              <a:t>ขนาดถัง = MED</a:t>
            </a:r>
          </a:p>
          <a:p>
            <a:pPr algn="ctr"/>
            <a:r>
              <a:rPr sz="2200" b="1">
                <a:solidFill>
                  <a:srgbClr val="F28C28"/>
                </a:solidFill>
              </a:rPr>
              <a:t>350</a:t>
            </a:r>
          </a:p>
          <a:p>
            <a:pPr algn="ctr"/>
            <a:r>
              <a:rPr sz="850" b="0">
                <a:solidFill>
                  <a:srgbClr val="4A5070"/>
                </a:solidFill>
              </a:rPr>
              <a:t>ผิวประเภท III (คนไทยทั่วไป)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1417320"/>
            <a:ext cx="1463040" cy="16002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int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1" y="1508760"/>
            <a:ext cx="365760" cy="365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249424" y="1901952"/>
            <a:ext cx="13167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B1F3B"/>
                </a:solidFill>
              </a:rPr>
              <a:t>น้ำที่ไหลลงต่อนาที</a:t>
            </a:r>
          </a:p>
          <a:p>
            <a:pPr algn="ctr"/>
            <a:r>
              <a:rPr sz="2200" b="1">
                <a:solidFill>
                  <a:srgbClr val="F28C28"/>
                </a:solidFill>
              </a:rPr>
              <a:t>15</a:t>
            </a:r>
          </a:p>
          <a:p>
            <a:pPr algn="ctr"/>
            <a:r>
              <a:rPr sz="850" b="0">
                <a:solidFill>
                  <a:srgbClr val="4A5070"/>
                </a:solidFill>
              </a:rPr>
              <a:t>ที่ UV 10 (10 × 0.025 × 60)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95344" y="1417320"/>
            <a:ext cx="1499616" cy="16002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508760"/>
            <a:ext cx="365760" cy="365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968496" y="1901952"/>
            <a:ext cx="135331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ถังเต็ม (ผิวเริ่มไหม้)</a:t>
            </a:r>
          </a:p>
          <a:p>
            <a:pPr algn="ctr"/>
            <a:r>
              <a:rPr sz="2200" b="1">
                <a:solidFill>
                  <a:srgbClr val="F28C28"/>
                </a:solidFill>
              </a:rPr>
              <a:t>≈ 23 นาที</a:t>
            </a:r>
          </a:p>
          <a:p>
            <a:pPr algn="ctr"/>
            <a:r>
              <a:rPr sz="850" b="0">
                <a:solidFill>
                  <a:srgbClr val="C9CCE0"/>
                </a:solidFill>
              </a:rPr>
              <a:t>แอปเตือนก่อนถึงเวลานี้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1417320"/>
            <a:ext cx="256032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28C28"/>
                </a:solidFill>
              </a:rPr>
              <a:t>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9312" y="1417320"/>
            <a:ext cx="256032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28C28"/>
                </a:solidFill>
              </a:rPr>
              <a:t>=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154680"/>
            <a:ext cx="4937760" cy="749808"/>
          </a:xfrm>
          <a:prstGeom prst="roundRect">
            <a:avLst>
              <a:gd name="adj" fmla="val 1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154680"/>
            <a:ext cx="47091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36B12"/>
                </a:solidFill>
              </a:rPr>
              <a:t>สูตร: </a:t>
            </a:r>
            <a:r>
              <a:rPr sz="1100" b="1">
                <a:solidFill>
                  <a:srgbClr val="1B1F3B"/>
                </a:solidFill>
              </a:rPr>
              <a:t>เวลา (นาที) = MED ÷ (UV × 0.025 × 60)</a:t>
            </a:r>
          </a:p>
          <a:p>
            <a:pPr algn="l"/>
            <a:r>
              <a:rPr sz="950" b="0">
                <a:solidFill>
                  <a:srgbClr val="4A5070"/>
                </a:solidFill>
              </a:rPr>
              <a:t>ใช้ค่า UV ด้านบนของช่วงเสมอ เพื่อไม่ให้เตือนช้า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5577840" y="1234440"/>
          <a:ext cx="3108960" cy="2697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5577840" y="388620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ประเภทผิว (I = ขาวมาก → VI = คล้ำมาก)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8000"/>
            </a:avLst>
          </a:prstGeom>
          <a:solidFill>
            <a:srgbClr val="F1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6928" y="4215383"/>
            <a:ext cx="347472" cy="347472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boo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21" y="4298777"/>
            <a:ext cx="180685" cy="1806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87552" y="4160520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คำศัพท์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4197096"/>
            <a:ext cx="33604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MED  </a:t>
            </a:r>
            <a:r>
              <a:rPr sz="950" b="0">
                <a:solidFill>
                  <a:srgbClr val="1B1F3B"/>
                </a:solidFill>
              </a:rPr>
              <a:t>ปริมาณ UV ที่ผิวเริ่มแดง (J/m²) I 200 → VI 1000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7780" y="4197096"/>
            <a:ext cx="33604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0.025  </a:t>
            </a:r>
            <a:r>
              <a:rPr sz="950" b="0">
                <a:solidFill>
                  <a:srgbClr val="1B1F3B"/>
                </a:solidFill>
              </a:rPr>
              <a:t>ตัวแปลง UV Index เป็นพลังงานแสง (W/m²)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การแจ้งเตือนทำงานอย่างไร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3977639" cy="292608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1115568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hon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09" y="1216517"/>
            <a:ext cx="218724" cy="2187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97280" y="1115568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แจ้งเตือนในเครื่อง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ทำงานแม้ไม่มีอินเทอร์เน็ต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1691640"/>
            <a:ext cx="370332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un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92224"/>
            <a:ext cx="2560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78992" y="16916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UV สูงตามพยากรณ์ และ "ปลอดภัยแล้ว"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2240280"/>
            <a:ext cx="370332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lock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40864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8992" y="2240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สรุปตอนเช้า 07:00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2788920"/>
            <a:ext cx="370332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hourglass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889503"/>
            <a:ext cx="256032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8992" y="27889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กด "ออกแดด" → เตือนเมื่อถึง 80 % ของ MED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337560"/>
            <a:ext cx="370332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unscreen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438144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992" y="33375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เตือนทาครีมซ้ำทุก 2 ชั่วโมง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1024128"/>
            <a:ext cx="4069080" cy="292608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54880" y="1115568"/>
            <a:ext cx="420624" cy="420624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erv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829" y="1216517"/>
            <a:ext cx="218724" cy="21872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257800" y="1115568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Push จากเซิร์ฟเวอร์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ส่งมาแม้ไม่ได้เปิดแอป (ต้องกดยินยอม)</a:t>
            </a:r>
          </a:p>
        </p:txBody>
      </p:sp>
      <p:sp>
        <p:nvSpPr>
          <p:cNvPr id="46" name="Oval 45"/>
          <p:cNvSpPr/>
          <p:nvPr/>
        </p:nvSpPr>
        <p:spPr>
          <a:xfrm>
            <a:off x="4773168" y="1728216"/>
            <a:ext cx="384048" cy="384048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ync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5339" y="1820387"/>
            <a:ext cx="199704" cy="1997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257800" y="16916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B1F3B"/>
                </a:solidFill>
              </a:rPr>
              <a:t>ทุก 30 นาที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16916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ตรวจพยากรณ์ของแต่ละจังหวัด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65192" y="2121408"/>
            <a:ext cx="0" cy="146304"/>
          </a:xfrm>
          <a:prstGeom prst="line">
            <a:avLst/>
          </a:prstGeom>
          <a:ln w="15875">
            <a:solidFill>
              <a:srgbClr val="B8B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4773168" y="2276856"/>
            <a:ext cx="384048" cy="384048"/>
          </a:xfrm>
          <a:prstGeom prst="ellipse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warn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339" y="2369027"/>
            <a:ext cx="199704" cy="19970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257800" y="22402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D22F3A"/>
                </a:solidFill>
              </a:rPr>
              <a:t>UV ≥ 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22402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ส่ง "UV สูง"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965192" y="2670048"/>
            <a:ext cx="0" cy="146304"/>
          </a:xfrm>
          <a:prstGeom prst="line">
            <a:avLst/>
          </a:prstGeom>
          <a:ln w="15875">
            <a:solidFill>
              <a:srgbClr val="B8B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773168" y="2825496"/>
            <a:ext cx="384048" cy="384048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hourglas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5339" y="2917667"/>
            <a:ext cx="199704" cy="19970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257800" y="278892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D9A400"/>
                </a:solidFill>
              </a:rPr>
              <a:t>พัก 3 ชม.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2788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ไม่ส่งซ้ำระหว่างนี้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965192" y="3218687"/>
            <a:ext cx="0" cy="146304"/>
          </a:xfrm>
          <a:prstGeom prst="line">
            <a:avLst/>
          </a:prstGeom>
          <a:ln w="15875">
            <a:solidFill>
              <a:srgbClr val="B8B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773168" y="3374136"/>
            <a:ext cx="384048" cy="384048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chec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5339" y="3466307"/>
            <a:ext cx="199704" cy="19970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257800" y="33375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3E9B4F"/>
                </a:solidFill>
              </a:rPr>
              <a:t>UV &lt; 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33375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3B"/>
                </a:solidFill>
              </a:rPr>
              <a:t>ส่ง "ปลอดภัยแล้ว"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shield_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360" y="4160520"/>
            <a:ext cx="274320" cy="27432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60120" y="4023360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ความเป็นส่วนตัว: </a:t>
            </a:r>
            <a:r>
              <a:rPr sz="1000" b="0">
                <a:solidFill>
                  <a:srgbClr val="1B1F3B"/>
                </a:solidFill>
              </a:rPr>
              <a:t>ส่งแค่ชื่อจังหวัด ไม่ส่งพิกัดจริง · เงียบหลังพระอาทิตย์ตก · ทุกข้อความมีคำว่า "ประมาณ"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ผลสอบจริงปี 2025 (เปิดดูครั้งเดียว)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0972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28C28"/>
                </a:solidFill>
              </a:rPr>
              <a:t>0.479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ผิดเฉลี่ยไม่ถึงครึ่งหน่วย UV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0574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ระดับเตือน 1 ขั้นกว้าง 2–3 หน่วย จึงแทบไม่เตือนผิดขั้น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68980" y="1024128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1860" y="10972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B1F3B"/>
                </a:solidFill>
              </a:rPr>
              <a:t>2.6×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1860" y="1691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แม่นกว่าแอปทั่วไป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1024128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0972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8A3FC2"/>
                </a:solidFill>
              </a:rPr>
              <a:t>98.6 %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691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ชั่วโมงอันตรายที่เตือนทัน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0574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ชั่วโมง UV "สูงมาก" จริง 100 ชม. เตือนทันประมาณ 99 ชม.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1860" y="21031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Open-Meteo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51860" y="2286000"/>
            <a:ext cx="1820021" cy="182880"/>
          </a:xfrm>
          <a:prstGeom prst="rect">
            <a:avLst/>
          </a:prstGeom>
          <a:solidFill>
            <a:srgbClr val="B8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17601" y="227685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B1F3B"/>
                </a:solidFill>
              </a:rPr>
              <a:t>1.244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1860" y="2560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UV Guard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51860" y="2743200"/>
            <a:ext cx="700796" cy="18288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8376" y="273405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B1F3B"/>
                </a:solidFill>
              </a:rPr>
              <a:t>0.479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1860" y="30175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ผิดเฉลี่ย (ต่ำ = ดี)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2514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ความกว้างระดับ "สูง" (6–7)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2697480"/>
            <a:ext cx="1645920" cy="164592"/>
          </a:xfrm>
          <a:prstGeom prst="rect">
            <a:avLst/>
          </a:prstGeom>
          <a:solidFill>
            <a:srgbClr val="B8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26791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A5070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289864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36B12"/>
                </a:solidFill>
              </a:rPr>
              <a:t>ความผิดเฉลี่ยของ UV Guard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081528"/>
            <a:ext cx="394197" cy="16459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9997" y="30632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6B12"/>
                </a:solidFill>
              </a:rPr>
              <a:t>0.479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2743200"/>
            <a:ext cx="2240280" cy="219456"/>
          </a:xfrm>
          <a:prstGeom prst="rect">
            <a:avLst/>
          </a:prstGeom>
          <a:solidFill>
            <a:srgbClr val="E6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2743200"/>
            <a:ext cx="2208916" cy="219456"/>
          </a:xfrm>
          <a:prstGeom prst="rect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2990088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พลาดไปประมาณ 1 ใน 70 ชั่วโมง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3429000"/>
            <a:ext cx="82296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34290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E9B4F"/>
                </a:solidFill>
              </a:rPr>
              <a:t>ผ่านเกณฑ์ที่ตั้งไว้ 14 จาก 15 ข้อ</a:t>
            </a:r>
          </a:p>
        </p:txBody>
      </p:sp>
      <p:sp>
        <p:nvSpPr>
          <p:cNvPr id="55" name="Oval 54"/>
          <p:cNvSpPr/>
          <p:nvPr/>
        </p:nvSpPr>
        <p:spPr>
          <a:xfrm>
            <a:off x="306324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24612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2900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1188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79476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977639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16052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34340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26280" y="3602736"/>
            <a:ext cx="146304" cy="146304"/>
          </a:xfrm>
          <a:prstGeom prst="ellipse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70916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89204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07492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25780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44068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623560" y="3602736"/>
            <a:ext cx="146304" cy="14630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times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593592"/>
            <a:ext cx="164592" cy="16459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172200" y="34290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D22F3A"/>
                </a:solidFill>
              </a:rPr>
              <a:t>ไม่ผ่าน: ความสอดคล้องของ UVA/UVB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8000"/>
            </a:avLst>
          </a:prstGeom>
          <a:solidFill>
            <a:srgbClr val="F1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66928" y="4142232"/>
            <a:ext cx="347472" cy="347472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boo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4225625"/>
            <a:ext cx="180685" cy="180685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87552" y="4041648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คำศัพท์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00200" y="407822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Test set  </a:t>
            </a:r>
            <a:r>
              <a:rPr sz="950" b="0">
                <a:solidFill>
                  <a:srgbClr val="1B1F3B"/>
                </a:solidFill>
              </a:rPr>
              <a:t>ข้อมูลที่โมเดลไม่เคยเห็น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31920" y="407822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Recall  </a:t>
            </a:r>
            <a:r>
              <a:rPr sz="950" b="0">
                <a:solidFill>
                  <a:srgbClr val="1B1F3B"/>
                </a:solidFill>
              </a:rPr>
              <a:t>อันตรายจริง เตือนทันกี่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407822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A3FC2"/>
                </a:solidFill>
              </a:rPr>
              <a:t>R²  </a:t>
            </a:r>
            <a:r>
              <a:rPr sz="950" b="0">
                <a:solidFill>
                  <a:srgbClr val="1B1F3B"/>
                </a:solidFill>
              </a:rPr>
              <a:t>0.934 = อธิบายการขึ้นลงได้ 93 %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ตั้งเกณฑ์ก่อนดูผล: ไม่ผ่าน ก็ไม่ใส่ในแอป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1143000"/>
            <a:ext cx="475488" cy="475488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r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77" y="1257117"/>
            <a:ext cx="247253" cy="24725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70432" y="1115568"/>
            <a:ext cx="1828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B1F3B"/>
                </a:solidFill>
              </a:rPr>
              <a:t>LSTM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171907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AI ที่จำลำดับเวลา ใช้พยากรณ์ล่วงหน้า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22128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1F3B"/>
                </a:solidFill>
              </a:rPr>
              <a:t>เกณฑ์: ต้องผิดน้อยกว่า 0.430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2542032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im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192024" cy="1920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05840" y="254203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D22F3A"/>
                </a:solidFill>
              </a:rPr>
              <a:t>ได้ 0.463 → ไม่ผ่าน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30632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1F3B"/>
                </a:solidFill>
              </a:rPr>
              <a:t>ผล: </a:t>
            </a:r>
            <a:r>
              <a:rPr sz="1000" b="0">
                <a:solidFill>
                  <a:srgbClr val="1B1F3B"/>
                </a:solidFill>
              </a:rPr>
              <a:t>ใช้ XGBoost ต่อ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68980" y="1024128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06140" y="1143000"/>
            <a:ext cx="475488" cy="475488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amera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257" y="1257117"/>
            <a:ext cx="247253" cy="2472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982212" y="1115568"/>
            <a:ext cx="1828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B1F3B"/>
                </a:solidFill>
              </a:rPr>
              <a:t>CNN แยกเมฆ 11 ชนิด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33572" y="171907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AI ดูภาพท้องฟ้าจากกล้อง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33572" y="22128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1F3B"/>
                </a:solidFill>
              </a:rPr>
              <a:t>เกณฑ์: ต้องถูก ≥ 60 %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33572" y="2542032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tim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2651760"/>
            <a:ext cx="192024" cy="19202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817620" y="254203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D22F3A"/>
                </a:solidFill>
              </a:rPr>
              <a:t>ได้ 48.6 % → ไม่ผ่าน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33572" y="30632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1F3B"/>
                </a:solidFill>
              </a:rPr>
              <a:t>ผล: </a:t>
            </a:r>
            <a:r>
              <a:rPr sz="1000" b="0">
                <a:solidFill>
                  <a:srgbClr val="1B1F3B"/>
                </a:solidFill>
              </a:rPr>
              <a:t>ไม่แสดงชนิดเมฆ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1024128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17920" y="1143000"/>
            <a:ext cx="475488" cy="475488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a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037" y="1257117"/>
            <a:ext cx="247253" cy="24725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93992" y="1115568"/>
            <a:ext cx="1828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B1F3B"/>
                </a:solidFill>
              </a:rPr>
              <a:t>ดาวเทียม Himawari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171907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ข้อมูลเมฆละเอียด 5 กม. ทุก 10 นาที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45352" y="22128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1F3B"/>
                </a:solidFill>
              </a:rPr>
              <a:t>เกณฑ์: ต้องดีขึ้น &gt; 0.02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5352" y="2542032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im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651760"/>
            <a:ext cx="192024" cy="1920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29400" y="254203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D22F3A"/>
                </a:solidFill>
              </a:rPr>
              <a:t>ได้ 0.007 → ไม่ผ่าน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352" y="30632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1F3B"/>
                </a:solidFill>
              </a:rPr>
              <a:t>ผล: </a:t>
            </a:r>
            <a:r>
              <a:rPr sz="1000" b="0">
                <a:solidFill>
                  <a:srgbClr val="1B1F3B"/>
                </a:solidFill>
              </a:rPr>
              <a:t>ไม่ใส่ในแอป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33572" y="33375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E9B4F"/>
                </a:solidFill>
              </a:rPr>
              <a:t>(แยกฟ้า 6 แบบได้ 97.5 % ใช้แสดงประกอบ)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4360" y="3986784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fla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09" y="4087733"/>
            <a:ext cx="218724" cy="21872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43000" y="3840480"/>
            <a:ext cx="7406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28C28"/>
                </a:solidFill>
              </a:rPr>
              <a:t>ทำไมต้องตั้งเกณฑ์ก่อน: </a:t>
            </a:r>
            <a:r>
              <a:rPr sz="1050" b="0">
                <a:solidFill>
                  <a:srgbClr val="FFFFFF"/>
                </a:solidFill>
              </a:rPr>
              <a:t>ถ้าดูผลก่อนแล้วค่อยเลือกเกณฑ์ เราจะหลอกตัวเองได้ง่าย การไม่ใช้สิ่งที่ไม่ผ่าน แม้ทำเสร็จแล้ว ทำให้ผลที่รายงานเชื่อถือได้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ทดสอบจริงบนมือถือ (4 ต.ค. 2026)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3108960" cy="352044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ไทม์ไลน์ 1 วัน (Galaxy S23 Ultra)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1600200"/>
            <a:ext cx="0" cy="2560320"/>
          </a:xfrm>
          <a:prstGeom prst="line">
            <a:avLst/>
          </a:prstGeom>
          <a:ln w="25400">
            <a:solidFill>
              <a:srgbClr val="B8B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85800" y="1554480"/>
            <a:ext cx="182880" cy="182880"/>
          </a:xfrm>
          <a:prstGeom prst="ellipse">
            <a:avLst/>
          </a:prstGeom>
          <a:solidFill>
            <a:srgbClr val="3E9B4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149961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E9B4F"/>
                </a:solidFill>
              </a:rPr>
              <a:t>10:08</a:t>
            </a:r>
          </a:p>
          <a:p>
            <a:pPr algn="l"/>
            <a:r>
              <a:rPr sz="950" b="0">
                <a:solidFill>
                  <a:srgbClr val="1B1F3B"/>
                </a:solidFill>
              </a:rPr>
              <a:t>กด "ออกแดด"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" y="2176272"/>
            <a:ext cx="182880" cy="182880"/>
          </a:xfrm>
          <a:prstGeom prst="ellipse">
            <a:avLst/>
          </a:prstGeom>
          <a:solidFill>
            <a:srgbClr val="3E9B4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212140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E9B4F"/>
                </a:solidFill>
              </a:rPr>
              <a:t>10:31</a:t>
            </a:r>
          </a:p>
          <a:p>
            <a:pPr algn="l"/>
            <a:r>
              <a:rPr sz="950" b="0">
                <a:solidFill>
                  <a:srgbClr val="1B1F3B"/>
                </a:solidFill>
              </a:rPr>
              <a:t>เตือนผิวไหม้ ตรงตามสูตร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" y="2798064"/>
            <a:ext cx="182880" cy="182880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27432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8C28"/>
                </a:solidFill>
              </a:rPr>
              <a:t>11:51</a:t>
            </a:r>
          </a:p>
          <a:p>
            <a:pPr algn="l"/>
            <a:r>
              <a:rPr sz="950" b="0">
                <a:solidFill>
                  <a:srgbClr val="1B1F3B"/>
                </a:solidFill>
              </a:rPr>
              <a:t>แจ้ง "ใกล้ถึงเวลาผิวไหม้"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" y="3419856"/>
            <a:ext cx="182880" cy="182880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36499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8C28"/>
                </a:solidFill>
              </a:rPr>
              <a:t>11:54</a:t>
            </a:r>
          </a:p>
          <a:p>
            <a:pPr algn="l"/>
            <a:r>
              <a:rPr sz="950" b="0">
                <a:solidFill>
                  <a:srgbClr val="1B1F3B"/>
                </a:solidFill>
              </a:rPr>
              <a:t>แจ้ง "ทาครีมซ้ำ"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041648"/>
            <a:ext cx="182880" cy="182880"/>
          </a:xfrm>
          <a:prstGeom prst="ellipse">
            <a:avLst/>
          </a:prstGeom>
          <a:solidFill>
            <a:srgbClr val="D22F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398678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22F3A"/>
                </a:solidFill>
              </a:rPr>
              <a:t>15:09</a:t>
            </a:r>
          </a:p>
          <a:p>
            <a:pPr algn="l"/>
            <a:r>
              <a:rPr sz="950" b="0">
                <a:solidFill>
                  <a:srgbClr val="1B1F3B"/>
                </a:solidFill>
              </a:rPr>
              <a:t>"UV ลดลงแล้ว" ช้า 9 นาที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49039" y="1024128"/>
            <a:ext cx="2971800" cy="77724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858768" y="1179576"/>
            <a:ext cx="457200" cy="457200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e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1289304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434840" y="1060704"/>
            <a:ext cx="221284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B1F3B"/>
                </a:solidFill>
              </a:rPr>
              <a:t>สูตรถูกต้อง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เวลาเตือนและ % ที่แอปแสดงตรงกับที่คำนวณ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49039" y="1911095"/>
            <a:ext cx="2971800" cy="77724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58768" y="2066543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2176272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434840" y="1947672"/>
            <a:ext cx="221284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B1F3B"/>
                </a:solidFill>
              </a:rPr>
              <a:t>แจ้งเตือนช้า 2–9 นาที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Android หน่วงไว้เพื่อประหยัดแบต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2798064"/>
            <a:ext cx="2971800" cy="77724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858768" y="2953512"/>
            <a:ext cx="457200" cy="457200"/>
          </a:xfrm>
          <a:prstGeom prst="ellipse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u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96" y="3063240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434840" y="2834640"/>
            <a:ext cx="221284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B1F3B"/>
                </a:solidFill>
              </a:rPr>
              <a:t>เจอบั๊ก 4 ตัว แก้แล้ว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เทสต์อัตโนมัติผ่านหมด แต่บนเครื่องจริงยังเจอ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49039" y="3685032"/>
            <a:ext cx="2971800" cy="77724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858768" y="3840480"/>
            <a:ext cx="457200" cy="457200"/>
          </a:xfrm>
          <a:prstGeom prst="ellips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amera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496" y="3950208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434840" y="3721608"/>
            <a:ext cx="221284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B1F3B"/>
                </a:solidFill>
              </a:rPr>
              <a:t>กล้องกับภาพมือถือ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CNN ตอบ "เมฆบางสีขาว 100 %" ทั้ง 4 ภาพ</a:t>
            </a:r>
          </a:p>
        </p:txBody>
      </p:sp>
      <p:pic>
        <p:nvPicPr>
          <p:cNvPr id="55" name="Picture 5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024128"/>
            <a:ext cx="1783080" cy="906398"/>
          </a:xfrm>
          <a:prstGeom prst="rect">
            <a:avLst/>
          </a:prstGeom>
        </p:spPr>
      </p:pic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057400"/>
            <a:ext cx="1783080" cy="40862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903720" y="25146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แจ้งเตือนที่ได้รับจริงในวันทดสอบ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03720" y="3063240"/>
            <a:ext cx="1783080" cy="1481328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bulb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3182112"/>
            <a:ext cx="274320" cy="2743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040880" y="3520440"/>
            <a:ext cx="1554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36B12"/>
                </a:solidFill>
              </a:rPr>
              <a:t>บทเรียน: ต้องทดสอบบนเครื่องจริงเสมอ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ข้อจำกัด และงานต่อไป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1252728"/>
            <a:ext cx="594360" cy="594360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uler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399032"/>
            <a:ext cx="301752" cy="3017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17320" y="1133856"/>
            <a:ext cx="29718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D22F3A"/>
                </a:solidFill>
              </a:rPr>
              <a:t>ไม่มีเครื่องวัด UV จริง</a:t>
            </a:r>
          </a:p>
          <a:p>
            <a:pPr algn="l"/>
            <a:r>
              <a:rPr sz="1000" b="0">
                <a:solidFill>
                  <a:srgbClr val="1B1F3B"/>
                </a:solidFill>
              </a:rPr>
              <a:t>เฉลยทั้งหมดมาจากดาวเทียมและแบบจำลอง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24128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46320" y="1252728"/>
            <a:ext cx="594360" cy="594360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emp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399032"/>
            <a:ext cx="301752" cy="3017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623559" y="1133856"/>
            <a:ext cx="29718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D22F3A"/>
                </a:solidFill>
              </a:rPr>
              <a:t>วันฟ้าใส ค่าต่ำกว่าจริง ~1.4</a:t>
            </a:r>
          </a:p>
          <a:p>
            <a:pPr algn="l"/>
            <a:r>
              <a:rPr sz="1000" b="0">
                <a:solidFill>
                  <a:srgbClr val="1B1F3B"/>
                </a:solidFill>
              </a:rPr>
              <a:t>เพราะเฉลยของ NASA เองก็ต่ำกว่าจริง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212848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" y="2441448"/>
            <a:ext cx="594360" cy="594360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ap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587752"/>
            <a:ext cx="301752" cy="30175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17320" y="2322576"/>
            <a:ext cx="29718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D22F3A"/>
                </a:solidFill>
              </a:rPr>
              <a:t>ข้อมูลปทุมธานีที่เดียว</a:t>
            </a:r>
          </a:p>
          <a:p>
            <a:pPr algn="l"/>
            <a:r>
              <a:rPr sz="1000" b="0">
                <a:solidFill>
                  <a:srgbClr val="1B1F3B"/>
                </a:solidFill>
              </a:rPr>
              <a:t>จังหวัดอื่นยังไม่ได้ทดสอบความแม่น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2212848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846320" y="2441448"/>
            <a:ext cx="594360" cy="594360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amera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2587752"/>
            <a:ext cx="301752" cy="3017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623559" y="2322576"/>
            <a:ext cx="29718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D22F3A"/>
                </a:solidFill>
              </a:rPr>
              <a:t>CNN กับภาพจากมือถือ</a:t>
            </a:r>
          </a:p>
          <a:p>
            <a:pPr algn="l"/>
            <a:r>
              <a:rPr sz="1000" b="0">
                <a:solidFill>
                  <a:srgbClr val="1B1F3B"/>
                </a:solidFill>
              </a:rPr>
              <a:t>ยังไม่ได้วัดผล จึงใช้แสดงประกอบเท่านั้น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1F3B"/>
                </a:solidFill>
              </a:rPr>
              <a:t>งานต่อไป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822191"/>
            <a:ext cx="1572768" cy="566928"/>
          </a:xfrm>
          <a:prstGeom prst="roundRect">
            <a:avLst>
              <a:gd name="adj" fmla="val 3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0352" y="3895344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ul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01" y="3996293"/>
            <a:ext cx="218724" cy="21872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05840" y="3822191"/>
            <a:ext cx="97840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เทียบกับเครื่องวัด UV จริง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21408" y="3822191"/>
            <a:ext cx="1572768" cy="566928"/>
          </a:xfrm>
          <a:prstGeom prst="roundRect">
            <a:avLst>
              <a:gd name="adj" fmla="val 3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94560" y="3895344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509" y="3996293"/>
            <a:ext cx="218724" cy="21872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670048" y="3822191"/>
            <a:ext cx="97840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ทดสอบ push จริง (FCM)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85616" y="3822191"/>
            <a:ext cx="1572768" cy="566928"/>
          </a:xfrm>
          <a:prstGeom prst="roundRect">
            <a:avLst>
              <a:gd name="adj" fmla="val 3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858768" y="3895344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pho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9717" y="3996293"/>
            <a:ext cx="218724" cy="2187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334256" y="3822191"/>
            <a:ext cx="97840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รองรับ iOS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49824" y="3822191"/>
            <a:ext cx="1572768" cy="566928"/>
          </a:xfrm>
          <a:prstGeom prst="roundRect">
            <a:avLst>
              <a:gd name="adj" fmla="val 3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522976" y="3895344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ma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925" y="3996293"/>
            <a:ext cx="218724" cy="21872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998464" y="3822191"/>
            <a:ext cx="97840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ทดสอบหลายจังหวัด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14032" y="3822191"/>
            <a:ext cx="1572768" cy="566928"/>
          </a:xfrm>
          <a:prstGeom prst="roundRect">
            <a:avLst>
              <a:gd name="adj" fmla="val 3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87184" y="3895344"/>
            <a:ext cx="420624" cy="420624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sa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133" y="3996293"/>
            <a:ext cx="218724" cy="21872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662672" y="3822191"/>
            <a:ext cx="97840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Himawari ช่วงฤดูฝน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สรุป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UV Guard ประเมิน UV และบอกเวลาก่อนผิวไหม้ของแต่ละคน ด้วยมือถือเครื่องเดียว</a:t>
            </a:r>
          </a:p>
        </p:txBody>
      </p:sp>
      <p:sp>
        <p:nvSpPr>
          <p:cNvPr id="4" name="Oval 3"/>
          <p:cNvSpPr/>
          <p:nvPr/>
        </p:nvSpPr>
        <p:spPr>
          <a:xfrm>
            <a:off x="6720840" y="137160"/>
            <a:ext cx="2103120" cy="2103120"/>
          </a:xfrm>
          <a:prstGeom prst="ellipse">
            <a:avLst/>
          </a:prstGeom>
          <a:solidFill>
            <a:srgbClr val="4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86600" y="502920"/>
            <a:ext cx="1371600" cy="13716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8C28"/>
                </a:solidFill>
              </a:rPr>
              <a:t>0.479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ผิดเฉลี่ยไม่ถึงครึ่งหน่วย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063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8C28"/>
                </a:solidFill>
              </a:rPr>
              <a:t>2.6×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แม่นกว่าแอปทั่วไป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063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8C28"/>
                </a:solidFill>
              </a:rPr>
              <a:t>98.6 %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ชั่วโมงอันตรายเตือนทัน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5D7E5"/>
                </a:solidFill>
              </a:rPr>
              <a:t>สิ่งที่ได้เรียนรู้: ตั้งเกณฑ์ก่อนดูผล และทดสอบบนเครื่องจริงเสมอ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28C28"/>
                </a:solidFill>
              </a:rPr>
              <a:t>ค่าทั้งหมดเป็นค่าประมาณเพื่อการศึกษาและการเตือน ไม่ใช่การวินิจฉัยทางการแพทย์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ภาคผนวก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สไลด์สำรองสำหรับตอบคำถาม (ไม่ต้องบรรยาย)</a:t>
            </a:r>
          </a:p>
        </p:txBody>
      </p:sp>
      <p:sp>
        <p:nvSpPr>
          <p:cNvPr id="4" name="Oval 3"/>
          <p:cNvSpPr/>
          <p:nvPr/>
        </p:nvSpPr>
        <p:spPr>
          <a:xfrm>
            <a:off x="6720840" y="137160"/>
            <a:ext cx="2103120" cy="2103120"/>
          </a:xfrm>
          <a:prstGeom prst="ellipse">
            <a:avLst/>
          </a:prstGeom>
          <a:solidFill>
            <a:srgbClr val="4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86600" y="502920"/>
            <a:ext cx="1371600" cy="13716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46120"/>
            <a:ext cx="3657600" cy="457200"/>
          </a:xfrm>
          <a:prstGeom prst="roundRect">
            <a:avLst>
              <a:gd name="adj" fmla="val 4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A1 สูตรทั้งหมด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46120"/>
            <a:ext cx="3657600" cy="457200"/>
          </a:xfrm>
          <a:prstGeom prst="roundRect">
            <a:avLst>
              <a:gd name="adj" fmla="val 4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246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A2 เกณฑ์สอบจริง 15 ข้อ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13048"/>
            <a:ext cx="3657600" cy="457200"/>
          </a:xfrm>
          <a:prstGeom prst="roundRect">
            <a:avLst>
              <a:gd name="adj" fmla="val 4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A3 รายละเอียดดาวเทียม Himawari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13048"/>
            <a:ext cx="3657600" cy="457200"/>
          </a:xfrm>
          <a:prstGeom prst="roundRect">
            <a:avLst>
              <a:gd name="adj" fmla="val 4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8130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A4 ตัวเลขของโมเดล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A1 · สูตรทั้งหมด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05840"/>
            <a:ext cx="4069080" cy="107899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07899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UV ตอนฟ้าใส (Madronich 2007)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335024"/>
            <a:ext cx="379476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133502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UVI_clear = 12.5 × μ₀^2.42 × (Ω / 300)^−1.23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171907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μ₀ = cos มุมดวงอาทิตย์จากจุดเหนือศีรษะ · Ω = โอโซน (DU) ค่าเฉลี่ยรายเดือน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1005840"/>
            <a:ext cx="4069080" cy="107899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82312" y="107899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เฉลยที่ใช้ฝึก (CMF)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1335024"/>
            <a:ext cx="379476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133502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CMF = UVI_NASA ÷ UVI_clear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171907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XGBoost เรียนทาย CMF จาก 23 features แทนการทาย UV ตรง 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194560"/>
            <a:ext cx="4069080" cy="107899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226771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UV ที่แอปแสดง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2523744"/>
            <a:ext cx="379476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52374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UVI = UVI_clear × CMF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290779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ช่วง q10–q90 มาจาก Quantile XGBoost แล้วขยายด้วย CQR (Q = 0.0379)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2194560"/>
            <a:ext cx="4069080" cy="107899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82312" y="226771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เวลาก่อนผิวไหม้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2523744"/>
            <a:ext cx="379476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252374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นาที = MED ÷ (UVI_q90 × 0.025 × 60)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2312" y="290779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0.025 = W/m² ต่อ 1 UVI · × 60 = ต่อนาที · ใช้ค่าบน q90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383280"/>
            <a:ext cx="4069080" cy="107899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345643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ความแม่น (MAE)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3712464"/>
            <a:ext cx="379476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371246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MAE = ค่าเฉลี่ยของ |ทาย − จริง|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409651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หน่วยเดียวกับ UVI ยิ่งต่ำยิ่งดี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17720" y="3383280"/>
            <a:ext cx="4069080" cy="107899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82312" y="345643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Recall ของการเตือน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54880" y="3712464"/>
            <a:ext cx="379476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371246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Recall = เตือนถูก ÷ ชั่วโมงอันตรายจริงทั้งหมด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82312" y="409651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ชั่วโมง "สูงมาก" = UVI ≥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A2 · เกณฑ์สอบจริงปี 2025 (ประกาศก่อนเปิดข้อมูล)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05840"/>
            <a:ext cx="4069080" cy="27432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1005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1005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เกณฑ์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1005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ค่า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325880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1325880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1325880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MAE รายชั่วโมงเทียบ NASA &lt; 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1325880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0.479</a:t>
            </a:r>
          </a:p>
        </p:txBody>
      </p:sp>
      <p:pic>
        <p:nvPicPr>
          <p:cNvPr id="34" name="Picture 33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408176"/>
            <a:ext cx="173736" cy="17373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57200" y="1709928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1709928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T1b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1709928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ต่ำกว่า baseline ทุกตัว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1709928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0.479</a:t>
            </a:r>
          </a:p>
        </p:txBody>
      </p:sp>
      <p:pic>
        <p:nvPicPr>
          <p:cNvPr id="39" name="Picture 38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792224"/>
            <a:ext cx="173736" cy="173736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57200" y="2093976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2093976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T2a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2093976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เที่ยงวันเทียบ OMI ≤ 1.5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2093976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1.320</a:t>
            </a:r>
          </a:p>
        </p:txBody>
      </p:sp>
      <p:pic>
        <p:nvPicPr>
          <p:cNvPr id="44" name="Picture 43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176272"/>
            <a:ext cx="173736" cy="173736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457200" y="2478024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2478024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T2b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2478024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≤ NASA เทียบ OMI + 0.3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2478024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1.320</a:t>
            </a:r>
          </a:p>
        </p:txBody>
      </p:sp>
      <p:pic>
        <p:nvPicPr>
          <p:cNvPr id="49" name="Picture 48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560320"/>
            <a:ext cx="173736" cy="173736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457200" y="2862072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2862072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T2c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2862072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ต่ำกว่า baseline เมื่อเทียบ OMI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0" y="2862072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1.320</a:t>
            </a:r>
          </a:p>
        </p:txBody>
      </p:sp>
      <p:pic>
        <p:nvPicPr>
          <p:cNvPr id="54" name="Picture 53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944368"/>
            <a:ext cx="173736" cy="173736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457200" y="3246120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3246120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T3a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3246120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ฟิสิกส์ฟ้าใสเทียบ TEMIS ≤ 1.0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29000" y="3246120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0.764</a:t>
            </a:r>
          </a:p>
        </p:txBody>
      </p:sp>
      <p:pic>
        <p:nvPicPr>
          <p:cNvPr id="59" name="Picture 58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3328415"/>
            <a:ext cx="173736" cy="173736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457200" y="3630168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3630168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T3b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3630168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วันฟ้าเปิดเทียบ TEMIS ≤ 1.5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29000" y="3630168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1.360</a:t>
            </a:r>
          </a:p>
        </p:txBody>
      </p:sp>
      <p:pic>
        <p:nvPicPr>
          <p:cNvPr id="64" name="Picture 63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3712463"/>
            <a:ext cx="173736" cy="173736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457200" y="4014215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" y="4014215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T3c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4014215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≤ NASA เทียบ TEMIS + 0.3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9000" y="4014215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1.360</a:t>
            </a:r>
          </a:p>
        </p:txBody>
      </p:sp>
      <p:pic>
        <p:nvPicPr>
          <p:cNvPr id="69" name="Picture 68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4096511"/>
            <a:ext cx="173736" cy="173736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4617720" y="1005840"/>
            <a:ext cx="4069080" cy="27432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27448" y="1005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6359" y="1005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เกณฑ์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89520" y="1005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ค่า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617720" y="1325880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27448" y="1325880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59" y="1325880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r กับ irradiance OMI ≥ 0.7 ทั้ง 4 คู่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89520" y="1325880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0.533</a:t>
            </a:r>
          </a:p>
        </p:txBody>
      </p:sp>
      <p:pic>
        <p:nvPicPr>
          <p:cNvPr id="78" name="Picture 77" descr="tim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1" y="1408176"/>
            <a:ext cx="173736" cy="173736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4617720" y="1709928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27448" y="1709928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T4b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66359" y="1709928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r ดีกว่าฟิสิกส์ฟ้าใสทุกคู่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89520" y="1709928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+0.121</a:t>
            </a:r>
          </a:p>
        </p:txBody>
      </p:sp>
      <p:pic>
        <p:nvPicPr>
          <p:cNvPr id="83" name="Picture 82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1" y="1792224"/>
            <a:ext cx="173736" cy="173736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4617720" y="2093976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27448" y="2093976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66359" y="2093976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coverage ช่วง q10–q90 อยู่ใน 0.75–0.85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89520" y="2093976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0.806</a:t>
            </a:r>
          </a:p>
        </p:txBody>
      </p:sp>
      <p:pic>
        <p:nvPicPr>
          <p:cNvPr id="88" name="Picture 87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1" y="2176272"/>
            <a:ext cx="173736" cy="173736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4617720" y="2478024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27448" y="2478024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T6a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66359" y="2478024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เตือน ≥ สูงมาก: recall ≥ 0.90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89520" y="2478024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0.986</a:t>
            </a:r>
          </a:p>
        </p:txBody>
      </p:sp>
      <p:pic>
        <p:nvPicPr>
          <p:cNvPr id="93" name="Picture 92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1" y="2560320"/>
            <a:ext cx="173736" cy="173736"/>
          </a:xfrm>
          <a:prstGeom prst="rect">
            <a:avLst/>
          </a:prstGeom>
        </p:spPr>
      </p:pic>
      <p:sp>
        <p:nvSpPr>
          <p:cNvPr id="94" name="Rounded Rectangle 93"/>
          <p:cNvSpPr/>
          <p:nvPr/>
        </p:nvSpPr>
        <p:spPr>
          <a:xfrm>
            <a:off x="4617720" y="2862072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27448" y="2862072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T6b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66359" y="2862072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เตือน ≥ สูงมาก: precision ≥ 0.50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89520" y="2862072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0.564</a:t>
            </a:r>
          </a:p>
        </p:txBody>
      </p:sp>
      <p:pic>
        <p:nvPicPr>
          <p:cNvPr id="98" name="Picture 97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1" y="2944368"/>
            <a:ext cx="173736" cy="173736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4617720" y="3246120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27448" y="3246120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T6c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66359" y="3246120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เตือน ≥ สูงมาก: เตือนผิด ≤ 0.20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89520" y="3246120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0.163</a:t>
            </a:r>
          </a:p>
        </p:txBody>
      </p:sp>
      <p:pic>
        <p:nvPicPr>
          <p:cNvPr id="103" name="Picture 102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1" y="3328415"/>
            <a:ext cx="173736" cy="173736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4617720" y="3630168"/>
            <a:ext cx="4069080" cy="338328"/>
          </a:xfrm>
          <a:prstGeom prst="roundRect">
            <a:avLst>
              <a:gd name="adj" fmla="val 2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27448" y="3630168"/>
            <a:ext cx="4572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T6d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66359" y="3630168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เตือนรุนแรงมาก: recall ≥ 0.80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9520" y="3630168"/>
            <a:ext cx="640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0.826</a:t>
            </a:r>
          </a:p>
        </p:txBody>
      </p:sp>
      <p:pic>
        <p:nvPicPr>
          <p:cNvPr id="108" name="Picture 107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1" y="3712463"/>
            <a:ext cx="173736" cy="173736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617720" y="416052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ผ่าน 14 จาก 15 ข้อ · ที่มา: docs/test_2025_criteria.csv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A3 · การทดลองดาวเทียม Himawari-9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4937760" cy="530352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1024128"/>
            <a:ext cx="1005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คำถาม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1024128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เพิ่มข้อมูลรังสีจากดาวเทียม (5 กม. ทุก 10 นาที) 3 features แล้วแม่นขึ้นไหม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1627632"/>
            <a:ext cx="4937760" cy="530352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1627632"/>
            <a:ext cx="1005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เกณฑ์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1627632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ประกาศก่อนดูผล (commit f4f625e): ดีขึ้น &gt; 0.02 และขอบล่าง CI &gt;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231136"/>
            <a:ext cx="4937760" cy="530352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231136"/>
            <a:ext cx="1005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Dev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2231136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MAE 0.451 → 0.411 (ดีขึ้น 0.040, CI 0.031–0.049) ผ่าน จึงไปต่อ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834640"/>
            <a:ext cx="4937760" cy="530352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834640"/>
            <a:ext cx="1005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Test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2834640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ม.ค.–มิ.ย. 1,845 ชม.: 0.461 → 0.454 ดีขึ้น 0.007, CI −0.007–0.020 ไม่ผ่าน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438144"/>
            <a:ext cx="4937760" cy="530352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438144"/>
            <a:ext cx="1005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ผลพลอยได้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3438144"/>
            <a:ext cx="3703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โมเดลหลักบนข้อมูลใหม่ปี 2026 ได้ MAE 0.470 (ปี 2025: 0.479)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024128"/>
            <a:ext cx="3108960" cy="2944368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10972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B1F3B"/>
                </a:solidFill>
              </a:rPr>
              <a:t>MAE ลดลงเท่าไร</a:t>
            </a:r>
          </a:p>
          <a:p>
            <a:pPr algn="l"/>
            <a:r>
              <a:rPr sz="850" b="0">
                <a:solidFill>
                  <a:srgbClr val="4A5070"/>
                </a:solidFill>
              </a:rPr>
              <a:t>จุด = ค่าเฉลี่ย · เส้น = ช่วงความเชื่อมั่น 95 %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24600" y="1737360"/>
            <a:ext cx="0" cy="1691640"/>
          </a:xfrm>
          <a:prstGeom prst="line">
            <a:avLst/>
          </a:prstGeom>
          <a:ln w="15875">
            <a:solidFill>
              <a:srgbClr val="B8B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178040" y="1737360"/>
            <a:ext cx="0" cy="1691640"/>
          </a:xfrm>
          <a:prstGeom prst="line">
            <a:avLst/>
          </a:prstGeom>
          <a:ln w="19050">
            <a:solidFill>
              <a:srgbClr val="F28C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766559" y="1554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E36B12"/>
                </a:solidFill>
              </a:rPr>
              <a:t>เกณฑ์ 0.02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194767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E9B4F"/>
                </a:solidFill>
              </a:rPr>
              <a:t>Dev 2024 ผ่าน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47432" y="2313432"/>
            <a:ext cx="768096" cy="0"/>
          </a:xfrm>
          <a:prstGeom prst="line">
            <a:avLst/>
          </a:prstGeom>
          <a:ln w="31750">
            <a:solidFill>
              <a:srgbClr val="3E9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647432" y="2240280"/>
            <a:ext cx="0" cy="146304"/>
          </a:xfrm>
          <a:prstGeom prst="line">
            <a:avLst/>
          </a:prstGeom>
          <a:ln w="25400">
            <a:solidFill>
              <a:srgbClr val="3E9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15528" y="2240280"/>
            <a:ext cx="0" cy="146304"/>
          </a:xfrm>
          <a:prstGeom prst="line">
            <a:avLst/>
          </a:prstGeom>
          <a:ln w="25400">
            <a:solidFill>
              <a:srgbClr val="3E9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949184" y="2231136"/>
            <a:ext cx="164592" cy="164592"/>
          </a:xfrm>
          <a:prstGeom prst="ellipse">
            <a:avLst/>
          </a:prstGeom>
          <a:solidFill>
            <a:srgbClr val="3E9B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11440" y="24231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E9B4F"/>
                </a:solidFill>
              </a:rPr>
              <a:t>+0.040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267919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22F3A"/>
                </a:solidFill>
              </a:rPr>
              <a:t>Test 2026 ไม่ผ่าน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025896" y="3044952"/>
            <a:ext cx="1152144" cy="0"/>
          </a:xfrm>
          <a:prstGeom prst="line">
            <a:avLst/>
          </a:prstGeom>
          <a:ln w="31750">
            <a:solidFill>
              <a:srgbClr val="D2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025896" y="2971800"/>
            <a:ext cx="0" cy="146304"/>
          </a:xfrm>
          <a:prstGeom prst="line">
            <a:avLst/>
          </a:prstGeom>
          <a:ln w="25400">
            <a:solidFill>
              <a:srgbClr val="D2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178040" y="2971800"/>
            <a:ext cx="0" cy="146304"/>
          </a:xfrm>
          <a:prstGeom prst="line">
            <a:avLst/>
          </a:prstGeom>
          <a:ln w="25400">
            <a:solidFill>
              <a:srgbClr val="D2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541008" y="2962656"/>
            <a:ext cx="164592" cy="164592"/>
          </a:xfrm>
          <a:prstGeom prst="ellipse">
            <a:avLst/>
          </a:prstGeom>
          <a:solidFill>
            <a:srgbClr val="D22F3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3264" y="315468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22F3A"/>
                </a:solidFill>
              </a:rPr>
              <a:t>+0.007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50280" y="34747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34747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0.02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7159" y="34747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0.04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A5070"/>
                </a:solidFill>
              </a:rPr>
              <a:t>ข้อมูลดาวเทียม: Open-Meteo Satellite Radiation API (CC BY 4.0), Himawari-9 data supplied by the P-Tree System, JAXA, and JMA · ไฟล์ทั้งหมดอยู่ใน branch exp/himawari-sat-features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A4 · ตัวเลขของโมเดลและข้อมูล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24128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102412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ข้อมูล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102412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11,156 ชม. กลางวัน · 2023 ฝึก · 2024 สอบย่อย · 2025 สอบจริง (3,718 ชม.)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1664208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166420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166420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23 ตัว: อากาศ + คุณภาพอากาศ (AOD, PM2.5) + มุมดวงอาทิตย์และเวลา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304288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30428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โมเดลหลัก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230428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XGBoost แบบ multi-output ทาย CMF ของ UVI, UVA, UVB พร้อมกัน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944368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94436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ค่าตั้ง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294436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850 ต้น · ลึก 10 ชั้น · learning rate ≈ 0.011 (หาด้วย Optuna)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584448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58444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36B12"/>
                </a:solidFill>
              </a:rPr>
              <a:t>ช่วง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358444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Quantile XGBoost q10/q90 + CQR (Q = 0.0379)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0" y="1024128"/>
            <a:ext cx="3383280" cy="310896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1097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8C28"/>
                </a:solidFill>
              </a:rPr>
              <a:t>ผลสอบจริงปี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1444752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CE0"/>
                </a:solidFill>
              </a:rPr>
              <a:t>MAE UVI (2025)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1444752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0.479 · R² 0.934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1819656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CE0"/>
                </a:solidFill>
              </a:rPr>
              <a:t>UVA / UVB MAE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1819656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2.910 / 0.088 W/m²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2194560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CE0"/>
                </a:solidFill>
              </a:rPr>
              <a:t>เที่ยงวันเทียบ OMI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19456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โมเดล 1.320 · NASA 1.330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2569464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CE0"/>
                </a:solidFill>
              </a:rPr>
              <a:t>วันฟ้าเปิดเทียบ TEMIS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256946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1.360 (ต่ำกว่าจริง)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2944368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CE0"/>
                </a:solidFill>
              </a:rPr>
              <a:t>เตือน ≥ สูงมาก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2944368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recall 0.986 · precision 0.564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3319272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CE0"/>
                </a:solidFill>
              </a:rPr>
              <a:t>เตือนรุนแรงมาก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319272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recall 0.826 (19 จาก 23 ชม.)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694176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CE0"/>
                </a:solidFill>
              </a:rPr>
              <a:t>coverage ช่วง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3694176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0.806 (เป้า 0.75–0.85)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V Guard">
  <a:themeElements>
    <a:clrScheme name="UV Guard">
      <a:dk1>
        <a:srgbClr val="1B1F3B"/>
      </a:dk1>
      <a:lt1>
        <a:srgbClr val="FFFFFF"/>
      </a:lt1>
      <a:dk2>
        <a:srgbClr val="4A5070"/>
      </a:dk2>
      <a:lt2>
        <a:srgbClr val="F2F3F8"/>
      </a:lt2>
      <a:accent1>
        <a:srgbClr val="F28C28"/>
      </a:accent1>
      <a:accent2>
        <a:srgbClr val="3E9B4F"/>
      </a:accent2>
      <a:accent3>
        <a:srgbClr val="D9A400"/>
      </a:accent3>
      <a:accent4>
        <a:srgbClr val="E36B12"/>
      </a:accent4>
      <a:accent5>
        <a:srgbClr val="D22F3A"/>
      </a:accent5>
      <a:accent6>
        <a:srgbClr val="8A3FC2"/>
      </a:accent6>
      <a:hlink>
        <a:srgbClr val="2F6FD6"/>
      </a:hlink>
      <a:folHlink>
        <a:srgbClr val="8A3FC2"/>
      </a:folHlink>
    </a:clrScheme>
    <a:fontScheme name="UV Guard">
      <a:majorFont>
        <a:latin typeface="Leelawadee UI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Leelawadee U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Leelawadee U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 Guard</dc:title>
  <dc:subject>PptxGenJS Presentation</dc:subject>
  <dc:creator>Folktom04</dc:creator>
  <cp:lastModifiedBy>Folktom04</cp:lastModifiedBy>
  <cp:revision>1</cp:revision>
  <dcterms:created xsi:type="dcterms:W3CDTF">2026-10-02T20:39:13Z</dcterms:created>
  <dcterms:modified xsi:type="dcterms:W3CDTF">2026-10-02T20:39:13Z</dcterms:modified>
</cp:coreProperties>
</file>