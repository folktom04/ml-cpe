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21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เปิด" id="{38f8460b-9764-218e-54a5-8a51ada4f7d8}">
          <p14:sldIdLst>
            <p14:sldId id="256"/>
          </p14:sldIdLst>
        </p14:section>
        <p14:section name="ที่มา" id="{f08058d8-8cc9-e015-6b54-a696f3dc2368}">
          <p14:sldIdLst>
            <p14:sldId id="257"/>
          </p14:sldIdLst>
        </p14:section>
        <p14:section name="ระบบ" id="{0bfeb75e-7887-3da7-cfb8-b70faf0e38c3}">
          <p14:sldIdLst>
            <p14:sldId id="258"/>
            <p14:sldId id="259"/>
          </p14:sldIdLst>
        </p14:section>
        <p14:section name="โมเดล" id="{d1eb9f59-40ec-0f96-7ee9-f8e699b17ccf}">
          <p14:sldIdLst>
            <p14:sldId id="260"/>
            <p14:sldId id="261"/>
          </p14:sldIdLst>
        </p14:section>
        <p14:section name="ผลทดสอบ" id="{46598f72-b759-9e62-3f26-677dc5542f47}">
          <p14:sldIdLst>
            <p14:sldId id="262"/>
            <p14:sldId id="263"/>
            <p14:sldId id="264"/>
          </p14:sldIdLst>
        </p14:section>
        <p14:section name="แอป" id="{67387d6a-a73d-cb85-388c-57eee4cf0591}">
          <p14:sldIdLst>
            <p14:sldId id="265"/>
            <p14:sldId id="266"/>
            <p14:sldId id="267"/>
          </p14:sldIdLst>
        </p14:section>
        <p14:section name="ปิด" id="{7b8bca9f-4a27-5659-aa7e-cf509a39688b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B1F3B"/>
                </a:solidFill>
                <a:latin typeface="+mn-lt"/>
              </a:rPr>
              <a:t>เลือก target: MAE เทียบ OMI ปี 2023 (UVI)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vs OMI</c:v>
                </c:pt>
              </c:strCache>
            </c:strRef>
          </c:tx>
          <c:spPr>
            <a:solidFill>
              <a:srgbClr val="D22F3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22F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E9B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Open-Meteo</c:v>
                  </c:pt>
                  <c:pt idx="1">
                    <c:v>NASA POWER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2.428</c:v>
                </c:pt>
                <c:pt idx="1">
                  <c:v>1.143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0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b"/>
        <c:majorGridlines>
          <c:spPr>
            <a:ln w="6350" cap="flat">
              <a:solidFill>
                <a:srgbClr val="E3E5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0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B1F3B"/>
                </a:solidFill>
                <a:latin typeface="+mn-lt"/>
              </a:rPr>
              <a:t>UVI MAE (ต่ำ = ดี)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UVI MAE</c:v>
                </c:pt>
              </c:strCache>
            </c:strRef>
          </c:tx>
          <c:spPr>
            <a:solidFill>
              <a:srgbClr val="B8BCC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8BCC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8BCC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BCC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8C2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36B12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Open-Meteo uv_index</c:v>
                  </c:pt>
                  <c:pt idx="1">
                    <c:v>CMF คงที่</c:v>
                  </c:pt>
                  <c:pt idx="2">
                    <c:v>Linear regression</c:v>
                  </c:pt>
                  <c:pt idx="3">
                    <c:v>XGBoost</c:v>
                  </c:pt>
                  <c:pt idx="4">
                    <c:v>XGBoost + Optuna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1.252</c:v>
                </c:pt>
                <c:pt idx="1">
                  <c:v>0.703</c:v>
                </c:pt>
                <c:pt idx="2">
                  <c:v>0.473</c:v>
                </c:pt>
                <c:pt idx="3">
                  <c:v>0.462</c:v>
                </c:pt>
                <c:pt idx="4">
                  <c:v>0.45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0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"/>
        </c:scaling>
        <c:delete val="0"/>
        <c:axPos val="b"/>
        <c:majorGridlines>
          <c:spPr>
            <a:ln w="6350" cap="flat">
              <a:solidFill>
                <a:srgbClr val="E3E5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0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B1F3B"/>
                </a:solidFill>
                <a:latin typeface="+mn-lt"/>
              </a:rPr>
              <a:t>UVI MAE (ต่ำ = ดี)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 2024</c:v>
                </c:pt>
              </c:strCache>
            </c:strRef>
          </c:tx>
          <c:spPr>
            <a:solidFill>
              <a:srgbClr val="4A507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XGBoost</c:v>
                  </c:pt>
                  <c:pt idx="1">
                    <c:v>LSTM</c:v>
                  </c:pt>
                  <c:pt idx="2">
                    <c:v>Open-Meteo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0.45</c:v>
                </c:pt>
                <c:pt idx="1">
                  <c:v>0.463</c:v>
                </c:pt>
                <c:pt idx="2">
                  <c:v>1.162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2025</c:v>
                </c:pt>
              </c:strCache>
            </c:strRef>
          </c:tx>
          <c:spPr>
            <a:solidFill>
              <a:srgbClr val="F28C2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XGBoost</c:v>
                  </c:pt>
                  <c:pt idx="1">
                    <c:v>LSTM</c:v>
                  </c:pt>
                  <c:pt idx="2">
                    <c:v>Open-Meteo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0.48</c:v>
                </c:pt>
                <c:pt idx="1">
                  <c:v>0.497</c:v>
                </c:pt>
                <c:pt idx="2">
                  <c:v>1.164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0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"/>
        </c:scaling>
        <c:delete val="0"/>
        <c:axPos val="l"/>
        <c:majorGridlines>
          <c:spPr>
            <a:ln w="6350" cap="flat">
              <a:solidFill>
                <a:srgbClr val="E3E5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0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1F3B"/>
                </a:solidFill>
                <a:latin typeface="+mn-lt"/>
              </a:rPr>
              <a:t>เวลาผิวไหม้เมื่อ UVI = 10 (นาที)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นาทีที่ UVI 10</c:v>
                </c:pt>
              </c:strCache>
            </c:strRef>
          </c:tx>
          <c:spPr>
            <a:solidFill>
              <a:srgbClr val="F28C2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</c:v>
                  </c:pt>
                  <c:pt idx="1">
                    <c:v>II</c:v>
                  </c:pt>
                  <c:pt idx="2">
                    <c:v>III</c:v>
                  </c:pt>
                  <c:pt idx="3">
                    <c:v>IV</c:v>
                  </c:pt>
                  <c:pt idx="4">
                    <c:v>V</c:v>
                  </c:pt>
                  <c:pt idx="5">
                    <c:v>VI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13.3</c:v>
                </c:pt>
                <c:pt idx="1">
                  <c:v>16.7</c:v>
                </c:pt>
                <c:pt idx="2">
                  <c:v>23.3</c:v>
                </c:pt>
                <c:pt idx="3">
                  <c:v>30</c:v>
                </c:pt>
                <c:pt idx="4">
                  <c:v>40</c:v>
                </c:pt>
                <c:pt idx="5">
                  <c:v>66.7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4A507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4A5070"/>
                    </a:solidFill>
                    <a:latin typeface="Arial"/>
                  </a:rPr>
                  <a:t>ประเภทผิว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0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3E5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0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แนะนำโปรเจกต์ UV Guard: ประเมิน UVI, UVA, UVB จากสมาร์ทโฟน + API สภาพอากาศฟรี แล้วเตือนตามประเภทผิว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ตัวเลข: TEMIS clear-sky 2025 (results_summary ข้อจำกัด 2), Open-Meteo MAE 2.428 vs OMI 2023 (n=275)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ผลจากบันทึกภาคสนาม 4 ต.ค. 2026: UV สูง 10:00→10:06, ทาครีมซ้ำ 11:52→11:54, UV ลดลงแล้ว 15:00→15:09 บั๊ก 4 ตัว: % ของ MED ค้างหลังล็อกจอ, แจ้งเตือนที่เลยเวลาถูกยกเลิก, หน้าหลักแสดงชั่วโมงเก่า (commit c6b05db) และเตือนผิวไหม้ข้ามวัน (d2b1762)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ภาพหน้าจอจาก Samsung Galaxy S23 Ultra วันที่ 4 ต.ค. 2026 (development build) ไฟล์อยู่ใน docs/screenshots/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UV Guard · ML-CPE RMUTT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5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5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-1"/>
          <p:cNvSpPr/>
          <p:nvPr/>
        </p:nvSpPr>
        <p:spPr>
          <a:xfrm>
            <a:off x="7086600" y="502920"/>
            <a:ext cx="1371600" cy="13716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halo-2"/>
          <p:cNvSpPr/>
          <p:nvPr/>
        </p:nvSpPr>
        <p:spPr>
          <a:xfrm>
            <a:off x="6720840" y="137160"/>
            <a:ext cx="2103120" cy="210312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2700">
            <a:solidFill>
              <a:schemeClr val="accent1">
                <a:alpha val="20000"/>
              </a:schemeClr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UV Guard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514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ประเมินรังสี UV ณ ตำแหน่งผู้ใช้ด้วย Machine Learning แปลงเป็นความเสี่ยงต่อผิว และเตือนผ่านแอปมือถือ</a:t>
            </a:r>
            <a:endParaRPr lang="en-US" sz="1800" dirty="0"/>
          </a:p>
        </p:txBody>
      </p:sp>
      <p:sp>
        <p:nvSpPr>
          <p:cNvPr id="6" name="text-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โปรเจกต์ 30 วัน · วิศวกรรมคอมพิวเตอร์ มทร.ธัญบุรี (RMUTT) · ตุลาคม 2569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ทำไมต้องเตือน UV เฉพาะบุคคล</a:t>
            </a:r>
            <a:endParaRPr lang="en-US" sz="2600" dirty="0"/>
          </a:p>
        </p:txBody>
      </p:sp>
      <p:sp>
        <p:nvSpPr>
          <p:cNvPr id="3" name="card-4"/>
          <p:cNvSpPr/>
          <p:nvPr/>
        </p:nvSpPr>
        <p:spPr>
          <a:xfrm>
            <a:off x="457200" y="1051560"/>
            <a:ext cx="393192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5"/>
          <p:cNvSpPr txBox="1"/>
          <p:nvPr/>
        </p:nvSpPr>
        <p:spPr>
          <a:xfrm>
            <a:off x="685800" y="1188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ปัญหา</a:t>
            </a:r>
            <a:endParaRPr lang="en-US" sz="1600" dirty="0"/>
          </a:p>
        </p:txBody>
      </p:sp>
      <p:sp>
        <p:nvSpPr>
          <p:cNvPr id="5" name="list-6"/>
          <p:cNvSpPr txBox="1"/>
          <p:nvPr/>
        </p:nvSpPr>
        <p:spPr>
          <a:xfrm>
            <a:off x="685800" y="16459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เที่ยงวันฟ้าใสที่ปทุมธานี UV ถึงระดับ "รุนแรงมาก"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uv_index ของ API ทั่วไป (Open-Meteo) ต่ำกว่าจริงมาก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ผิวแต่ละประเภทไหม้เร็วต่างกันหลายเท่า</a:t>
            </a:r>
            <a:endParaRPr lang="en-US" sz="1250" dirty="0"/>
          </a:p>
        </p:txBody>
      </p:sp>
      <p:sp>
        <p:nvSpPr>
          <p:cNvPr id="6" name="card-7"/>
          <p:cNvSpPr/>
          <p:nvPr/>
        </p:nvSpPr>
        <p:spPr>
          <a:xfrm>
            <a:off x="4754880" y="1051560"/>
            <a:ext cx="393192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-8"/>
          <p:cNvSpPr txBox="1"/>
          <p:nvPr/>
        </p:nvSpPr>
        <p:spPr>
          <a:xfrm>
            <a:off x="4983480" y="1188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เป้าหมาย</a:t>
            </a:r>
            <a:endParaRPr lang="en-US" sz="1600" dirty="0"/>
          </a:p>
        </p:txBody>
      </p:sp>
      <p:sp>
        <p:nvSpPr>
          <p:cNvPr id="8" name="list-9"/>
          <p:cNvSpPr txBox="1"/>
          <p:nvPr/>
        </p:nvSpPr>
        <p:spPr>
          <a:xfrm>
            <a:off x="4983480" y="16459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ประเมิน UVI, UVA, UVB รายชั่วโมง พร้อมช่วงความไม่แน่นอน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แปลงเป็นระดับ WHO และเวลาผิวไหม้ตามผิว I–VI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เตือนผ่านแอป ใช้สมาร์ทโฟนเครื่องเดียว</a:t>
            </a:r>
            <a:endParaRPr lang="en-US" sz="1250" dirty="0"/>
          </a:p>
        </p:txBody>
      </p:sp>
      <p:sp>
        <p:nvSpPr>
          <p:cNvPr id="9" name="text-10"/>
          <p:cNvSpPr txBox="1"/>
          <p:nvPr/>
        </p:nvSpPr>
        <p:spPr>
          <a:xfrm>
            <a:off x="457200" y="34290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6"/>
                </a:solidFill>
              </a:rPr>
              <a:t>12–13</a:t>
            </a:r>
            <a:endParaRPr lang="en-US" sz="3400" dirty="0"/>
          </a:p>
        </p:txBody>
      </p:sp>
      <p:sp>
        <p:nvSpPr>
          <p:cNvPr id="10" name="text-11"/>
          <p:cNvSpPr txBox="1"/>
          <p:nvPr/>
        </p:nvSpPr>
        <p:spPr>
          <a:xfrm>
            <a:off x="457200" y="40325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UVI เที่ยงวันฟ้าใส (TEMIS, ปี 2025)</a:t>
            </a:r>
            <a:endParaRPr lang="en-US" sz="1100" dirty="0"/>
          </a:p>
        </p:txBody>
      </p:sp>
      <p:sp>
        <p:nvSpPr>
          <p:cNvPr id="11" name="text-12"/>
          <p:cNvSpPr txBox="1"/>
          <p:nvPr/>
        </p:nvSpPr>
        <p:spPr>
          <a:xfrm>
            <a:off x="3246120" y="34290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2.43</a:t>
            </a:r>
            <a:endParaRPr lang="en-US" sz="3400" dirty="0"/>
          </a:p>
        </p:txBody>
      </p:sp>
      <p:sp>
        <p:nvSpPr>
          <p:cNvPr id="12" name="text-13"/>
          <p:cNvSpPr txBox="1"/>
          <p:nvPr/>
        </p:nvSpPr>
        <p:spPr>
          <a:xfrm>
            <a:off x="3246120" y="40325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MAE ของ Open-Meteo เทียบดาวเทียม OMI (2023)</a:t>
            </a:r>
            <a:endParaRPr lang="en-US" sz="1100" dirty="0"/>
          </a:p>
        </p:txBody>
      </p:sp>
      <p:sp>
        <p:nvSpPr>
          <p:cNvPr id="13" name="text-14"/>
          <p:cNvSpPr txBox="1"/>
          <p:nvPr/>
        </p:nvSpPr>
        <p:spPr>
          <a:xfrm>
            <a:off x="6035040" y="34290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13–67 นาที</a:t>
            </a:r>
            <a:endParaRPr lang="en-US" sz="3000" dirty="0"/>
          </a:p>
        </p:txBody>
      </p:sp>
      <p:sp>
        <p:nvSpPr>
          <p:cNvPr id="14" name="text-15"/>
          <p:cNvSpPr txBox="1"/>
          <p:nvPr/>
        </p:nvSpPr>
        <p:spPr>
          <a:xfrm>
            <a:off x="6035040" y="40325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เวลาผิวไหม้ที่ UVI 10 ผิว I ถึง VI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5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ภาพรวมระบบ</a:t>
            </a:r>
            <a:endParaRPr lang="en-US" sz="2600" dirty="0"/>
          </a:p>
        </p:txBody>
      </p:sp>
      <p:sp>
        <p:nvSpPr>
          <p:cNvPr id="3" name="card-16"/>
          <p:cNvSpPr/>
          <p:nvPr/>
        </p:nvSpPr>
        <p:spPr>
          <a:xfrm>
            <a:off x="457200" y="1325880"/>
            <a:ext cx="1298448" cy="19659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ot-17"/>
          <p:cNvSpPr/>
          <p:nvPr/>
        </p:nvSpPr>
        <p:spPr>
          <a:xfrm>
            <a:off x="877824" y="150876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dotlabel-18"/>
          <p:cNvSpPr txBox="1"/>
          <p:nvPr/>
        </p:nvSpPr>
        <p:spPr>
          <a:xfrm>
            <a:off x="87782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-19"/>
          <p:cNvSpPr txBox="1"/>
          <p:nvPr/>
        </p:nvSpPr>
        <p:spPr>
          <a:xfrm>
            <a:off x="530352" y="2075688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อินพุต</a:t>
            </a:r>
            <a:endParaRPr lang="en-US" sz="1300" dirty="0"/>
          </a:p>
        </p:txBody>
      </p:sp>
      <p:sp>
        <p:nvSpPr>
          <p:cNvPr id="7" name="text-20"/>
          <p:cNvSpPr txBox="1"/>
          <p:nvPr/>
        </p:nvSpPr>
        <p:spPr>
          <a:xfrm>
            <a:off x="530352" y="2468880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GPS, เวลา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สภาพอากาศ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ฝุ่น/AOD</a:t>
            </a:r>
            <a:endParaRPr lang="en-US" sz="1000" dirty="0"/>
          </a:p>
        </p:txBody>
      </p:sp>
      <p:sp>
        <p:nvSpPr>
          <p:cNvPr id="8" name="card-21"/>
          <p:cNvSpPr/>
          <p:nvPr/>
        </p:nvSpPr>
        <p:spPr>
          <a:xfrm>
            <a:off x="1843430" y="1325880"/>
            <a:ext cx="1298448" cy="19659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dot-22"/>
          <p:cNvSpPr/>
          <p:nvPr/>
        </p:nvSpPr>
        <p:spPr>
          <a:xfrm>
            <a:off x="2264054" y="150876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dotlabel-23"/>
          <p:cNvSpPr txBox="1"/>
          <p:nvPr/>
        </p:nvSpPr>
        <p:spPr>
          <a:xfrm>
            <a:off x="226405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-24"/>
          <p:cNvSpPr txBox="1"/>
          <p:nvPr/>
        </p:nvSpPr>
        <p:spPr>
          <a:xfrm>
            <a:off x="1916582" y="2075688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ฟิสิกส์ฟ้าใส</a:t>
            </a:r>
            <a:endParaRPr lang="en-US" sz="1300" dirty="0"/>
          </a:p>
        </p:txBody>
      </p:sp>
      <p:sp>
        <p:nvSpPr>
          <p:cNvPr id="12" name="text-25"/>
          <p:cNvSpPr txBox="1"/>
          <p:nvPr/>
        </p:nvSpPr>
        <p:spPr>
          <a:xfrm>
            <a:off x="1916582" y="2468880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UVI: Madronich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UVA/UVB: SPECTRL2</a:t>
            </a:r>
            <a:endParaRPr lang="en-US" sz="1000" dirty="0"/>
          </a:p>
        </p:txBody>
      </p:sp>
      <p:sp>
        <p:nvSpPr>
          <p:cNvPr id="13" name="card-26"/>
          <p:cNvSpPr/>
          <p:nvPr/>
        </p:nvSpPr>
        <p:spPr>
          <a:xfrm>
            <a:off x="3229661" y="1325880"/>
            <a:ext cx="1298448" cy="19659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dot-27"/>
          <p:cNvSpPr/>
          <p:nvPr/>
        </p:nvSpPr>
        <p:spPr>
          <a:xfrm>
            <a:off x="3650285" y="1508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dotlabel-28"/>
          <p:cNvSpPr txBox="1"/>
          <p:nvPr/>
        </p:nvSpPr>
        <p:spPr>
          <a:xfrm>
            <a:off x="3650285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-29"/>
          <p:cNvSpPr txBox="1"/>
          <p:nvPr/>
        </p:nvSpPr>
        <p:spPr>
          <a:xfrm>
            <a:off x="3302813" y="2075688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XGBoost</a:t>
            </a:r>
            <a:endParaRPr lang="en-US" sz="1300" dirty="0"/>
          </a:p>
        </p:txBody>
      </p:sp>
      <p:sp>
        <p:nvSpPr>
          <p:cNvPr id="17" name="text-30"/>
          <p:cNvSpPr txBox="1"/>
          <p:nvPr/>
        </p:nvSpPr>
        <p:spPr>
          <a:xfrm>
            <a:off x="3302813" y="2468880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ทาย CMF (0–1)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ผลของเมฆ + ฝุ่น</a:t>
            </a:r>
            <a:endParaRPr lang="en-US" sz="1000" dirty="0"/>
          </a:p>
        </p:txBody>
      </p:sp>
      <p:sp>
        <p:nvSpPr>
          <p:cNvPr id="18" name="card-31"/>
          <p:cNvSpPr/>
          <p:nvPr/>
        </p:nvSpPr>
        <p:spPr>
          <a:xfrm>
            <a:off x="4615891" y="1325880"/>
            <a:ext cx="1298448" cy="19659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dot-32"/>
          <p:cNvSpPr/>
          <p:nvPr/>
        </p:nvSpPr>
        <p:spPr>
          <a:xfrm>
            <a:off x="5036515" y="150876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dotlabel-33"/>
          <p:cNvSpPr txBox="1"/>
          <p:nvPr/>
        </p:nvSpPr>
        <p:spPr>
          <a:xfrm>
            <a:off x="5036515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-34"/>
          <p:cNvSpPr txBox="1"/>
          <p:nvPr/>
        </p:nvSpPr>
        <p:spPr>
          <a:xfrm>
            <a:off x="4689043" y="2075688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ช่วง q10–q90</a:t>
            </a:r>
            <a:endParaRPr lang="en-US" sz="1300" dirty="0"/>
          </a:p>
        </p:txBody>
      </p:sp>
      <p:sp>
        <p:nvSpPr>
          <p:cNvPr id="22" name="text-35"/>
          <p:cNvSpPr txBox="1"/>
          <p:nvPr/>
        </p:nvSpPr>
        <p:spPr>
          <a:xfrm>
            <a:off x="4689043" y="2468880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Quantile XGBoost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+ CQR</a:t>
            </a:r>
            <a:endParaRPr lang="en-US" sz="1000" dirty="0"/>
          </a:p>
        </p:txBody>
      </p:sp>
      <p:sp>
        <p:nvSpPr>
          <p:cNvPr id="23" name="card-36"/>
          <p:cNvSpPr/>
          <p:nvPr/>
        </p:nvSpPr>
        <p:spPr>
          <a:xfrm>
            <a:off x="6002122" y="1325880"/>
            <a:ext cx="1298448" cy="19659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dot-37"/>
          <p:cNvSpPr/>
          <p:nvPr/>
        </p:nvSpPr>
        <p:spPr>
          <a:xfrm>
            <a:off x="6422746" y="150876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dotlabel-38"/>
          <p:cNvSpPr txBox="1"/>
          <p:nvPr/>
        </p:nvSpPr>
        <p:spPr>
          <a:xfrm>
            <a:off x="642274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text-39"/>
          <p:cNvSpPr txBox="1"/>
          <p:nvPr/>
        </p:nvSpPr>
        <p:spPr>
          <a:xfrm>
            <a:off x="6075274" y="2075688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Risk Engine</a:t>
            </a:r>
            <a:endParaRPr lang="en-US" sz="1300" dirty="0"/>
          </a:p>
        </p:txBody>
      </p:sp>
      <p:sp>
        <p:nvSpPr>
          <p:cNvPr id="27" name="text-40"/>
          <p:cNvSpPr txBox="1"/>
          <p:nvPr/>
        </p:nvSpPr>
        <p:spPr>
          <a:xfrm>
            <a:off x="6075274" y="2468880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ระดับ WHO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เวลาผิวไหม้ (q90)</a:t>
            </a:r>
            <a:endParaRPr lang="en-US" sz="1000" dirty="0"/>
          </a:p>
        </p:txBody>
      </p:sp>
      <p:sp>
        <p:nvSpPr>
          <p:cNvPr id="28" name="card-41"/>
          <p:cNvSpPr/>
          <p:nvPr/>
        </p:nvSpPr>
        <p:spPr>
          <a:xfrm>
            <a:off x="7388352" y="1325880"/>
            <a:ext cx="1298448" cy="19659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dot-42"/>
          <p:cNvSpPr/>
          <p:nvPr/>
        </p:nvSpPr>
        <p:spPr>
          <a:xfrm>
            <a:off x="7808976" y="150876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0" name="dotlabel-43"/>
          <p:cNvSpPr txBox="1"/>
          <p:nvPr/>
        </p:nvSpPr>
        <p:spPr>
          <a:xfrm>
            <a:off x="780897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text-44"/>
          <p:cNvSpPr txBox="1"/>
          <p:nvPr/>
        </p:nvSpPr>
        <p:spPr>
          <a:xfrm>
            <a:off x="7461504" y="2075688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แอป + แจ้งเตือน</a:t>
            </a:r>
            <a:endParaRPr lang="en-US" sz="1300" dirty="0"/>
          </a:p>
        </p:txBody>
      </p:sp>
      <p:sp>
        <p:nvSpPr>
          <p:cNvPr id="32" name="text-45"/>
          <p:cNvSpPr txBox="1"/>
          <p:nvPr/>
        </p:nvSpPr>
        <p:spPr>
          <a:xfrm>
            <a:off x="7461504" y="2468880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FastAPI → Expo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local + push</a:t>
            </a:r>
            <a:endParaRPr lang="en-US" sz="1000" dirty="0"/>
          </a:p>
        </p:txBody>
      </p:sp>
      <p:sp>
        <p:nvSpPr>
          <p:cNvPr id="33" name="card-46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12700">
            <a:solidFill>
              <a:srgbClr val="FDF1E6"/>
            </a:solidFill>
            <a:prstDash val="solid"/>
          </a:ln>
        </p:spPr>
      </p:sp>
      <p:sp>
        <p:nvSpPr>
          <p:cNvPr id="34" name="text-47"/>
          <p:cNvSpPr txBox="1"/>
          <p:nvPr/>
        </p:nvSpPr>
        <p:spPr>
          <a:xfrm>
            <a:off x="685800" y="3630168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UV = ฟ้าใส × CMF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ฟิสิกส์ให้รูปร่างรายวัน ML เรียนเฉพาะส่วนที่ฟิสิกส์ไม่รู้ คือเมฆและฝุ่น • CNN ภาพท้องฟ้าเป็นโมดูลแยก แสดงประกอบเท่านั้น ไม่เปลี่ยนค่า UVI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5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ข้อมูลและ Ground truth</a:t>
            </a:r>
            <a:endParaRPr lang="en-US" sz="2600" dirty="0"/>
          </a:p>
        </p:txBody>
      </p:sp>
      <p:sp>
        <p:nvSpPr>
          <p:cNvPr id="3" name="list-48"/>
          <p:cNvSpPr txBox="1"/>
          <p:nvPr/>
        </p:nvSpPr>
        <p:spPr>
          <a:xfrm>
            <a:off x="457200" y="109728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Features (ตอนใช้งานได้จริง): Open-Meteo Historical Forecast + Air Quality (AOD, PM2.5) + มุมดวงอาทิตย์และเวลา รวม 23 ตัว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Target: NASA POWER รายชั่วโมง (UVI, UVA, UVB) → CMF ห้ามใช้เป็น feature เพราะรั่วคำตอบ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ตรวจอิสระเท่านั้น: OMI (ดาวเทียม) และ TEMIS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แบ่งตามเวลา: Train 2023 · Dev 2024 · Test 2025 เปิดครั้งเดียว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11,156 ชั่วโมงกลางวัน ที่ปทุมธานี (14.02 N, 100.52 E)</a:t>
            </a:r>
            <a:endParaRPr lang="en-US" sz="1250" dirty="0"/>
          </a:p>
        </p:txBody>
      </p:sp>
      <p:graphicFrame>
        <p:nvGraphicFramePr>
          <p:cNvPr id="4" name="chart-49" descr=""/>
          <p:cNvGraphicFramePr/>
          <p:nvPr/>
        </p:nvGraphicFramePr>
        <p:xfrm>
          <a:off x="4937760" y="1051560"/>
          <a:ext cx="3749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-50"/>
          <p:cNvSpPr txBox="1"/>
          <p:nvPr/>
        </p:nvSpPr>
        <p:spPr>
          <a:xfrm>
            <a:off x="4937760" y="4114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กติกาตั้งก่อนดูผล: เลือก NASA POWER ถ้าดีกว่าเกิน 0.3 → ต่างกัน 1.29 (n = 275 วัน)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5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เลือกโมเดล CMF บน Dev 2024</a:t>
            </a:r>
            <a:endParaRPr lang="en-US" sz="2600" dirty="0"/>
          </a:p>
        </p:txBody>
      </p:sp>
      <p:graphicFrame>
        <p:nvGraphicFramePr>
          <p:cNvPr id="3" name="chart-51" descr=""/>
          <p:cNvGraphicFramePr/>
          <p:nvPr/>
        </p:nvGraphicFramePr>
        <p:xfrm>
          <a:off x="365760" y="100584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-52"/>
          <p:cNvSpPr/>
          <p:nvPr/>
        </p:nvSpPr>
        <p:spPr>
          <a:xfrm>
            <a:off x="5760720" y="1097280"/>
            <a:ext cx="2926080" cy="342900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53"/>
          <p:cNvSpPr txBox="1"/>
          <p:nvPr/>
        </p:nvSpPr>
        <p:spPr>
          <a:xfrm>
            <a:off x="5989320" y="12344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0.493</a:t>
            </a:r>
            <a:endParaRPr lang="en-US" sz="3400" dirty="0"/>
          </a:p>
        </p:txBody>
      </p:sp>
      <p:sp>
        <p:nvSpPr>
          <p:cNvPr id="6" name="text-54"/>
          <p:cNvSpPr txBox="1"/>
          <p:nvPr/>
        </p:nvSpPr>
        <p:spPr>
          <a:xfrm>
            <a:off x="5989320" y="18379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UVI MAE เฉลี่ย ± 0.078 จาก TimeSeriesSplit 5 folds (2023–2024)</a:t>
            </a:r>
            <a:endParaRPr lang="en-US" sz="1100" dirty="0"/>
          </a:p>
        </p:txBody>
      </p:sp>
      <p:sp>
        <p:nvSpPr>
          <p:cNvPr id="7" name="text-55"/>
          <p:cNvSpPr txBox="1"/>
          <p:nvPr/>
        </p:nvSpPr>
        <p:spPr>
          <a:xfrm>
            <a:off x="5989320" y="23774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 / 5</a:t>
            </a:r>
            <a:endParaRPr lang="en-US" sz="3400" dirty="0"/>
          </a:p>
        </p:txBody>
      </p:sp>
      <p:sp>
        <p:nvSpPr>
          <p:cNvPr id="8" name="text-56"/>
          <p:cNvSpPr txBox="1"/>
          <p:nvPr/>
        </p:nvSpPr>
        <p:spPr>
          <a:xfrm>
            <a:off x="5989320" y="29809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ตรวจ leakage ผ่าน (ไม่มีข้อมูล 2025, ไม่มี feature จาก NASA)</a:t>
            </a:r>
            <a:endParaRPr lang="en-US" sz="1100" dirty="0"/>
          </a:p>
        </p:txBody>
      </p:sp>
      <p:sp>
        <p:nvSpPr>
          <p:cNvPr id="9" name="text-57"/>
          <p:cNvSpPr txBox="1"/>
          <p:nvPr/>
        </p:nvSpPr>
        <p:spPr>
          <a:xfrm>
            <a:off x="5989320" y="3611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Multi-output: ทาย CMF ของ UVI, UVA, UVB พร้อมกัน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5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ช่วงความไม่แน่นอน: Quantile + CQR</a:t>
            </a:r>
            <a:endParaRPr lang="en-US" sz="2600" dirty="0"/>
          </a:p>
        </p:txBody>
      </p:sp>
      <p:pic>
        <p:nvPicPr>
          <p:cNvPr id="3" name="figure-58" descr="C:/Users/folkt/ML-CPE/Final-Project/docs/figures/quantile_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349240" cy="3108216"/>
          </a:xfrm>
          <a:prstGeom prst="rect">
            <a:avLst/>
          </a:prstGeom>
        </p:spPr>
      </p:pic>
      <p:sp>
        <p:nvSpPr>
          <p:cNvPr id="4" name="card-59"/>
          <p:cNvSpPr/>
          <p:nvPr/>
        </p:nvSpPr>
        <p:spPr>
          <a:xfrm>
            <a:off x="6035040" y="1051560"/>
            <a:ext cx="2651760" cy="35204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60"/>
          <p:cNvSpPr txBox="1"/>
          <p:nvPr/>
        </p:nvSpPr>
        <p:spPr>
          <a:xfrm>
            <a:off x="6217920" y="11430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0.84</a:t>
            </a:r>
            <a:endParaRPr lang="en-US" sz="3400" dirty="0"/>
          </a:p>
        </p:txBody>
      </p:sp>
      <p:sp>
        <p:nvSpPr>
          <p:cNvPr id="6" name="text-61"/>
          <p:cNvSpPr txBox="1"/>
          <p:nvPr/>
        </p:nvSpPr>
        <p:spPr>
          <a:xfrm>
            <a:off x="6217920" y="17465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ช่วง q10–q90 ครอบคลุมค่าจริงหลัง CQR (ก่อน 0.58, เป้า 0.75–0.85)</a:t>
            </a:r>
            <a:endParaRPr lang="en-US" sz="1100" dirty="0"/>
          </a:p>
        </p:txBody>
      </p:sp>
      <p:sp>
        <p:nvSpPr>
          <p:cNvPr id="7" name="text-62"/>
          <p:cNvSpPr txBox="1"/>
          <p:nvPr/>
        </p:nvSpPr>
        <p:spPr>
          <a:xfrm>
            <a:off x="6217920" y="25603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6"/>
                </a:solidFill>
              </a:rPr>
              <a:t>0.989</a:t>
            </a:r>
            <a:endParaRPr lang="en-US" sz="3400" dirty="0"/>
          </a:p>
        </p:txBody>
      </p:sp>
      <p:sp>
        <p:nvSpPr>
          <p:cNvPr id="8" name="text-63"/>
          <p:cNvSpPr txBox="1"/>
          <p:nvPr/>
        </p:nvSpPr>
        <p:spPr>
          <a:xfrm>
            <a:off x="6217920" y="31638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Recall ของชั่วโมง "สูงมาก" เมื่อเตือนด้วย q90 (CV folds 3–5)</a:t>
            </a:r>
            <a:endParaRPr lang="en-US" sz="1100" dirty="0"/>
          </a:p>
        </p:txBody>
      </p:sp>
      <p:sp>
        <p:nvSpPr>
          <p:cNvPr id="9" name="text-64"/>
          <p:cNvSpPr txBox="1"/>
          <p:nvPr/>
        </p:nvSpPr>
        <p:spPr>
          <a:xfrm>
            <a:off x="6217920" y="4023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เตือนด้วยค่าบนเสมอ: พลาดน้อย ยอมเตือนเกินบ้าง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5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ผลทดสอบปี 2025 (เปิดครั้งเดียว)</a:t>
            </a:r>
            <a:endParaRPr lang="en-US" sz="2600" dirty="0"/>
          </a:p>
        </p:txBody>
      </p:sp>
      <p:sp>
        <p:nvSpPr>
          <p:cNvPr id="3" name="text-65"/>
          <p:cNvSpPr txBox="1"/>
          <p:nvPr/>
        </p:nvSpPr>
        <p:spPr>
          <a:xfrm>
            <a:off x="457200" y="1005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0.479</a:t>
            </a:r>
            <a:endParaRPr lang="en-US" sz="3400" dirty="0"/>
          </a:p>
        </p:txBody>
      </p:sp>
      <p:sp>
        <p:nvSpPr>
          <p:cNvPr id="4" name="text-66"/>
          <p:cNvSpPr txBox="1"/>
          <p:nvPr/>
        </p:nvSpPr>
        <p:spPr>
          <a:xfrm>
            <a:off x="457200" y="160934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UVI MAE รายชั่วโมง เทียบ NASA POWER (เกณฑ์ &lt; 1.0)</a:t>
            </a:r>
            <a:endParaRPr lang="en-US" sz="1100" dirty="0"/>
          </a:p>
        </p:txBody>
      </p:sp>
      <p:sp>
        <p:nvSpPr>
          <p:cNvPr id="5" name="text-67"/>
          <p:cNvSpPr txBox="1"/>
          <p:nvPr/>
        </p:nvSpPr>
        <p:spPr>
          <a:xfrm>
            <a:off x="2560320" y="1005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0.934</a:t>
            </a:r>
            <a:endParaRPr lang="en-US" sz="3400" dirty="0"/>
          </a:p>
        </p:txBody>
      </p:sp>
      <p:sp>
        <p:nvSpPr>
          <p:cNvPr id="6" name="text-68"/>
          <p:cNvSpPr txBox="1"/>
          <p:nvPr/>
        </p:nvSpPr>
        <p:spPr>
          <a:xfrm>
            <a:off x="2560320" y="160934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R² (n = 3,718 ชั่วโมง)</a:t>
            </a:r>
            <a:endParaRPr lang="en-US" sz="1100" dirty="0"/>
          </a:p>
        </p:txBody>
      </p:sp>
      <p:sp>
        <p:nvSpPr>
          <p:cNvPr id="7" name="text-69"/>
          <p:cNvSpPr txBox="1"/>
          <p:nvPr/>
        </p:nvSpPr>
        <p:spPr>
          <a:xfrm>
            <a:off x="4663440" y="1005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14 / 15</a:t>
            </a:r>
            <a:endParaRPr lang="en-US" sz="3400" dirty="0"/>
          </a:p>
        </p:txBody>
      </p:sp>
      <p:sp>
        <p:nvSpPr>
          <p:cNvPr id="8" name="text-70"/>
          <p:cNvSpPr txBox="1"/>
          <p:nvPr/>
        </p:nvSpPr>
        <p:spPr>
          <a:xfrm>
            <a:off x="4663440" y="160934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เกณฑ์ที่ตั้งไว้ก่อนเปิด test ผ่าน</a:t>
            </a:r>
            <a:endParaRPr lang="en-US" sz="1100" dirty="0"/>
          </a:p>
        </p:txBody>
      </p:sp>
      <p:sp>
        <p:nvSpPr>
          <p:cNvPr id="9" name="text-71"/>
          <p:cNvSpPr txBox="1"/>
          <p:nvPr/>
        </p:nvSpPr>
        <p:spPr>
          <a:xfrm>
            <a:off x="6766560" y="1005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6"/>
                </a:solidFill>
              </a:rPr>
              <a:t>0.986</a:t>
            </a:r>
            <a:endParaRPr lang="en-US" sz="3400" dirty="0"/>
          </a:p>
        </p:txBody>
      </p:sp>
      <p:sp>
        <p:nvSpPr>
          <p:cNvPr id="10" name="text-72"/>
          <p:cNvSpPr txBox="1"/>
          <p:nvPr/>
        </p:nvSpPr>
        <p:spPr>
          <a:xfrm>
            <a:off x="6766560" y="160934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Recall "สูงมาก" ด้วย q90 · รุนแรงมาก 0.826</a:t>
            </a:r>
            <a:endParaRPr lang="en-US" sz="1100" dirty="0"/>
          </a:p>
        </p:txBody>
      </p:sp>
      <p:pic>
        <p:nvPicPr>
          <p:cNvPr id="11" name="figure-73" descr="C:/Users/folkt/ML-CPE/Final-Project/docs/figures/test2025_noon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86000"/>
            <a:ext cx="6675120" cy="2146341"/>
          </a:xfrm>
          <a:prstGeom prst="rect">
            <a:avLst/>
          </a:prstGeom>
        </p:spPr>
      </p:pic>
      <p:sp>
        <p:nvSpPr>
          <p:cNvPr id="12" name="text-74"/>
          <p:cNvSpPr txBox="1"/>
          <p:nvPr/>
        </p:nvSpPr>
        <p:spPr>
          <a:xfrm>
            <a:off x="7269480" y="2377440"/>
            <a:ext cx="1417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chemeClr val="tx2"/>
                </a:solidFill>
              </a:rPr>
              <a:t>เที่ยงวัน เทียบ OMI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2"/>
                </a:solidFill>
              </a:rPr>
              <a:t>โมเดล 1.32 vs Open-Meteo 2.36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2"/>
                </a:solidFill>
              </a:rPr>
              <a:t>ไม่ผ่าน 1 ข้อ: r กับ irradiance ของ OMI ต่ำกว่า 0.7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5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พยากรณ์ 6–24 ชม.: LSTM ไม่ชนะ XGBoost</a:t>
            </a:r>
            <a:endParaRPr lang="en-US" sz="2600" dirty="0"/>
          </a:p>
        </p:txBody>
      </p:sp>
      <p:graphicFrame>
        <p:nvGraphicFramePr>
          <p:cNvPr id="3" name="chart-75" descr=""/>
          <p:cNvGraphicFramePr/>
          <p:nvPr/>
        </p:nvGraphicFramePr>
        <p:xfrm>
          <a:off x="365760" y="100584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-76"/>
          <p:cNvSpPr/>
          <p:nvPr/>
        </p:nvSpPr>
        <p:spPr>
          <a:xfrm>
            <a:off x="5760720" y="1097280"/>
            <a:ext cx="2926080" cy="342900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77"/>
          <p:cNvSpPr txBox="1"/>
          <p:nvPr/>
        </p:nvSpPr>
        <p:spPr>
          <a:xfrm>
            <a:off x="5989320" y="1234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กติกาตั้งก่อนทดลอง</a:t>
            </a:r>
            <a:endParaRPr lang="en-US" sz="1300" dirty="0"/>
          </a:p>
        </p:txBody>
      </p:sp>
      <p:sp>
        <p:nvSpPr>
          <p:cNvPr id="6" name="list-78"/>
          <p:cNvSpPr txBox="1"/>
          <p:nvPr/>
        </p:nvSpPr>
        <p:spPr>
          <a:xfrm>
            <a:off x="5989320" y="1691640"/>
            <a:ext cx="2560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LSTM ต้องดีกว่า XGBoost เกิน 0.02 → ไม่ผ่าน (0.463 vs 0.430)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Recall "สูงมาก" ไม่แย่ลงเกิน 0.03 → ผ่าน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ผล: ใช้ XGBoost ตัวเดียวกันทั้งค่าปัจจุบันและพยากรณ์ ระบบเรียบง่ายกว่า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5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CNN ภาพท้องฟ้า: โมดูลเสริม</a:t>
            </a:r>
            <a:endParaRPr lang="en-US" sz="2600" dirty="0"/>
          </a:p>
        </p:txBody>
      </p:sp>
      <p:pic>
        <p:nvPicPr>
          <p:cNvPr id="3" name="figure-79" descr="C:/Users/folkt/ML-CPE/Final-Project/docs/figures/sky_samples_swimcat_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2375977" cy="2926080"/>
          </a:xfrm>
          <a:prstGeom prst="rect">
            <a:avLst/>
          </a:prstGeom>
        </p:spPr>
      </p:pic>
      <p:sp>
        <p:nvSpPr>
          <p:cNvPr id="4" name="text-80"/>
          <p:cNvSpPr txBox="1"/>
          <p:nvPr/>
        </p:nvSpPr>
        <p:spPr>
          <a:xfrm>
            <a:off x="4572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ตัวอย่าง SWIMCAT-ext (CC BY 4.0)</a:t>
            </a:r>
            <a:endParaRPr lang="en-US" sz="900" dirty="0"/>
          </a:p>
        </p:txBody>
      </p:sp>
      <p:sp>
        <p:nvSpPr>
          <p:cNvPr id="5" name="card-81"/>
          <p:cNvSpPr/>
          <p:nvPr/>
        </p:nvSpPr>
        <p:spPr>
          <a:xfrm>
            <a:off x="3154680" y="1051560"/>
            <a:ext cx="5532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82"/>
          <p:cNvSpPr txBox="1"/>
          <p:nvPr/>
        </p:nvSpPr>
        <p:spPr>
          <a:xfrm>
            <a:off x="3337560" y="116128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0.975</a:t>
            </a:r>
            <a:endParaRPr lang="en-US" sz="2600" dirty="0"/>
          </a:p>
        </p:txBody>
      </p:sp>
      <p:sp>
        <p:nvSpPr>
          <p:cNvPr id="7" name="text-83"/>
          <p:cNvSpPr txBox="1"/>
          <p:nvPr/>
        </p:nvSpPr>
        <p:spPr>
          <a:xfrm>
            <a:off x="4617720" y="11612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SWIMCAT-ext 6 ชนิดท้องฟ้า (accuracy, test)</a:t>
            </a:r>
            <a:endParaRPr lang="en-US" sz="1100" dirty="0"/>
          </a:p>
        </p:txBody>
      </p:sp>
      <p:sp>
        <p:nvSpPr>
          <p:cNvPr id="8" name="text-84"/>
          <p:cNvSpPr txBox="1"/>
          <p:nvPr/>
        </p:nvSpPr>
        <p:spPr>
          <a:xfrm>
            <a:off x="7406640" y="116128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ใช้ในแอป</a:t>
            </a:r>
            <a:endParaRPr lang="en-US" sz="1000" dirty="0"/>
          </a:p>
        </p:txBody>
      </p:sp>
      <p:sp>
        <p:nvSpPr>
          <p:cNvPr id="9" name="card-85"/>
          <p:cNvSpPr/>
          <p:nvPr/>
        </p:nvSpPr>
        <p:spPr>
          <a:xfrm>
            <a:off x="3154680" y="2075688"/>
            <a:ext cx="5532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86"/>
          <p:cNvSpPr txBox="1"/>
          <p:nvPr/>
        </p:nvSpPr>
        <p:spPr>
          <a:xfrm>
            <a:off x="3337560" y="218541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0.084</a:t>
            </a:r>
            <a:endParaRPr lang="en-US" sz="2600" dirty="0"/>
          </a:p>
        </p:txBody>
      </p:sp>
      <p:sp>
        <p:nvSpPr>
          <p:cNvPr id="11" name="text-87"/>
          <p:cNvSpPr txBox="1"/>
          <p:nvPr/>
        </p:nvSpPr>
        <p:spPr>
          <a:xfrm>
            <a:off x="4617720" y="21854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สัดส่วนเมฆในภาพ (SWIMSEG, MAE) ดีกว่าวิธีสีแดง/น้ำเงิน 0.145</a:t>
            </a:r>
            <a:endParaRPr lang="en-US" sz="1100" dirty="0"/>
          </a:p>
        </p:txBody>
      </p:sp>
      <p:sp>
        <p:nvSpPr>
          <p:cNvPr id="12" name="text-88"/>
          <p:cNvSpPr txBox="1"/>
          <p:nvPr/>
        </p:nvSpPr>
        <p:spPr>
          <a:xfrm>
            <a:off x="7406640" y="2185416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ใช้ในแอป</a:t>
            </a:r>
            <a:endParaRPr lang="en-US" sz="1000" dirty="0"/>
          </a:p>
        </p:txBody>
      </p:sp>
      <p:sp>
        <p:nvSpPr>
          <p:cNvPr id="13" name="card-89"/>
          <p:cNvSpPr/>
          <p:nvPr/>
        </p:nvSpPr>
        <p:spPr>
          <a:xfrm>
            <a:off x="3154680" y="3099816"/>
            <a:ext cx="5532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-90"/>
          <p:cNvSpPr txBox="1"/>
          <p:nvPr/>
        </p:nvSpPr>
        <p:spPr>
          <a:xfrm>
            <a:off x="3337560" y="3209544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0.486</a:t>
            </a:r>
            <a:endParaRPr lang="en-US" sz="2600" dirty="0"/>
          </a:p>
        </p:txBody>
      </p:sp>
      <p:sp>
        <p:nvSpPr>
          <p:cNvPr id="15" name="text-91"/>
          <p:cNvSpPr txBox="1"/>
          <p:nvPr/>
        </p:nvSpPr>
        <p:spPr>
          <a:xfrm>
            <a:off x="4617720" y="32095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CCSN 11 สกุลเมฆ (accuracy, เกณฑ์ ≥ 0.60)</a:t>
            </a:r>
            <a:endParaRPr lang="en-US" sz="1100" dirty="0"/>
          </a:p>
        </p:txBody>
      </p:sp>
      <p:sp>
        <p:nvSpPr>
          <p:cNvPr id="16" name="text-92"/>
          <p:cNvSpPr txBox="1"/>
          <p:nvPr/>
        </p:nvSpPr>
        <p:spPr>
          <a:xfrm>
            <a:off x="7406640" y="3209544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ไม่ผ่าน ไม่แสดง</a:t>
            </a:r>
            <a:endParaRPr lang="en-US" sz="1000" dirty="0"/>
          </a:p>
        </p:txBody>
      </p:sp>
      <p:sp>
        <p:nvSpPr>
          <p:cNvPr id="17" name="text-93"/>
          <p:cNvSpPr txBox="1"/>
          <p:nvPr/>
        </p:nvSpPr>
        <p:spPr>
          <a:xfrm>
            <a:off x="3154680" y="416052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ฝึกจาก dataset สาธารณะเท่านั้น ไม่เคยนำไปปรับค่า UVI ภาพจากกล้องมือถือต่างจากภาพฝึก (domain gap)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5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Risk Engine: จากค่า UV สู่คำเตือนรายคน</a:t>
            </a:r>
            <a:endParaRPr lang="en-US" sz="2600" dirty="0"/>
          </a:p>
        </p:txBody>
      </p:sp>
      <p:sp>
        <p:nvSpPr>
          <p:cNvPr id="3" name="level-94"/>
          <p:cNvSpPr/>
          <p:nvPr/>
        </p:nvSpPr>
        <p:spPr>
          <a:xfrm>
            <a:off x="457200" y="1097280"/>
            <a:ext cx="932688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-95"/>
          <p:cNvSpPr txBox="1"/>
          <p:nvPr/>
        </p:nvSpPr>
        <p:spPr>
          <a:xfrm>
            <a:off x="457200" y="1097280"/>
            <a:ext cx="93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0–2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ต่ำ</a:t>
            </a:r>
            <a:endParaRPr lang="en-US" sz="1300" dirty="0"/>
          </a:p>
        </p:txBody>
      </p:sp>
      <p:sp>
        <p:nvSpPr>
          <p:cNvPr id="5" name="level-96"/>
          <p:cNvSpPr/>
          <p:nvPr/>
        </p:nvSpPr>
        <p:spPr>
          <a:xfrm>
            <a:off x="1481328" y="1097280"/>
            <a:ext cx="932688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-97"/>
          <p:cNvSpPr txBox="1"/>
          <p:nvPr/>
        </p:nvSpPr>
        <p:spPr>
          <a:xfrm>
            <a:off x="1481328" y="1097280"/>
            <a:ext cx="93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3–5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ปานกลาง</a:t>
            </a:r>
            <a:endParaRPr lang="en-US" sz="1300" dirty="0"/>
          </a:p>
        </p:txBody>
      </p:sp>
      <p:sp>
        <p:nvSpPr>
          <p:cNvPr id="7" name="level-98"/>
          <p:cNvSpPr/>
          <p:nvPr/>
        </p:nvSpPr>
        <p:spPr>
          <a:xfrm>
            <a:off x="2505456" y="1097280"/>
            <a:ext cx="932688" cy="868680"/>
          </a:xfrm>
          <a:prstGeom prst="roundRect">
            <a:avLst>
              <a:gd name="adj" fmla="val 842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-99"/>
          <p:cNvSpPr txBox="1"/>
          <p:nvPr/>
        </p:nvSpPr>
        <p:spPr>
          <a:xfrm>
            <a:off x="2505456" y="1097280"/>
            <a:ext cx="93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6–7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สูง</a:t>
            </a:r>
            <a:endParaRPr lang="en-US" sz="1300" dirty="0"/>
          </a:p>
        </p:txBody>
      </p:sp>
      <p:sp>
        <p:nvSpPr>
          <p:cNvPr id="9" name="level-100"/>
          <p:cNvSpPr/>
          <p:nvPr/>
        </p:nvSpPr>
        <p:spPr>
          <a:xfrm>
            <a:off x="3529584" y="1097280"/>
            <a:ext cx="932688" cy="868680"/>
          </a:xfrm>
          <a:prstGeom prst="roundRect">
            <a:avLst>
              <a:gd name="adj" fmla="val 8421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-101"/>
          <p:cNvSpPr txBox="1"/>
          <p:nvPr/>
        </p:nvSpPr>
        <p:spPr>
          <a:xfrm>
            <a:off x="3529584" y="1097280"/>
            <a:ext cx="93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8–10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สูงมาก</a:t>
            </a:r>
            <a:endParaRPr lang="en-US" sz="1300" dirty="0"/>
          </a:p>
        </p:txBody>
      </p:sp>
      <p:sp>
        <p:nvSpPr>
          <p:cNvPr id="11" name="level-102"/>
          <p:cNvSpPr/>
          <p:nvPr/>
        </p:nvSpPr>
        <p:spPr>
          <a:xfrm>
            <a:off x="4553712" y="1097280"/>
            <a:ext cx="932688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-103"/>
          <p:cNvSpPr txBox="1"/>
          <p:nvPr/>
        </p:nvSpPr>
        <p:spPr>
          <a:xfrm>
            <a:off x="4553712" y="1097280"/>
            <a:ext cx="93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11+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รุนแรงมาก</a:t>
            </a:r>
            <a:endParaRPr lang="en-US" sz="1300" dirty="0"/>
          </a:p>
        </p:txBody>
      </p:sp>
      <p:sp>
        <p:nvSpPr>
          <p:cNvPr id="13" name="text-104"/>
          <p:cNvSpPr txBox="1"/>
          <p:nvPr/>
        </p:nvSpPr>
        <p:spPr>
          <a:xfrm>
            <a:off x="45720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เวลาผิวไหม้ (นาที) = MED ÷ (UVI × 0.025 × 60)</a:t>
            </a:r>
            <a:endParaRPr lang="en-US" sz="1400" dirty="0"/>
          </a:p>
        </p:txBody>
      </p:sp>
      <p:sp>
        <p:nvSpPr>
          <p:cNvPr id="14" name="list-105"/>
          <p:cNvSpPr txBox="1"/>
          <p:nvPr/>
        </p:nvSpPr>
        <p:spPr>
          <a:xfrm>
            <a:off x="457200" y="269748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MED (J/m²) ตามผิว: I 200 · II 250 · III 350 · IV 450 · V 600 · VI 1000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ใช้ค่าบน q90 ของ UVI เสมอ เพื่อไม่ให้เตือนช้า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ประเภทผิวจากแบบสอบถาม 5 ข้อในแอป</a:t>
            </a:r>
            <a:endParaRPr lang="en-US" sz="1200" dirty="0"/>
          </a:p>
        </p:txBody>
      </p:sp>
      <p:graphicFrame>
        <p:nvGraphicFramePr>
          <p:cNvPr id="15" name="chart-106" descr=""/>
          <p:cNvGraphicFramePr/>
          <p:nvPr/>
        </p:nvGraphicFramePr>
        <p:xfrm>
          <a:off x="5623560" y="1005840"/>
          <a:ext cx="3108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5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แอปมือถือและการแจ้งเตือน</a:t>
            </a:r>
            <a:endParaRPr lang="en-US" sz="2600" dirty="0"/>
          </a:p>
        </p:txBody>
      </p:sp>
      <p:sp>
        <p:nvSpPr>
          <p:cNvPr id="3" name="card-107"/>
          <p:cNvSpPr/>
          <p:nvPr/>
        </p:nvSpPr>
        <p:spPr>
          <a:xfrm>
            <a:off x="457200" y="1051560"/>
            <a:ext cx="2615184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ot-108"/>
          <p:cNvSpPr/>
          <p:nvPr/>
        </p:nvSpPr>
        <p:spPr>
          <a:xfrm>
            <a:off x="685800" y="1207008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-109"/>
          <p:cNvSpPr txBox="1"/>
          <p:nvPr/>
        </p:nvSpPr>
        <p:spPr>
          <a:xfrm>
            <a:off x="1115568" y="120700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หน้าจอ</a:t>
            </a:r>
            <a:endParaRPr lang="en-US" sz="1400" dirty="0"/>
          </a:p>
        </p:txBody>
      </p:sp>
      <p:sp>
        <p:nvSpPr>
          <p:cNvPr id="6" name="list-110"/>
          <p:cNvSpPr txBox="1"/>
          <p:nvPr/>
        </p:nvSpPr>
        <p:spPr>
          <a:xfrm>
            <a:off x="685800" y="169164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หน้าหลัก: UV ตอนนี้, UVA/UVB, เวลาผิวไหม้, กราฟรายชั่วโมง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ถ่ายท้องฟ้า: ชนิดฟ้า + สัดส่วนเมฆ (ประกอบ)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ตั้งค่า: เกณฑ์เตือน, จังหวัดถ้าไม่ให้ GPS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ข้อความในแอปเป็นภาษาไทยทั้งหมด</a:t>
            </a:r>
            <a:endParaRPr lang="en-US" sz="1100" dirty="0"/>
          </a:p>
        </p:txBody>
      </p:sp>
      <p:sp>
        <p:nvSpPr>
          <p:cNvPr id="7" name="card-111"/>
          <p:cNvSpPr/>
          <p:nvPr/>
        </p:nvSpPr>
        <p:spPr>
          <a:xfrm>
            <a:off x="3273552" y="1051560"/>
            <a:ext cx="2615184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dot-112"/>
          <p:cNvSpPr/>
          <p:nvPr/>
        </p:nvSpPr>
        <p:spPr>
          <a:xfrm>
            <a:off x="3502152" y="120700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-113"/>
          <p:cNvSpPr txBox="1"/>
          <p:nvPr/>
        </p:nvSpPr>
        <p:spPr>
          <a:xfrm>
            <a:off x="3931920" y="120700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แจ้งเตือนในเครื่อง</a:t>
            </a:r>
            <a:endParaRPr lang="en-US" sz="1400" dirty="0"/>
          </a:p>
        </p:txBody>
      </p:sp>
      <p:sp>
        <p:nvSpPr>
          <p:cNvPr id="10" name="list-114"/>
          <p:cNvSpPr txBox="1"/>
          <p:nvPr/>
        </p:nvSpPr>
        <p:spPr>
          <a:xfrm>
            <a:off x="3502152" y="169164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UV สูงตามพยากรณ์ และ "ปลอดภัยแล้ว"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สรุปเช้า 07:00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ปุ่ม "ออกแดด": เตือนก่อนผิวไหม้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เตือนทาครีมซ้ำทุก 2 ชม.</a:t>
            </a:r>
            <a:endParaRPr lang="en-US" sz="1100" dirty="0"/>
          </a:p>
        </p:txBody>
      </p:sp>
      <p:sp>
        <p:nvSpPr>
          <p:cNvPr id="11" name="card-115"/>
          <p:cNvSpPr/>
          <p:nvPr/>
        </p:nvSpPr>
        <p:spPr>
          <a:xfrm>
            <a:off x="6089904" y="1051560"/>
            <a:ext cx="2615184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dot-116"/>
          <p:cNvSpPr/>
          <p:nvPr/>
        </p:nvSpPr>
        <p:spPr>
          <a:xfrm>
            <a:off x="6318504" y="1207008"/>
            <a:ext cx="329184" cy="32918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-117"/>
          <p:cNvSpPr txBox="1"/>
          <p:nvPr/>
        </p:nvSpPr>
        <p:spPr>
          <a:xfrm>
            <a:off x="6748272" y="120700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Push จากเซิร์ฟเวอร์</a:t>
            </a:r>
            <a:endParaRPr lang="en-US" sz="1400" dirty="0"/>
          </a:p>
        </p:txBody>
      </p:sp>
      <p:sp>
        <p:nvSpPr>
          <p:cNvPr id="14" name="list-118"/>
          <p:cNvSpPr txBox="1"/>
          <p:nvPr/>
        </p:nvSpPr>
        <p:spPr>
          <a:xfrm>
            <a:off x="6318504" y="169164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APScheduler ทุก 30 นาที ผ่าน Expo Push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cooldown 3 ชม., เตือนที่ ≥ 8, "ปลอดภัย" ที่ &lt; 6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เงียบหลังพระอาทิตย์ตก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ต้องยินยอม ส่งแค่ชื่อจังหวัด</a:t>
            </a:r>
            <a:endParaRPr lang="en-US" sz="1100" dirty="0"/>
          </a:p>
        </p:txBody>
      </p:sp>
      <p:sp>
        <p:nvSpPr>
          <p:cNvPr id="15" name="card-119"/>
          <p:cNvSpPr/>
          <p:nvPr/>
        </p:nvSpPr>
        <p:spPr>
          <a:xfrm>
            <a:off x="457200" y="3730752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2700">
            <a:solidFill>
              <a:srgbClr val="FDF1E6"/>
            </a:solidFill>
            <a:prstDash val="solid"/>
          </a:ln>
        </p:spPr>
      </p:sp>
      <p:sp>
        <p:nvSpPr>
          <p:cNvPr id="16" name="text-120"/>
          <p:cNvSpPr txBox="1"/>
          <p:nvPr/>
        </p:nvSpPr>
        <p:spPr>
          <a:xfrm>
            <a:off x="685800" y="3776472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ใช้ได้แม้ไม่ให้สิทธิ์: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ไม่ให้ GPS ก็เลือกจังหวัดได้ · ไม่ให้แจ้งเตือนก็ยังดูค่าได้ · ทุกข้อความแจ้งเตือนมีคำว่า "ประมาณ"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5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ทดสอบภาคสนามบนมือถือจริง (4 ต.ค. 2026)</a:t>
            </a:r>
            <a:endParaRPr lang="en-US" sz="2600" dirty="0"/>
          </a:p>
        </p:txBody>
      </p:sp>
      <p:sp>
        <p:nvSpPr>
          <p:cNvPr id="3" name="dot-121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4" name="dotlabel-122"/>
          <p:cNvSpPr txBox="1"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text-123"/>
          <p:cNvSpPr txBox="1"/>
          <p:nvPr/>
        </p:nvSpPr>
        <p:spPr>
          <a:xfrm>
            <a:off x="1097280" y="111556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แจ้งเตือน</a:t>
            </a:r>
            <a:endParaRPr lang="en-US" sz="1400" dirty="0"/>
          </a:p>
        </p:txBody>
      </p:sp>
      <p:sp>
        <p:nvSpPr>
          <p:cNvPr id="6" name="text-124"/>
          <p:cNvSpPr txBox="1"/>
          <p:nvPr/>
        </p:nvSpPr>
        <p:spPr>
          <a:xfrm>
            <a:off x="2103120" y="1115568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 รายการที่ยืนยันเวลาได้ มาช้า 2–9 นาที (เฉลี่ย 5.7 นาที) · เตือนผิวไหม้รอบแรกไม่ได้รับ</a:t>
            </a:r>
            <a:endParaRPr lang="en-US" sz="1300" dirty="0"/>
          </a:p>
        </p:txBody>
      </p:sp>
      <p:sp>
        <p:nvSpPr>
          <p:cNvPr id="7" name="dot-125"/>
          <p:cNvSpPr/>
          <p:nvPr/>
        </p:nvSpPr>
        <p:spPr>
          <a:xfrm>
            <a:off x="457200" y="202996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8" name="dotlabel-126"/>
          <p:cNvSpPr txBox="1"/>
          <p:nvPr/>
        </p:nvSpPr>
        <p:spPr>
          <a:xfrm>
            <a:off x="45720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text-127"/>
          <p:cNvSpPr txBox="1"/>
          <p:nvPr/>
        </p:nvSpPr>
        <p:spPr>
          <a:xfrm>
            <a:off x="1097280" y="195681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สูตร</a:t>
            </a:r>
            <a:endParaRPr lang="en-US" sz="1400" dirty="0"/>
          </a:p>
        </p:txBody>
      </p:sp>
      <p:sp>
        <p:nvSpPr>
          <p:cNvPr id="10" name="text-128"/>
          <p:cNvSpPr txBox="1"/>
          <p:nvPr/>
        </p:nvSpPr>
        <p:spPr>
          <a:xfrm>
            <a:off x="2103120" y="195681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เวลาเตือนและ % ของ MED ตรงกับสูตร (ออกแดด 10:08 → เตือน 10:31 · 160 % เทียบ 162 %)</a:t>
            </a:r>
            <a:endParaRPr lang="en-US" sz="1300" dirty="0"/>
          </a:p>
        </p:txBody>
      </p:sp>
      <p:sp>
        <p:nvSpPr>
          <p:cNvPr id="11" name="dot-129"/>
          <p:cNvSpPr/>
          <p:nvPr/>
        </p:nvSpPr>
        <p:spPr>
          <a:xfrm>
            <a:off x="457200" y="2871216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2" name="dotlabel-130"/>
          <p:cNvSpPr txBox="1"/>
          <p:nvPr/>
        </p:nvSpPr>
        <p:spPr>
          <a:xfrm>
            <a:off x="457200" y="2871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-131"/>
          <p:cNvSpPr txBox="1"/>
          <p:nvPr/>
        </p:nvSpPr>
        <p:spPr>
          <a:xfrm>
            <a:off x="1097280" y="279806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บั๊ก 4 ตัว</a:t>
            </a:r>
            <a:endParaRPr lang="en-US" sz="1400" dirty="0"/>
          </a:p>
        </p:txBody>
      </p:sp>
      <p:sp>
        <p:nvSpPr>
          <p:cNvPr id="14" name="text-132"/>
          <p:cNvSpPr txBox="1"/>
          <p:nvPr/>
        </p:nvSpPr>
        <p:spPr>
          <a:xfrm>
            <a:off x="2103120" y="2798064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พบบนเครื่องจริงหลังเทสต์อัตโนมัติผ่านหมด แก้แล้วพร้อมเทสต์ (Jest 329 ข้อ)</a:t>
            </a:r>
            <a:endParaRPr lang="en-US" sz="1300" dirty="0"/>
          </a:p>
        </p:txBody>
      </p:sp>
      <p:sp>
        <p:nvSpPr>
          <p:cNvPr id="15" name="dot-133"/>
          <p:cNvSpPr/>
          <p:nvPr/>
        </p:nvSpPr>
        <p:spPr>
          <a:xfrm>
            <a:off x="457200" y="371246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dotlabel-134"/>
          <p:cNvSpPr txBox="1"/>
          <p:nvPr/>
        </p:nvSpPr>
        <p:spPr>
          <a:xfrm>
            <a:off x="457200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text-135"/>
          <p:cNvSpPr txBox="1"/>
          <p:nvPr/>
        </p:nvSpPr>
        <p:spPr>
          <a:xfrm>
            <a:off x="1097280" y="36393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กล้อง</a:t>
            </a:r>
            <a:endParaRPr lang="en-US" sz="1400" dirty="0"/>
          </a:p>
        </p:txBody>
      </p:sp>
      <p:sp>
        <p:nvSpPr>
          <p:cNvPr id="18" name="text-136"/>
          <p:cNvSpPr txBox="1"/>
          <p:nvPr/>
        </p:nvSpPr>
        <p:spPr>
          <a:xfrm>
            <a:off x="2103120" y="3639312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ภาพที่ส่งไม่มี EXIF · CNN ตอบ "เมฆบางสีขาว 100 %" ทั้ง 4 ภาพ ขณะฟ้าจริงเป็นเมฆบางส่วน</a:t>
            </a:r>
            <a:endParaRPr lang="en-US" sz="1300" dirty="0"/>
          </a:p>
        </p:txBody>
      </p:sp>
      <p:sp>
        <p:nvSpPr>
          <p:cNvPr id="19" name="text-13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Galaxy S23 Ultra (Android 16) · development build · ปทุมธานี วันเดียว · ยังไม่ได้ทดสอบ: push จริง (FCM), iOS, สรุป 07:00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5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ข้อจำกัด</a:t>
            </a:r>
            <a:endParaRPr lang="en-US" sz="2600" dirty="0"/>
          </a:p>
        </p:txBody>
      </p:sp>
      <p:sp>
        <p:nvSpPr>
          <p:cNvPr id="3" name="card-138"/>
          <p:cNvSpPr/>
          <p:nvPr/>
        </p:nvSpPr>
        <p:spPr>
          <a:xfrm>
            <a:off x="457200" y="105156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139"/>
          <p:cNvSpPr txBox="1"/>
          <p:nvPr/>
        </p:nvSpPr>
        <p:spPr>
          <a:xfrm>
            <a:off x="658368" y="117957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ไม่มีเครื่องวัด UV จริง</a:t>
            </a:r>
            <a:endParaRPr lang="en-US" sz="1300" dirty="0"/>
          </a:p>
        </p:txBody>
      </p:sp>
      <p:sp>
        <p:nvSpPr>
          <p:cNvPr id="5" name="text-140"/>
          <p:cNvSpPr txBox="1"/>
          <p:nvPr/>
        </p:nvSpPr>
        <p:spPr>
          <a:xfrm>
            <a:off x="658368" y="15270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Target และตัวตรวจเป็นข้อมูลดาวเทียม/แบบจำลองทั้งหมด</a:t>
            </a:r>
            <a:endParaRPr lang="en-US" sz="1100" dirty="0"/>
          </a:p>
        </p:txBody>
      </p:sp>
      <p:sp>
        <p:nvSpPr>
          <p:cNvPr id="6" name="card-141"/>
          <p:cNvSpPr/>
          <p:nvPr/>
        </p:nvSpPr>
        <p:spPr>
          <a:xfrm>
            <a:off x="4663440" y="105156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-142"/>
          <p:cNvSpPr txBox="1"/>
          <p:nvPr/>
        </p:nvSpPr>
        <p:spPr>
          <a:xfrm>
            <a:off x="4864608" y="117957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ค่าต่ำกว่าจริงวันฟ้าใส</a:t>
            </a:r>
            <a:endParaRPr lang="en-US" sz="1300" dirty="0"/>
          </a:p>
        </p:txBody>
      </p:sp>
      <p:sp>
        <p:nvSpPr>
          <p:cNvPr id="8" name="text-143"/>
          <p:cNvSpPr txBox="1"/>
          <p:nvPr/>
        </p:nvSpPr>
        <p:spPr>
          <a:xfrm>
            <a:off x="4864608" y="15270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−1.36 UVI เทียบ TEMIS (สืบทอดจาก NASA POWER −1.58)</a:t>
            </a:r>
            <a:endParaRPr lang="en-US" sz="1100" dirty="0"/>
          </a:p>
        </p:txBody>
      </p:sp>
      <p:sp>
        <p:nvSpPr>
          <p:cNvPr id="9" name="card-144"/>
          <p:cNvSpPr/>
          <p:nvPr/>
        </p:nvSpPr>
        <p:spPr>
          <a:xfrm>
            <a:off x="457200" y="2212848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145"/>
          <p:cNvSpPr txBox="1"/>
          <p:nvPr/>
        </p:nvSpPr>
        <p:spPr>
          <a:xfrm>
            <a:off x="658368" y="23408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ที่เดียว ปีเดียว</a:t>
            </a:r>
            <a:endParaRPr lang="en-US" sz="1300" dirty="0"/>
          </a:p>
        </p:txBody>
      </p:sp>
      <p:sp>
        <p:nvSpPr>
          <p:cNvPr id="11" name="text-146"/>
          <p:cNvSpPr txBox="1"/>
          <p:nvPr/>
        </p:nvSpPr>
        <p:spPr>
          <a:xfrm>
            <a:off x="658368" y="26883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ฝึกและทดสอบที่ปทุมธานี · ภาคสนามวันเดียว มือถือเครื่องเดียว</a:t>
            </a:r>
            <a:endParaRPr lang="en-US" sz="1100" dirty="0"/>
          </a:p>
        </p:txBody>
      </p:sp>
      <p:sp>
        <p:nvSpPr>
          <p:cNvPr id="12" name="card-147"/>
          <p:cNvSpPr/>
          <p:nvPr/>
        </p:nvSpPr>
        <p:spPr>
          <a:xfrm>
            <a:off x="4663440" y="2212848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-148"/>
          <p:cNvSpPr txBox="1"/>
          <p:nvPr/>
        </p:nvSpPr>
        <p:spPr>
          <a:xfrm>
            <a:off x="4864608" y="23408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ระดับรุนแรงมากมีน้อย</a:t>
            </a:r>
            <a:endParaRPr lang="en-US" sz="1300" dirty="0"/>
          </a:p>
        </p:txBody>
      </p:sp>
      <p:sp>
        <p:nvSpPr>
          <p:cNvPr id="14" name="text-149"/>
          <p:cNvSpPr txBox="1"/>
          <p:nvPr/>
        </p:nvSpPr>
        <p:spPr>
          <a:xfrm>
            <a:off x="4864608" y="26883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23 ชั่วโมงในปี 2025 · precision 0.17</a:t>
            </a:r>
            <a:endParaRPr lang="en-US" sz="1100" dirty="0"/>
          </a:p>
        </p:txBody>
      </p:sp>
      <p:sp>
        <p:nvSpPr>
          <p:cNvPr id="15" name="card-150"/>
          <p:cNvSpPr/>
          <p:nvPr/>
        </p:nvSpPr>
        <p:spPr>
          <a:xfrm>
            <a:off x="457200" y="3374136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-151"/>
          <p:cNvSpPr txBox="1"/>
          <p:nvPr/>
        </p:nvSpPr>
        <p:spPr>
          <a:xfrm>
            <a:off x="658368" y="350215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พยากรณ์จาก run แรก</a:t>
            </a:r>
            <a:endParaRPr lang="en-US" sz="1300" dirty="0"/>
          </a:p>
        </p:txBody>
      </p:sp>
      <p:sp>
        <p:nvSpPr>
          <p:cNvPr id="17" name="text-152"/>
          <p:cNvSpPr txBox="1"/>
          <p:nvPr/>
        </p:nvSpPr>
        <p:spPr>
          <a:xfrm>
            <a:off x="658368" y="38496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Historical Forecast API ไม่ใช่พยากรณ์ล่วงหน้า 24 ชม. จริง</a:t>
            </a:r>
            <a:endParaRPr lang="en-US" sz="1100" dirty="0"/>
          </a:p>
        </p:txBody>
      </p:sp>
      <p:sp>
        <p:nvSpPr>
          <p:cNvPr id="18" name="card-153"/>
          <p:cNvSpPr/>
          <p:nvPr/>
        </p:nvSpPr>
        <p:spPr>
          <a:xfrm>
            <a:off x="4663440" y="3374136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-154"/>
          <p:cNvSpPr txBox="1"/>
          <p:nvPr/>
        </p:nvSpPr>
        <p:spPr>
          <a:xfrm>
            <a:off x="4864608" y="350215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CNN กับภาพมือถือ</a:t>
            </a:r>
            <a:endParaRPr lang="en-US" sz="1300" dirty="0"/>
          </a:p>
        </p:txBody>
      </p:sp>
      <p:sp>
        <p:nvSpPr>
          <p:cNvPr id="20" name="text-155"/>
          <p:cNvSpPr txBox="1"/>
          <p:nvPr/>
        </p:nvSpPr>
        <p:spPr>
          <a:xfrm>
            <a:off x="4864608" y="38496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 จาก 4 ภาพจากมือถือได้ "เมฆบางสีขาว 100 %" ยังไม่ได้วัดผลกับภาพจากมือถือ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5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-156"/>
          <p:cNvSpPr/>
          <p:nvPr/>
        </p:nvSpPr>
        <p:spPr>
          <a:xfrm>
            <a:off x="7086600" y="502920"/>
            <a:ext cx="1371600" cy="13716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halo-157"/>
          <p:cNvSpPr/>
          <p:nvPr/>
        </p:nvSpPr>
        <p:spPr>
          <a:xfrm>
            <a:off x="6720840" y="137160"/>
            <a:ext cx="2103120" cy="210312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2700">
            <a:solidFill>
              <a:schemeClr val="accent1">
                <a:alpha val="20000"/>
              </a:schemeClr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สรุป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514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UVI MAE 0.479 บนปี 2025 ดีกว่า Open-Meteo ราว 2.6 เท่า เตือนชั่วโมง "สูงมาก" ได้ 98.6 % ด้วยสมาร์ทโฟนเครื่องเดียว</a:t>
            </a:r>
            <a:endParaRPr lang="en-US" sz="1800" dirty="0"/>
          </a:p>
        </p:txBody>
      </p:sp>
      <p:sp>
        <p:nvSpPr>
          <p:cNvPr id="6" name="text-158"/>
          <p:cNvSpPr txBox="1"/>
          <p:nvPr/>
        </p:nvSpPr>
        <p:spPr>
          <a:xfrm>
            <a:off x="548640" y="37947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งานต่อยอด: push จริงผ่าน FCM, iOS, ปรับเทียบ lux, เก็บภาพท้องฟ้าจากมือถือ, เทียบกับเครื่องวัด UV ภาคพื้น</a:t>
            </a:r>
            <a:endParaRPr lang="en-US" sz="1300" dirty="0"/>
          </a:p>
        </p:txBody>
      </p:sp>
      <p:sp>
        <p:nvSpPr>
          <p:cNvPr id="7" name="text-159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1"/>
                </a:solidFill>
              </a:rPr>
              <a:t>ค่าทั้งหมดเป็นค่าประมาณเพื่อการศึกษาและการเตือน ไม่ใช่การวินิจฉัยทางการแพทย์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ภาพจากมือถือจริง (4 ต.ค. 2026)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50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pic>
        <p:nvPicPr>
          <p:cNvPr id="26" name="shot-02" descr="หน้าหลัก 10:06: UVI 7.1 และแถบเตือนตามค่าบน (q90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456969" cy="2926080"/>
          </a:xfrm>
          <a:prstGeom prst="rect">
            <a:avLst/>
          </a:prstGeom>
        </p:spPr>
      </p:pic>
      <p:sp>
        <p:nvSpPr>
          <p:cNvPr id="19" name="text-137"/>
          <p:cNvSpPr txBox="1"/>
          <p:nvPr/>
        </p:nvSpPr>
        <p:spPr>
          <a:xfrm>
            <a:off x="347472" y="4023359"/>
            <a:ext cx="17312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หน้าหลัก 10:06: UVI 7.1 และแถบเตือนตามค่าบน (q90)</a:t>
            </a:r>
            <a:endParaRPr lang="en-US" sz="1050" dirty="0"/>
          </a:p>
        </p:txBody>
      </p:sp>
      <p:pic>
        <p:nvPicPr>
          <p:cNvPr id="27" name="shot-04" descr="การ์ด &quot;อยู่กลางแจ้ง&quot; 10:33 (ภาพก่อนแก้บั๊ก % ค้าง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8217" y="1051560"/>
            <a:ext cx="1456969" cy="2926080"/>
          </a:xfrm>
          <a:prstGeom prst="rect">
            <a:avLst/>
          </a:prstGeom>
        </p:spPr>
      </p:pic>
      <p:sp>
        <p:nvSpPr>
          <p:cNvPr id="19" name="text-137"/>
          <p:cNvSpPr txBox="1"/>
          <p:nvPr/>
        </p:nvSpPr>
        <p:spPr>
          <a:xfrm>
            <a:off x="2188489" y="4023359"/>
            <a:ext cx="17312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การ์ด "อยู่กลางแจ้ง" 10:33 (ภาพก่อนแก้บั๊ก % ค้าง)</a:t>
            </a:r>
            <a:endParaRPr lang="en-US" sz="1050" dirty="0"/>
          </a:p>
        </p:txBody>
      </p:sp>
      <p:pic>
        <p:nvPicPr>
          <p:cNvPr id="28" name="shot-06" descr="ถ่ายท้องฟ้า: ผลจาก CNN และป้ายมุมต่ำ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234" y="1051560"/>
            <a:ext cx="1456969" cy="2926080"/>
          </a:xfrm>
          <a:prstGeom prst="rect">
            <a:avLst/>
          </a:prstGeom>
        </p:spPr>
      </p:pic>
      <p:sp>
        <p:nvSpPr>
          <p:cNvPr id="19" name="text-137"/>
          <p:cNvSpPr txBox="1"/>
          <p:nvPr/>
        </p:nvSpPr>
        <p:spPr>
          <a:xfrm>
            <a:off x="4029506" y="4023359"/>
            <a:ext cx="17312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ถ่ายท้องฟ้า: ผลจาก CNN และป้ายมุมต่ำ</a:t>
            </a:r>
            <a:endParaRPr lang="en-US" sz="1050" dirty="0"/>
          </a:p>
        </p:txBody>
      </p:sp>
      <p:pic>
        <p:nvPicPr>
          <p:cNvPr id="29" name="shot-09" descr="แจ้งเตือนทาครีมซ้ำ 11:54 และใกล้ถึงเวลาผิวไหม้ 11:5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0251" y="1051560"/>
            <a:ext cx="2706548" cy="1375829"/>
          </a:xfrm>
          <a:prstGeom prst="rect">
            <a:avLst/>
          </a:prstGeom>
        </p:spPr>
      </p:pic>
      <p:sp>
        <p:nvSpPr>
          <p:cNvPr id="19" name="text-137"/>
          <p:cNvSpPr txBox="1"/>
          <p:nvPr/>
        </p:nvSpPr>
        <p:spPr>
          <a:xfrm>
            <a:off x="5888811" y="2454820"/>
            <a:ext cx="28894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แจ้งเตือน "ทาครีมซ้ำ" 11:54 และ "ใกล้ถึงเวลาผิวไหม้" 11:51</a:t>
            </a:r>
            <a:endParaRPr lang="en-US" sz="1050" dirty="0"/>
          </a:p>
        </p:txBody>
      </p:sp>
      <p:pic>
        <p:nvPicPr>
          <p:cNvPr id="30" name="shot-10" descr="แจ้งเตือน UV ลดลงแล้ว ตั้งแต่ 15:00 ได้รับ 15:0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0251" y="2976028"/>
            <a:ext cx="2706548" cy="620251"/>
          </a:xfrm>
          <a:prstGeom prst="rect">
            <a:avLst/>
          </a:prstGeom>
        </p:spPr>
      </p:pic>
      <p:sp>
        <p:nvSpPr>
          <p:cNvPr id="19" name="text-137"/>
          <p:cNvSpPr txBox="1"/>
          <p:nvPr/>
        </p:nvSpPr>
        <p:spPr>
          <a:xfrm>
            <a:off x="5888811" y="3623711"/>
            <a:ext cx="28894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แจ้งเตือน "UV ลดลงแล้ว ตั้งแต่ 15:00" ได้รับ 15:09 (ช้า 9 นาที)</a:t>
            </a:r>
            <a:endParaRPr lang="en-US" sz="1050" dirty="0"/>
          </a:p>
        </p:txBody>
      </p:sp>
      <p:sp>
        <p:nvSpPr>
          <p:cNvPr id="19" name="text-137"/>
          <p:cNvSpPr txBox="1"/>
          <p:nvPr/>
        </p:nvSpPr>
        <p:spPr>
          <a:xfrm>
            <a:off x="5888811" y="4163207"/>
            <a:ext cx="28894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ตัดแถบสถานะของมือถือออก · ปุ่มเฟืองสีเทาเป็นปุ่มเครื่องมือของ development build ไม่ใช่ส่วนของแอป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V Guard">
  <a:themeElements>
    <a:clrScheme name="UV Guard">
      <a:dk1>
        <a:srgbClr val="1B1F3B"/>
      </a:dk1>
      <a:lt1>
        <a:srgbClr val="FFFFFF"/>
      </a:lt1>
      <a:dk2>
        <a:srgbClr val="4A5070"/>
      </a:dk2>
      <a:lt2>
        <a:srgbClr val="F2F3F8"/>
      </a:lt2>
      <a:accent1>
        <a:srgbClr val="F28C28"/>
      </a:accent1>
      <a:accent2>
        <a:srgbClr val="3E9B4F"/>
      </a:accent2>
      <a:accent3>
        <a:srgbClr val="D9A400"/>
      </a:accent3>
      <a:accent4>
        <a:srgbClr val="E36B12"/>
      </a:accent4>
      <a:accent5>
        <a:srgbClr val="D22F3A"/>
      </a:accent5>
      <a:accent6>
        <a:srgbClr val="8A3FC2"/>
      </a:accent6>
      <a:hlink>
        <a:srgbClr val="2F6FD6"/>
      </a:hlink>
      <a:folHlink>
        <a:srgbClr val="8A3FC2"/>
      </a:folHlink>
    </a:clrScheme>
    <a:fontScheme name="UV Guard">
      <a:majorFont>
        <a:latin typeface="Leelawadee UI"/>
        <a:ea typeface=""/>
        <a:cs typeface="Leelawadee UI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Leelawadee UI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Leelawadee U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Leelawadee U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UV Guard</dc:title>
  <dc:subject>PptxGenJS Presentation</dc:subject>
  <dc:creator>Folktom04</dc:creator>
  <cp:lastModifiedBy>Folktom04</cp:lastModifiedBy>
  <cp:revision>1</cp:revision>
  <dcterms:created xsi:type="dcterms:W3CDTF">2026-10-02T20:39:13Z</dcterms:created>
  <dcterms:modified xsi:type="dcterms:W3CDTF">2026-10-02T20:39:13Z</dcterms:modified>
</cp:coreProperties>
</file>