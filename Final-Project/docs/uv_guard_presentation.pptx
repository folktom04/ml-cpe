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0" r:id="rId21"/>
    <p:sldId id="271" r:id="rId22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เปิด" id="{38f8460b-9764-218e-54a5-8a51ada4f7d8}">
          <p14:sldIdLst>
            <p14:sldId id="256"/>
          </p14:sldIdLst>
        </p14:section>
        <p14:section name="ที่มา" id="{f08058d8-8cc9-e015-6b54-a696f3dc2368}">
          <p14:sldIdLst>
            <p14:sldId id="257"/>
          </p14:sldIdLst>
        </p14:section>
        <p14:section name="ระบบ" id="{0bfeb75e-7887-3da7-cfb8-b70faf0e38c3}">
          <p14:sldIdLst>
            <p14:sldId id="258"/>
            <p14:sldId id="259"/>
          </p14:sldIdLst>
        </p14:section>
        <p14:section name="โมเดล" id="{d1eb9f59-40ec-0f96-7ee9-f8e699b17ccf}">
          <p14:sldIdLst>
            <p14:sldId id="260"/>
            <p14:sldId id="261"/>
          </p14:sldIdLst>
        </p14:section>
        <p14:section name="ผลทดสอบ" id="{46598f72-b759-9e62-3f26-677dc5542f47}">
          <p14:sldIdLst>
            <p14:sldId id="262"/>
            <p14:sldId id="263"/>
            <p14:sldId id="264"/>
          </p14:sldIdLst>
        </p14:section>
        <p14:section name="แอป" id="{67387d6a-a73d-cb85-388c-57eee4cf0591}">
          <p14:sldIdLst>
            <p14:sldId id="265"/>
            <p14:sldId id="266"/>
            <p14:sldId id="267"/>
          </p14:sldIdLst>
        </p14:section>
        <p14:section name="ปิด" id="{7b8bca9f-4a27-5659-aa7e-cf509a39688b}">
          <p14:sldIdLst>
            <p14:sldId id="268"/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5.xml"/><Relationship Id="rId15" Type="http://schemas.openxmlformats.org/officeDocument/2006/relationships/slide" Target="slides/slide16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Relationship Id="rId21" Type="http://schemas.openxmlformats.org/officeDocument/2006/relationships/slide" Target="slides/slide13.xml"/><Relationship Id="rId22" Type="http://schemas.openxmlformats.org/officeDocument/2006/relationships/slide" Target="slides/slide1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B1F3B"/>
                </a:solidFill>
                <a:latin typeface="+mn-lt"/>
              </a:defRPr>
            </a:pPr>
            <a:r>
              <a:rPr sz="1100" b="0" i="0" u="none" strike="noStrike">
                <a:solidFill>
                  <a:srgbClr val="1B1F3B"/>
                </a:solidFill>
                <a:latin typeface="+mn-lt"/>
              </a:rPr>
              <a:t>เลือก target: MAE เทียบ OMI ปี 2023 (UVI)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MAE vs OMI</c:v>
                </c:pt>
              </c:strCache>
            </c:strRef>
          </c:tx>
          <c:spPr>
            <a:solidFill>
              <a:srgbClr val="D22F3A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1F3B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D22F3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3E9B4F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Open-Meteo</c:v>
                  </c:pt>
                  <c:pt idx="1">
                    <c:v>NASA POWER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2.428</c:v>
                </c:pt>
                <c:pt idx="1">
                  <c:v>1.143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000" u="none">
                  <a:solidFill>
                    <a:srgbClr val="1B1F3B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507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"/>
          <c:min val="0"/>
        </c:scaling>
        <c:delete val="0"/>
        <c:axPos val="b"/>
        <c:majorGridlines>
          <c:spPr>
            <a:ln w="6350" cap="flat">
              <a:solidFill>
                <a:srgbClr val="E3E5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A507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B1F3B"/>
                </a:solidFill>
                <a:latin typeface="+mn-lt"/>
              </a:defRPr>
            </a:pPr>
            <a:r>
              <a:rPr sz="1100" b="0" i="0" u="none" strike="noStrike">
                <a:solidFill>
                  <a:srgbClr val="1B1F3B"/>
                </a:solidFill>
                <a:latin typeface="+mn-lt"/>
              </a:rPr>
              <a:t>UVI MAE (ต่ำ = ดี)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UVI MAE</c:v>
                </c:pt>
              </c:strCache>
            </c:strRef>
          </c:tx>
          <c:spPr>
            <a:solidFill>
              <a:srgbClr val="B8BCCB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1F3B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B8BCC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B8BCC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B8BCC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28C28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E36B12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Open-Meteo uv_index</c:v>
                  </c:pt>
                  <c:pt idx="1">
                    <c:v>CMF คงที่</c:v>
                  </c:pt>
                  <c:pt idx="2">
                    <c:v>Linear regression</c:v>
                  </c:pt>
                  <c:pt idx="3">
                    <c:v>XGBoost</c:v>
                  </c:pt>
                  <c:pt idx="4">
                    <c:v>XGBoost + Optuna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1.252</c:v>
                </c:pt>
                <c:pt idx="1">
                  <c:v>0.703</c:v>
                </c:pt>
                <c:pt idx="2">
                  <c:v>0.473</c:v>
                </c:pt>
                <c:pt idx="3">
                  <c:v>0.462</c:v>
                </c:pt>
                <c:pt idx="4">
                  <c:v>0.45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000" u="none">
                  <a:solidFill>
                    <a:srgbClr val="1B1F3B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507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4"/>
          <c:min val="0"/>
        </c:scaling>
        <c:delete val="0"/>
        <c:axPos val="b"/>
        <c:majorGridlines>
          <c:spPr>
            <a:ln w="6350" cap="flat">
              <a:solidFill>
                <a:srgbClr val="E3E5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A507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B1F3B"/>
                </a:solidFill>
                <a:latin typeface="+mn-lt"/>
              </a:defRPr>
            </a:pPr>
            <a:r>
              <a:rPr sz="1100" b="0" i="0" u="none" strike="noStrike">
                <a:solidFill>
                  <a:srgbClr val="1B1F3B"/>
                </a:solidFill>
                <a:latin typeface="+mn-lt"/>
              </a:rPr>
              <a:t>UVI MAE (ต่ำ = ดี)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Dev 2024</c:v>
                </c:pt>
              </c:strCache>
            </c:strRef>
          </c:tx>
          <c:spPr>
            <a:solidFill>
              <a:srgbClr val="4A5070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1F3B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XGBoost</c:v>
                  </c:pt>
                  <c:pt idx="1">
                    <c:v>LSTM</c:v>
                  </c:pt>
                  <c:pt idx="2">
                    <c:v>Open-Meteo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0.45</c:v>
                </c:pt>
                <c:pt idx="1">
                  <c:v>0.463</c:v>
                </c:pt>
                <c:pt idx="2">
                  <c:v>1.162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Test 2025</c:v>
                </c:pt>
              </c:strCache>
            </c:strRef>
          </c:tx>
          <c:spPr>
            <a:solidFill>
              <a:srgbClr val="F28C28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1F3B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XGBoost</c:v>
                  </c:pt>
                  <c:pt idx="1">
                    <c:v>LSTM</c:v>
                  </c:pt>
                  <c:pt idx="2">
                    <c:v>Open-Meteo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0.48</c:v>
                </c:pt>
                <c:pt idx="1">
                  <c:v>0.497</c:v>
                </c:pt>
                <c:pt idx="2">
                  <c:v>1.164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000" u="none">
                  <a:solidFill>
                    <a:srgbClr val="1B1F3B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507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4"/>
          <c:min val="0"/>
        </c:scaling>
        <c:delete val="0"/>
        <c:axPos val="l"/>
        <c:majorGridlines>
          <c:spPr>
            <a:ln w="6350" cap="flat">
              <a:solidFill>
                <a:srgbClr val="E3E5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A507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50" b="0" i="0" u="none" strike="noStrike">
                <a:solidFill>
                  <a:srgbClr val="1B1F3B"/>
                </a:solidFill>
                <a:latin typeface="+mn-lt"/>
              </a:defRPr>
            </a:pPr>
            <a:r>
              <a:rPr sz="1050" b="0" i="0" u="none" strike="noStrike">
                <a:solidFill>
                  <a:srgbClr val="1B1F3B"/>
                </a:solidFill>
                <a:latin typeface="+mn-lt"/>
              </a:rPr>
              <a:t>เวลาผิวไหม้เมื่อ UVI = 10 (นาที)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นาทีที่ UVI 10</c:v>
                </c:pt>
              </c:strCache>
            </c:strRef>
          </c:tx>
          <c:spPr>
            <a:solidFill>
              <a:srgbClr val="F28C28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1F3B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I</c:v>
                  </c:pt>
                  <c:pt idx="1">
                    <c:v>II</c:v>
                  </c:pt>
                  <c:pt idx="2">
                    <c:v>III</c:v>
                  </c:pt>
                  <c:pt idx="3">
                    <c:v>IV</c:v>
                  </c:pt>
                  <c:pt idx="4">
                    <c:v>V</c:v>
                  </c:pt>
                  <c:pt idx="5">
                    <c:v>VI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13.3</c:v>
                </c:pt>
                <c:pt idx="1">
                  <c:v>16.7</c:v>
                </c:pt>
                <c:pt idx="2">
                  <c:v>23.3</c:v>
                </c:pt>
                <c:pt idx="3">
                  <c:v>30</c:v>
                </c:pt>
                <c:pt idx="4">
                  <c:v>40</c:v>
                </c:pt>
                <c:pt idx="5">
                  <c:v>66.7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1000" u="none">
                  <a:solidFill>
                    <a:srgbClr val="1B1F3B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4A5070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4A5070"/>
                    </a:solidFill>
                    <a:latin typeface="Arial"/>
                  </a:rPr>
                  <a:t>ประเภทผิว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507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3E5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A507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[≈0:30]</a:t>
            </a:r>
          </a:p>
          <a:p>
            <a:r>
              <a:t>สวัสดีครับ ผมจักรพัทศ์ ยอดระยับ</a:t>
            </a:r>
          </a:p>
          <a:p>
            <a:r>
              <a:t>ขอเริ่มด้วยคำถามครับ เวลาเราออกไปข้างนอกตอนเที่ยง เรารู้ไหมว่ายืนกลางแดดได้กี่นาทีก่อนผิวจะเริ่มไหม้ ส่วนใหญ่ไม่มีใครรู้</a:t>
            </a:r>
          </a:p>
          <a:p>
            <a:r>
              <a:t>UV Guard ทำขึ้นมาเพื่อตอบคำถามนี้ (ชี้ 3 ขั้นด้านล่าง) ขั้นแรกคือประเมิน UV ตรงจุดที่เรายืน ขั้นที่สองคือคิดว่าผิวของเราไหม้ได้ในกี่นาที ขั้นสุดท้ายคือเตือนผ่านมือถือก่อนผิวจะไหม้ครับ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[≈1:15]</a:t>
            </a:r>
          </a:p>
          <a:p>
            <a:r>
              <a:t>ปัญหามี 3 ข้อครับ (ชี้ทีละตัวเลขด้านล่าง)</a:t>
            </a:r>
          </a:p>
          <a:p>
            <a:r>
              <a:t>ข้อแรก UV ที่นี่สูงมาก ค่า UV Index หรือ UVI บอกความแรงของแดด เกิน 11 ถือว่ารุนแรงมาก เที่ยงวันฟ้าใสที่ปทุมธานีขึ้นไปถึง 12–13 อยู่ปลายสุดของแถบสี</a:t>
            </a:r>
          </a:p>
          <a:p>
            <a:r>
              <a:t>ข้อสอง ค่าจากแอปทั่วไปไม่แม่น ค่า UV ของ Open-Meteo ซึ่งเป็น API ฟรีที่หลายแอปใช้ ผิดเฉลี่ย 2.43 หน่วยเมื่อเทียบกับดาวเทียม OMI ของ NASA ระดับ "สูง" กว้างแค่ 2 หน่วย ความผิดเท่านี้จึงทำให้ระดับเตือนเปลี่ยนได้ทั้งขั้น</a:t>
            </a:r>
          </a:p>
          <a:p>
            <a:r>
              <a:t>ข้อสาม คนแต่ละคนไหม้ไม่เท่ากัน ที่ UVI 10 คนผิวขาวมากไหม้ในประมาณ 13 นาที คนผิวคล้ำมากใช้ประมาณ 67 นาที ต่างกันประมาณ 5 เท่า การเตือนแบบเดียวกันทุกคนจึงไม่พอ</a:t>
            </a:r>
          </a:p>
          <a:p>
            <a:r>
              <a:t>เป้าหมายจึงเป็นตามกล่องขวา คือประเมิน UV ให้แม่นขึ้น บอกด้วยว่ามั่นใจแค่ไหน แปลงเป็นเวลาไหม้ของแต่ละคน และเตือนผ่านมือถือเครื่องเดียว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[≈1:15] หน้าสำคัญที่สุด พูดช้า ๆ</a:t>
            </a:r>
          </a:p>
          <a:p>
            <a:r>
              <a:t>หลักการของระบบคือสมการด้านล่างครับ UV จริง = UV ตอนฟ้าใส × CMF</a:t>
            </a:r>
          </a:p>
          <a:p>
            <a:r>
              <a:t>ลองนึกถึงหลอดไฟที่มีม่านบัง</a:t>
            </a:r>
          </a:p>
          <a:p>
            <a:r>
              <a:t>- หลอดไฟคือดวงอาทิตย์ ถ้าไม่มีอะไรบัง แสงจะแรงแค่ไหน คำนวณได้จากฟิสิกส์ล้วน ๆ ไม่ต้องเดา</a:t>
            </a:r>
          </a:p>
          <a:p>
            <a:r>
              <a:t>- ม่านคือเมฆกับฝุ่น ส่วนนี้ฟิสิกส์คำนวณตรง ๆ ไม่ได้ ผมให้ Machine Learning ทายค่าที่เรียกว่า CMF มีค่า 0 ถึง 1 ถ้า CMF เท่ากับ 0.7 แปลว่าเมฆบังแสงไป 30 %</a:t>
            </a:r>
          </a:p>
          <a:p>
            <a:r>
              <a:t>ตัวอย่างบนสไลด์: ฟ้าใสได้ 10 คูณ 0.7 ได้ UV จริงประมาณ 7</a:t>
            </a:r>
          </a:p>
          <a:p>
            <a:r>
              <a:t>ข้อดีคือ ML ไม่ต้องเรียนเรื่องที่ฟิสิกส์รู้อยู่แล้ว เช่น UV ขึ้นตอนเช้าลงตอนเย็น ML เรียนแค่ส่วนที่ยาก</a:t>
            </a:r>
          </a:p>
          <a:p>
            <a:r>
              <a:t>(ชี้แถวบน) ข้อมูลไหลจากซ้ายไปขวา: อินพุต → ฟิสิกส์ฟ้าใส → XGBoost ทาย CMF → คิดช่วงความไม่แน่นอน → แปลงเป็นความเสี่ยงของแต่ละคน → ส่งไปที่แอป</a:t>
            </a:r>
          </a:p>
          <a:p>
            <a:r>
              <a:t>ส่วนการถ่ายภาพท้องฟ้าเป็นฟีเจอร์เสริม แสดงประกอบอย่างเดียว ไม่เปลี่ยนค่า UV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[≈1:15]</a:t>
            </a:r>
          </a:p>
          <a:p>
            <a:r>
              <a:t>การสอน ML ต้องมีโจทย์และเฉลยครับ (ชี้ 3 กล่องบน)</a:t>
            </a:r>
          </a:p>
          <a:p>
            <a:r>
              <a:t>- โจทย์ มี 23 อย่าง เช่น ปริมาณเมฆ ความชื้น ฝุ่น และมุมดวงอาทิตย์ เลือกเฉพาะข้อมูลที่ตอนใช้งานจริงหาได้ทันที</a:t>
            </a:r>
          </a:p>
          <a:p>
            <a:r>
              <a:t>- เฉลย คือค่า UV รายชั่วโมงจาก NASA POWER</a:t>
            </a:r>
          </a:p>
          <a:p>
            <a:r>
              <a:t>(ชี้แถบสีแดง) กฎที่เข้มงวดคือห้ามเอาข้อมูลของ NASA ไปเป็นโจทย์ เพราะเหมือนให้นักเรียนเห็นเฉลยตอนสอบ คะแนนจะดีแต่ใช้จริงไม่ได้ เรียกว่า data leakage</a:t>
            </a:r>
          </a:p>
          <a:p>
            <a:r>
              <a:t>(ชี้ 3 ปี) ข้อมูลแบ่งตามปีเหมือนการเรียน: ปี 2023 เป็นการบ้านให้โมเดลเรียน, ปี 2024 เป็นสอบย่อยใช้เลือกโมเดล, ปี 2025 เป็นสอบจริง เปิดได้ครั้งเดียว ห้ามกลับไปแก้</a:t>
            </a:r>
          </a:p>
          <a:p>
            <a:r>
              <a:t>(ชี้กราฟขวา) แม้แต่การเลือกแหล่งเฉลย ผมก็ตั้งกติกาไว้ก่อนดูผลว่า NASA ต้องแม่นกว่าคู่แข่งเกิน 0.3 ผลจริงแม่นกว่า 1.29 จึงเลือก NASA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[≈0:45]</a:t>
            </a:r>
          </a:p>
          <a:p>
            <a:r>
              <a:t>โมเดลหลักคือ XGBoost อธิบายง่าย ๆ คือต้นไม้ตัดสินใจหลายร้อยต้นทำงานต่อกัน ต้นใหม่แต่ละต้นแก้จุดที่ต้นก่อนหน้าทายผิด</a:t>
            </a:r>
          </a:p>
          <a:p>
            <a:r>
              <a:t>ตัวเลขที่ผมใช้วัดตลอดการนำเสนอคือ MAE แปลว่าทายผิดเฉลี่ยกี่หน่วย ยิ่งน้อยยิ่งดี (ชี้กราฟ) XGBoost ที่ปรับแล้วผิด 0.450 น้อยที่สุด ส่วน Open-Meteo ผิด 1.252</a:t>
            </a:r>
          </a:p>
          <a:p>
            <a:r>
              <a:t>ทดสอบหลายรอบได้เฉลี่ย 0.493 คือผิดไม่ถึงครึ่งหน่วย UV และผ่านการตรวจข้อมูลรั่วครบ 5 ข้อ</a:t>
            </a:r>
          </a:p>
          <a:p>
            <a:r>
              <a:t>(ชี้ภาพล่างขวา) โมเดลตัวเดียวทาย 3 ค่าพร้อมกัน คือ UVI, UVA และ UVB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[≈1:00]</a:t>
            </a:r>
          </a:p>
          <a:p>
            <a:r>
              <a:t>การบอกค่าเดียว เช่น "UV เท่ากับ 8" ไม่บอกว่าเรามั่นใจแค่ไหน ผมจึงบอกเป็นช่วง แบบเดียวกับพยากรณ์อากาศที่บอกว่า "30–34 องศา"</a:t>
            </a:r>
          </a:p>
          <a:p>
            <a:r>
              <a:t>(ชี้กราฟซ้าย) แถบฟ้าคือช่วงที่โมเดลบอก จุดส้มคือค่าจริง</a:t>
            </a:r>
          </a:p>
          <a:p>
            <a:r>
              <a:t>(ชี้แถบขวาบน) เป้าคือค่าจริงต้องตกในช่วงประมาณ 80 % ของเวลา ตอนแรกช่วงแคบไป ค่าจริงตกในช่วงแค่ 58 % เหมือนคนมั่นใจเกินจริง ผมปรับด้วยวิธี CQR ซึ่งปรับความกว้างของช่วงจากข้อผิดพลาดที่เกิดขึ้นจริง หลังปรับได้ 84 % เข้าแถบเขียวที่เป็นเป้า</a:t>
            </a:r>
          </a:p>
          <a:p>
            <a:r>
              <a:t>(ชี้ภาพช่วง) ตอนเตือน ใช้ค่าบนของช่วงเสมอ เหมือนเผื่อเวลาเดินทาง ยอมเตือนเกินบ้าง แต่พลาดน้อย ผลคือชั่วโมงที่ UV สูงมากจริง ระบบเตือนทัน 98.9 %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[≈1:15] ผลหลัก เน้นหน้านี้</a:t>
            </a:r>
          </a:p>
          <a:p>
            <a:r>
              <a:t>ข้อมูลปี 2025 ผมตั้งเกณฑ์ผ่านไว้ 15 ข้อก่อนเปิด และเปิดดูครั้งเดียว</a:t>
            </a:r>
          </a:p>
          <a:p>
            <a:r>
              <a:t>- ทายผิดเฉลี่ย 0.479 ไม่ถึงครึ่งหน่วย ระดับเตือนแต่ละขั้นกว้าง 2–3 หน่วย ความผิดเท่านี้จึงแทบไม่ทำให้ระดับเตือนเปลี่ยน ในการวัดแบบเดียวกัน Open-Meteo ผิด 1.24 โมเดลแม่นกว่าประมาณ 2.6 เท่า</a:t>
            </a:r>
          </a:p>
          <a:p>
            <a:r>
              <a:t>- R² 0.934 แปลว่าโมเดลอธิบายการขึ้นลงของ UV ได้ประมาณ 93 %</a:t>
            </a:r>
          </a:p>
          <a:p>
            <a:r>
              <a:t>- (ชี้แถบขวา) ตอนเที่ยงเทียบกับดาวเทียม OMI ซึ่งโมเดลไม่เคยเห็น โมเดลผิด 1.32 ส่วน Open-Meteo ผิด 2.36</a:t>
            </a:r>
          </a:p>
          <a:p>
            <a:r>
              <a:t>- ในชั่วโมงที่อันตรายจริง ระบบเตือนทัน 98.6 % (เรียกว่า recall)</a:t>
            </a:r>
          </a:p>
          <a:p>
            <a:r>
              <a:t>(ชี้จุด 15 จุด) ผ่าน 14 จาก 15 ข้อ จุดแดงคือข้อที่ไม่ผ่าน คือรูปแบบของ UVA/UVB ยังสอดคล้องกับดาวเทียมไม่ถึงเกณฑ์ ผมรายงานตามจริง และไม่ได้ย้อนไปแก้เกณฑ์หลังเห็นผล</a:t>
            </a:r>
          </a:p>
          <a:p>
            <a:r>
              <a:t>(กราฟล่าง) จุดยิ่งใกล้เส้นทแยงยิ่งแม่น ภาพกลางของ Open-Meteo กระจายมากกว่า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[≈0:45]</a:t>
            </a:r>
          </a:p>
          <a:p>
            <a:r>
              <a:t>สำหรับการพยากรณ์ล่วงหน้า 6–24 ชั่วโมง ผมลอง LSTM ด้วย LSTM เป็นโมเดล deep learning ที่จำลำดับเหตุการณ์ได้ ฟังดูน่าจะเหมาะกว่า</a:t>
            </a:r>
          </a:p>
          <a:p>
            <a:r>
              <a:t>(ชี้เส้นตัวเลขขวา) กติกาตั้งไว้ก่อนว่า LSTM ต้องแม่นกว่า XGBoost เกิน 0.02 XGBoost ผิด 0.450 LSTM จึงต้องผิดต่ำกว่า 0.430 คือเข้าโซนเขียวให้ได้ แต่ LSTM ผิด 0.463 ไม่ผ่าน</a:t>
            </a:r>
          </a:p>
          <a:p>
            <a:r>
              <a:t>บทเรียนคือโมเดลที่ซับซ้อนกว่าไม่ได้แม่นกว่าเสมอ แอปจึงใช้ XGBoost ตัวเดียวทั้งค่าปัจจุบันและค่าพยากรณ์ ระบบก็เรียบง่ายขึ้น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[≈0:45]</a:t>
            </a:r>
          </a:p>
          <a:p>
            <a:r>
              <a:t>ฟีเจอร์ถ่ายภาพท้องฟ้าใช้ CNN ซึ่งเป็นโมเดลที่เรียนรู้จากภาพ</a:t>
            </a:r>
          </a:p>
          <a:p>
            <a:r>
              <a:t>- แยกชนิดท้องฟ้า 6 แบบ เช่น ฟ้าใส เมฆหนา ถูก 97.5 %</a:t>
            </a:r>
          </a:p>
          <a:p>
            <a:r>
              <a:t>- บอกสัดส่วนเมฆในภาพผิดเฉลี่ย 8 % ดีกว่าวิธีเดิมที่ดูสีแดงกับสีน้ำเงิน</a:t>
            </a:r>
          </a:p>
          <a:p>
            <a:r>
              <a:t>- แยกเมฆ 11 สกุลถูกแค่ 48.6 % ไม่ผ่านเกณฑ์ จึงไม่แสดงในแอป</a:t>
            </a:r>
          </a:p>
          <a:p>
            <a:r>
              <a:t>(ชี้แถวล่าง) ข้อควรระวัง โมเดลเรียนจากภาพในชุดข้อมูลสาธารณะ ซึ่งต่างจากภาพที่ถ่ายด้วยมือถือ ผลกับภาพมือถือจึงยังไม่ได้วัด และใช้แสดงประกอบเท่านั้น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[≈1:00]</a:t>
            </a:r>
          </a:p>
          <a:p>
            <a:r>
              <a:t>ส่วนนี้แปลงตัวเลข UV ให้เป็นคำเตือนที่คนทั่วไปเข้าใจ</a:t>
            </a:r>
          </a:p>
          <a:p>
            <a:r>
              <a:t>(ชี้กล่องสี) แบ่งเป็น 5 ระดับตาม WHO ตั้งแต่ต่ำถึงรุนแรงมาก</a:t>
            </a:r>
          </a:p>
          <a:p>
            <a:r>
              <a:t>(ชี้สูตร) เวลาก่อนผิวไหม้ใช้ค่า MED คือปริมาณ UV ที่ทำให้ผิวเริ่มแดง ผิวขาวมี MED ต่ำเพราะไหม้ง่าย ผิวคล้ำมี MED สูง</a:t>
            </a:r>
          </a:p>
          <a:p>
            <a:r>
              <a:t>(ชี้ตัวอย่าง) ผิวประเภท III แบบคนไทยทั่วไป MED เท่ากับ 350 ที่ UVI 10 ผิวได้รับ UV ประมาณ 15 หน่วยต่อนาที 350 หาร 15 ประมาณ 23 นาทีก็จะเริ่มไหม้</a:t>
            </a:r>
          </a:p>
          <a:p>
            <a:r>
              <a:t>(ชี้กราฟขวา) ที่ UVI เท่ากัน ผิว I ไหม้ใน 13 นาที ผิว VI ใน 67 นาที</a:t>
            </a:r>
          </a:p>
          <a:p>
            <a:r>
              <a:t>ผู้ใช้รู้ประเภทผิวจากแบบสอบถาม 5 ข้อในแอป และระบบใช้ค่าบน q90 เสมอเพื่อไม่ให้เตือนช้า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[≈0:50]</a:t>
            </a:r>
          </a:p>
          <a:p>
            <a:r>
              <a:t>แอปมี 3 ส่วนหลักครับ</a:t>
            </a:r>
          </a:p>
          <a:p>
            <a:r>
              <a:t>1. หน้าจอ: หน้าหลักแสดง UV ตอนนี้ เวลาก่อนผิวไหม้ และกราฟทั้งวัน มีหน้าถ่ายท้องฟ้าและหน้าตั้งค่า</a:t>
            </a:r>
          </a:p>
          <a:p>
            <a:r>
              <a:t>2. แจ้งเตือนในเครื่อง: เช่น กดปุ่ม "ออกแดด" แล้วแอปจะเตือนก่อนถึงเวลาผิวไหม้ และเตือนทาครีมซ้ำทุก 2 ชั่วโมง</a:t>
            </a:r>
          </a:p>
          <a:p>
            <a:r>
              <a:t>3. Push จากเซิร์ฟเวอร์: ตรวจทุก 30 นาที ถ้า UV สูงจะส่งแจ้งเตือน และมีระยะพัก 3 ชั่วโมงกันเตือนซ้ำจนน่ารำคาญ</a:t>
            </a:r>
          </a:p>
          <a:p>
            <a:r>
              <a:t>(ชี้แถบล่าง) แอปใช้ได้แม้ผู้ใช้ไม่ให้สิทธิ์ ไม่ให้ GPS ก็เลือกจังหวัดเองได้ ไม่ให้แจ้งเตือนก็ยังเปิดดูค่าได้ และเซิร์ฟเวอร์รู้แค่ชื่อจังหวัด ไม่รู้ตำแหน่งจริง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[≈0:50]</a:t>
            </a:r>
          </a:p>
          <a:p>
            <a:r>
              <a:t>วันที่ 4 ตุลาคม ผมใช้แอปจริงทั้งวันบน Samsung Galaxy S23 Ultra (ชี้ไทม์ไลน์ขวา)</a:t>
            </a:r>
          </a:p>
          <a:p>
            <a:r>
              <a:t>- สูตรถูกต้อง: กดออกแดดตอน 10:08 แอปเตือนตอน 10:31 ตรงกับที่คำนวณ</a:t>
            </a:r>
          </a:p>
          <a:p>
            <a:r>
              <a:t>- แจ้งเตือนมาช้า 2–9 นาที เพราะระบบประหยัดแบตเตอรี่ของ Android หน่วงไว้ เช่น "UV ลดลงแล้ว" ตั้งไว้ 15:00 มาถึง 15:09</a:t>
            </a:r>
          </a:p>
          <a:p>
            <a:r>
              <a:t>- เจอบั๊ก 4 ตัวทั้งที่เทสต์อัตโนมัติผ่านครบ เช่น ล็อกจอแล้วตัวเลขค้าง แก้ครบแล้วและเพิ่มเทสต์กันไว้ บทเรียนคือต้องทดสอบบนเครื่องจริงเสมอ</a:t>
            </a:r>
          </a:p>
          <a:p>
            <a:r>
              <a:t>- กล้อง: CNN ตอบ "เมฆบางสีขาว 100 %" ทั้ง 4 ภาพ ทั้งที่ฟ้าจริงมีเมฆบางส่วน ยืนยันว่าภาพมือถือต่างจากภาพที่โมเดลเคยเรียน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[≈0:50]</a:t>
            </a:r>
          </a:p>
          <a:p>
            <a:r>
              <a:t>ระบบยังมีข้อจำกัดที่ผมอยากบอกตรง ๆ ครับ</a:t>
            </a:r>
          </a:p>
          <a:p>
            <a:r>
              <a:t>1. ไม่มีเครื่องวัด UV จริง เฉลยทั้งหมดมาจากดาวเทียมและแบบจำลอง</a:t>
            </a:r>
          </a:p>
          <a:p>
            <a:r>
              <a:t>2. วันฟ้าใส ค่าที่ได้ต่ำกว่าจริงประมาณ 1.4 หน่วย เพราะเฉลยของ NASA เองก็ต่ำกว่าจริง โมเดลจึงเรียนตามมา</a:t>
            </a:r>
          </a:p>
          <a:p>
            <a:r>
              <a:t>3. ข้อมูลมาจากปทุมธานีที่เดียว ที่อื่นยังไม่ได้ทดสอบ</a:t>
            </a:r>
          </a:p>
          <a:p>
            <a:r>
              <a:t>4. ชั่วโมงที่ UV รุนแรงมากมีแค่ 23 ชั่วโมงในปี 2025 ตัวเลขส่วนนี้จึงยังไม่แน่นอน</a:t>
            </a:r>
          </a:p>
          <a:p>
            <a:r>
              <a:t>5. ข้อมูลฝึกการพยากรณ์ไม่ใช่การพยากรณ์ล่วงหน้า 24 ชั่วโมงจริง</a:t>
            </a:r>
          </a:p>
          <a:p>
            <a:r>
              <a:t>6. CNN ยังไม่ได้วัดผลกับภาพจากมือถือ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[≈0:40]</a:t>
            </a:r>
          </a:p>
          <a:p>
            <a:r>
              <a:t>สรุปครับ UV Guard ประเมิน UV ผิดเฉลี่ยไม่ถึงครึ่งหน่วย แม่นกว่า API ทั่วไปประมาณ 2.6 เท่า เตือนชั่วโมงอันตรายได้ทัน 98.6 % และบอกเวลาก่อนผิวไหม้ของแต่ละคน โดยใช้มือถือเครื่องเดียว</a:t>
            </a:r>
          </a:p>
          <a:p>
            <a:r>
              <a:t>สิ่งที่ผมได้เรียนรู้มากที่สุดคือการตั้งเกณฑ์ไว้ก่อนดูผล ทำให้รายงานได้ตรงไปตรงมาทั้งส่วนที่ผ่านและไม่ผ่าน</a:t>
            </a:r>
          </a:p>
          <a:p>
            <a:r>
              <a:t>งานต่อไปคือทดสอบแจ้งเตือนจากเซิร์ฟเวอร์บนเครื่องจริง รองรับ iOS และเทียบกับเครื่องวัด UV จริง</a:t>
            </a:r>
          </a:p>
          <a:p>
            <a:r>
              <a:t>ค่าทั้งหมดเป็นค่าประมาณเพื่อการศึกษาและการเตือน ไม่ใช่การวินิจฉัยทางการแพทย์ ขอบคุณครับ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[≈0:30]</a:t>
            </a:r>
          </a:p>
          <a:p>
            <a:r>
              <a:t>นี่คือหน้าจอจริงจากวันนั้นครับ</a:t>
            </a:r>
          </a:p>
          <a:p>
            <a:r>
              <a:t>- หน้าหลักตอน 10 โมงแสดง UV 7.1 พร้อมช่วง และแถบเตือนตามค่าบน</a:t>
            </a:r>
          </a:p>
          <a:p>
            <a:r>
              <a:t>- การ์ด "อยู่กลางแจ้ง" ภาพนี้ถ่ายก่อนแก้บั๊กตัวเลขค้าง</a:t>
            </a:r>
          </a:p>
          <a:p>
            <a:r>
              <a:t>- หน้าถ่ายท้องฟ้าแสดงผลจาก CNN แบบประกอบ</a:t>
            </a:r>
          </a:p>
          <a:p>
            <a:r>
              <a:t>- ขวาคือแจ้งเตือนที่ได้รับจริง ทั้ง "ทาครีมซ้ำ" "ใกล้ถึงเวลาผิวไหม้" และ "UV ลดลงแล้ว" ที่มาช้า 9 นาที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[≈1:30]</a:t>
            </a:r>
          </a:p>
          <a:p>
            <a:r>
              <a:t>จุดอ่อนของระบบคือเรื่องเมฆ ข้อมูลเมฆจากพยากรณ์อากาศค่อนข้างหยาบ ผมจึงลองใช้ข้อมูลจากดาวเทียม Himawari-9 ของญี่ปุ่น ซึ่งถ่ายภาพทุก 10 นาที ละเอียดถึง 5 กิโลเมตร</a:t>
            </a:r>
          </a:p>
          <a:p>
            <a:r>
              <a:t>ผมตั้งเกณฑ์ไว้ก่อนเหมือนเดิมว่าต้องแม่นขึ้นเกิน 0.02 (ชี้เส้นประส้ม) และต้องมั่นใจว่าไม่ได้ดีขึ้นเพราะบังเอิญ</a:t>
            </a:r>
          </a:p>
          <a:p>
            <a:r>
              <a:t>(ชี้กราฟขวา) จุดคือค่าที่ดีขึ้น เส้นคือช่วงความเชื่อมั่น</a:t>
            </a:r>
          </a:p>
          <a:p>
            <a:r>
              <a:t>- สอบย่อยปี 2024: ดีขึ้น 0.040 ทั้งเส้นอยู่ขวาของเกณฑ์ ผ่าน จึงไปต่อ</a:t>
            </a:r>
          </a:p>
          <a:p>
            <a:r>
              <a:t>- สอบจริง ข้อมูลใหม่ครึ่งแรกปี 2026: ดีขึ้นแค่ 0.007 และเส้นคร่อม 0 แปลว่าบอกไม่ได้ว่าดีขึ้นจริงหรือแค่บังเอิญ</a:t>
            </a:r>
          </a:p>
          <a:p>
            <a:r>
              <a:t>ผมจึงไม่ใส่เข้าแอปทั้งที่ทำเสร็จแล้ว เพราะถ้าเปลี่ยนเกณฑ์หลังเห็นผล การตั้งเกณฑ์ไว้ก่อนก็ไม่มีความหมาย</a:t>
            </a:r>
          </a:p>
          <a:p>
            <a:r>
              <a:t>ข่าวดีคือโมเดลหลักที่ใช้อยู่ ทายข้อมูลปี 2026 ผิดแค่ 0.470 ใกล้กับปี 2025 แปลว่าโมเดลไม่ได้แม่นเฉพาะปีเดียว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804672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514600"/>
            <a:ext cx="804672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UV Guard · ML-CPE RMUTT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A50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A50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Relationship Id="rId4" Type="http://schemas.openxmlformats.org/officeDocument/2006/relationships/image" Target="../media/image9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Relationship Id="rId9" Type="http://schemas.openxmlformats.org/officeDocument/2006/relationships/image" Target="../media/image15.png"/><Relationship Id="rId10" Type="http://schemas.openxmlformats.org/officeDocument/2006/relationships/image" Target="../media/image1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Relationship Id="rId4" Type="http://schemas.openxmlformats.org/officeDocument/2006/relationships/image" Target="../media/image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Relationship Id="rId4" Type="http://schemas.openxmlformats.org/officeDocument/2006/relationships/image" Target="../media/image1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chart" Target="../charts/chart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Relationship Id="rId4" Type="http://schemas.openxmlformats.org/officeDocument/2006/relationships/image" Target="../media/image17.png"/><Relationship Id="rId5" Type="http://schemas.openxmlformats.org/officeDocument/2006/relationships/image" Target="../media/image1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Relationship Id="rId4" Type="http://schemas.openxmlformats.org/officeDocument/2006/relationships/image" Target="../media/image19.png"/><Relationship Id="rId5" Type="http://schemas.openxmlformats.org/officeDocument/2006/relationships/image" Target="../media/image18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chart" Target="../charts/chart4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2.png"/><Relationship Id="rId4" Type="http://schemas.openxmlformats.org/officeDocument/2006/relationships/image" Target="../media/image8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Relationship Id="rId7" Type="http://schemas.openxmlformats.org/officeDocument/2006/relationships/image" Target="../media/image25.png"/><Relationship Id="rId8" Type="http://schemas.openxmlformats.org/officeDocument/2006/relationships/image" Target="../media/image2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5.jpg"/><Relationship Id="rId7" Type="http://schemas.openxmlformats.org/officeDocument/2006/relationships/notesSlide" Target="../notesSlides/notesSlide15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image" Target="../media/image29.png"/><Relationship Id="rId6" Type="http://schemas.openxmlformats.org/officeDocument/2006/relationships/image" Target="../media/image21.png"/><Relationship Id="rId7" Type="http://schemas.openxmlformats.org/officeDocument/2006/relationships/image" Target="../media/image30.png"/><Relationship Id="rId8" Type="http://schemas.openxmlformats.org/officeDocument/2006/relationships/image" Target="../media/image3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t-1"/>
          <p:cNvSpPr/>
          <p:nvPr/>
        </p:nvSpPr>
        <p:spPr>
          <a:xfrm>
            <a:off x="7086600" y="502920"/>
            <a:ext cx="1371600" cy="13716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halo-2"/>
          <p:cNvSpPr/>
          <p:nvPr/>
        </p:nvSpPr>
        <p:spPr>
          <a:xfrm>
            <a:off x="6720840" y="137160"/>
            <a:ext cx="2103120" cy="2103120"/>
          </a:xfrm>
          <a:prstGeom prst="ellipse">
            <a:avLst/>
          </a:prstGeom>
          <a:solidFill>
            <a:schemeClr val="accent1">
              <a:alpha val="20000"/>
            </a:schemeClr>
          </a:solidFill>
          <a:ln w="12700">
            <a:solidFill>
              <a:schemeClr val="accent1">
                <a:alpha val="20000"/>
              </a:schemeClr>
            </a:solidFill>
            <a:prstDash val="solid"/>
          </a:ln>
        </p:spPr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141732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UV Guard</a:t>
            </a:r>
            <a:endParaRPr lang="en-US" sz="44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548640" y="251460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ประเมินรังสี UV ณ ตำแหน่งผู้ใช้ด้วย Machine Learning แปลงเป็นความเสี่ยงต่อผิว และเตือนผ่านแอปมือถือ</a:t>
            </a:r>
            <a:endParaRPr lang="en-US" sz="1800" dirty="0"/>
          </a:p>
        </p:txBody>
      </p:sp>
      <p:sp>
        <p:nvSpPr>
          <p:cNvPr id="6" name="text-3"/>
          <p:cNvSpPr txBox="1"/>
          <p:nvPr/>
        </p:nvSpPr>
        <p:spPr>
          <a:xfrm>
            <a:off x="548640" y="42976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โปรเจกต์ 30 วัน · วิศวกรรมคอมพิวเตอร์ มทร.ธัญบุรี (RMUTT) · ตุลาคม 2569</a:t>
            </a:r>
            <a:endParaRPr lang="en-US" sz="1200" dirty="0"/>
          </a:p>
        </p:txBody>
      </p:sp>
      <p:sp>
        <p:nvSpPr>
          <p:cNvPr id="7" name="Rounded Rectangle 6"/>
          <p:cNvSpPr/>
          <p:nvPr/>
        </p:nvSpPr>
        <p:spPr>
          <a:xfrm>
            <a:off x="548640" y="3337560"/>
            <a:ext cx="2240280" cy="548640"/>
          </a:xfrm>
          <a:prstGeom prst="roundRect">
            <a:avLst>
              <a:gd name="adj" fmla="val 50000"/>
            </a:avLst>
          </a:prstGeom>
          <a:solidFill>
            <a:srgbClr val="2C31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21792" y="3383280"/>
            <a:ext cx="457200" cy="45720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un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19" y="3493008"/>
            <a:ext cx="237744" cy="23774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170432" y="3337560"/>
            <a:ext cx="1572768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FFFFFF"/>
                </a:solidFill>
              </a:rPr>
              <a:t>ประเมิน UV ตรงจุด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834640" y="3611880"/>
            <a:ext cx="182880" cy="0"/>
          </a:xfrm>
          <a:prstGeom prst="line">
            <a:avLst/>
          </a:prstGeom>
          <a:ln w="25400">
            <a:solidFill>
              <a:srgbClr val="F28C2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063240" y="3337560"/>
            <a:ext cx="2240280" cy="548640"/>
          </a:xfrm>
          <a:prstGeom prst="roundRect">
            <a:avLst>
              <a:gd name="adj" fmla="val 50000"/>
            </a:avLst>
          </a:prstGeom>
          <a:solidFill>
            <a:srgbClr val="2C31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136392" y="3383280"/>
            <a:ext cx="457200" cy="45720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user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46120" y="3493008"/>
            <a:ext cx="237744" cy="23774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685032" y="3337560"/>
            <a:ext cx="1572768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FFFFFF"/>
                </a:solidFill>
              </a:rPr>
              <a:t>คิดความเสี่ยงตามผิวคุณ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349240" y="3611880"/>
            <a:ext cx="182880" cy="0"/>
          </a:xfrm>
          <a:prstGeom prst="line">
            <a:avLst/>
          </a:prstGeom>
          <a:ln w="25400">
            <a:solidFill>
              <a:srgbClr val="F28C2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577840" y="3337560"/>
            <a:ext cx="2240280" cy="548640"/>
          </a:xfrm>
          <a:prstGeom prst="roundRect">
            <a:avLst>
              <a:gd name="adj" fmla="val 50000"/>
            </a:avLst>
          </a:prstGeom>
          <a:solidFill>
            <a:srgbClr val="2C31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650992" y="3383280"/>
            <a:ext cx="457200" cy="45720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bell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0720" y="3493008"/>
            <a:ext cx="237744" cy="23774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199631" y="3337560"/>
            <a:ext cx="1572768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FFFFFF"/>
                </a:solidFill>
              </a:rPr>
              <a:t>เตือนก่อนผิวไหม้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ทำไมต้องเตือน UV เฉพาะบุคคล</a:t>
            </a:r>
            <a:endParaRPr lang="en-US" sz="2600" dirty="0"/>
          </a:p>
        </p:txBody>
      </p:sp>
      <p:sp>
        <p:nvSpPr>
          <p:cNvPr id="3" name="card-4"/>
          <p:cNvSpPr/>
          <p:nvPr/>
        </p:nvSpPr>
        <p:spPr>
          <a:xfrm>
            <a:off x="457200" y="1051560"/>
            <a:ext cx="3931920" cy="1874519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-5"/>
          <p:cNvSpPr txBox="1"/>
          <p:nvPr/>
        </p:nvSpPr>
        <p:spPr>
          <a:xfrm>
            <a:off x="685800" y="11887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ปัญหา</a:t>
            </a:r>
            <a:endParaRPr lang="en-US" sz="1600" dirty="0"/>
          </a:p>
        </p:txBody>
      </p:sp>
      <p:sp>
        <p:nvSpPr>
          <p:cNvPr id="5" name="list-6"/>
          <p:cNvSpPr txBox="1"/>
          <p:nvPr/>
        </p:nvSpPr>
        <p:spPr>
          <a:xfrm>
            <a:off x="685800" y="1645920"/>
            <a:ext cx="3520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เที่ยงวันฟ้าใสที่ปทุมธานี UV ถึงระดับ "รุนแรงมาก"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uv_index ของ API ทั่วไป (Open-Meteo) ต่ำกว่าจริงมาก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ผิวแต่ละประเภทไหม้เร็วต่างกันหลายเท่า</a:t>
            </a:r>
            <a:endParaRPr lang="en-US" sz="1250" dirty="0"/>
          </a:p>
        </p:txBody>
      </p:sp>
      <p:sp>
        <p:nvSpPr>
          <p:cNvPr id="6" name="card-7"/>
          <p:cNvSpPr/>
          <p:nvPr/>
        </p:nvSpPr>
        <p:spPr>
          <a:xfrm>
            <a:off x="4754880" y="1051560"/>
            <a:ext cx="3931920" cy="1874519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-8"/>
          <p:cNvSpPr txBox="1"/>
          <p:nvPr/>
        </p:nvSpPr>
        <p:spPr>
          <a:xfrm>
            <a:off x="4983480" y="11887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เป้าหมาย</a:t>
            </a:r>
            <a:endParaRPr lang="en-US" sz="1600" dirty="0"/>
          </a:p>
        </p:txBody>
      </p:sp>
      <p:sp>
        <p:nvSpPr>
          <p:cNvPr id="8" name="list-9"/>
          <p:cNvSpPr txBox="1"/>
          <p:nvPr/>
        </p:nvSpPr>
        <p:spPr>
          <a:xfrm>
            <a:off x="4983480" y="1645920"/>
            <a:ext cx="3520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ประเมิน UVI, UVA, UVB รายชั่วโมง พร้อมช่วงความไม่แน่นอน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แปลงเป็นระดับ WHO และเวลาผิวไหม้ตามผิว I–VI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เตือนผ่านแอป ใช้สมาร์ทโฟนเครื่องเดียว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A50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457200" y="3063240"/>
            <a:ext cx="26517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8A3FC2"/>
                </a:solidFill>
              </a:rPr>
              <a:t>12–13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3474720"/>
            <a:ext cx="2651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4A5070"/>
                </a:solidFill>
              </a:rPr>
              <a:t>UVI เที่ยงวันฟ้าใส (TEMIS, ปี 2025)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4041648"/>
            <a:ext cx="530352" cy="182880"/>
          </a:xfrm>
          <a:prstGeom prst="rect">
            <a:avLst/>
          </a:prstGeom>
          <a:solidFill>
            <a:srgbClr val="3E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005840" y="4041648"/>
            <a:ext cx="530352" cy="182880"/>
          </a:xfrm>
          <a:prstGeom prst="rect">
            <a:avLst/>
          </a:prstGeom>
          <a:solidFill>
            <a:srgbClr val="D9A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554480" y="4041648"/>
            <a:ext cx="347471" cy="182880"/>
          </a:xfrm>
          <a:prstGeom prst="rect">
            <a:avLst/>
          </a:prstGeom>
          <a:solidFill>
            <a:srgbClr val="E36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920239" y="4041648"/>
            <a:ext cx="530352" cy="182880"/>
          </a:xfrm>
          <a:prstGeom prst="rect">
            <a:avLst/>
          </a:prstGeom>
          <a:solidFill>
            <a:srgbClr val="D22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468879" y="4041648"/>
            <a:ext cx="530352" cy="182880"/>
          </a:xfrm>
          <a:prstGeom prst="rect">
            <a:avLst/>
          </a:prstGeom>
          <a:solidFill>
            <a:srgbClr val="8A3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4261104"/>
            <a:ext cx="274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4A5070"/>
                </a:solidFill>
              </a:rPr>
              <a:t>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" y="4261104"/>
            <a:ext cx="274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4A5070"/>
                </a:solidFill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54480" y="4261104"/>
            <a:ext cx="274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4A5070"/>
                </a:solidFill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20239" y="4261104"/>
            <a:ext cx="274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4A5070"/>
                </a:solidFill>
              </a:rPr>
              <a:t>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468879" y="4261104"/>
            <a:ext cx="274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4A5070"/>
                </a:solidFill>
              </a:rPr>
              <a:t>11</a:t>
            </a:r>
          </a:p>
        </p:txBody>
      </p:sp>
      <p:sp>
        <p:nvSpPr>
          <p:cNvPr id="38" name="Merge 37"/>
          <p:cNvSpPr/>
          <p:nvPr/>
        </p:nvSpPr>
        <p:spPr>
          <a:xfrm>
            <a:off x="2651760" y="3840480"/>
            <a:ext cx="182880" cy="155448"/>
          </a:xfrm>
          <a:prstGeom prst="flowChartMerge">
            <a:avLst/>
          </a:prstGeom>
          <a:solidFill>
            <a:srgbClr val="8A3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371600" y="381304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8A3FC2"/>
                </a:solidFill>
              </a:rPr>
              <a:t>เที่ยงวันฟ้าใส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246120" y="3063240"/>
            <a:ext cx="26517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D22F3A"/>
                </a:solidFill>
              </a:rPr>
              <a:t>2.43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46120" y="3474720"/>
            <a:ext cx="2651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4A5070"/>
                </a:solidFill>
              </a:rPr>
              <a:t>Open-Meteo ผิดเฉลี่ย เทียบดาวเทียม OMI (2023)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246120" y="3785615"/>
            <a:ext cx="1280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4A5070"/>
                </a:solidFill>
              </a:rPr>
              <a:t>1 ระดับ ("สูง" 6–7)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0" y="3813048"/>
            <a:ext cx="822960" cy="146304"/>
          </a:xfrm>
          <a:prstGeom prst="rect">
            <a:avLst/>
          </a:prstGeom>
          <a:solidFill>
            <a:srgbClr val="B8BC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440680" y="3776472"/>
            <a:ext cx="365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4A5070"/>
                </a:solidFill>
              </a:rPr>
              <a:t>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246120" y="4059936"/>
            <a:ext cx="1280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D22F3A"/>
                </a:solidFill>
              </a:rPr>
              <a:t>ความผิดเฉลี่ย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0" y="4087368"/>
            <a:ext cx="999896" cy="146304"/>
          </a:xfrm>
          <a:prstGeom prst="rect">
            <a:avLst/>
          </a:prstGeom>
          <a:solidFill>
            <a:srgbClr val="D22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617616" y="4050791"/>
            <a:ext cx="365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D22F3A"/>
                </a:solidFill>
              </a:rPr>
              <a:t>2.43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246120" y="4297680"/>
            <a:ext cx="2651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4A5070"/>
                </a:solidFill>
              </a:rPr>
              <a:t>ผิดมากกว่าความกว้างของ 1 ระดับเตือน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035040" y="3063240"/>
            <a:ext cx="26517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28C28"/>
                </a:solidFill>
              </a:rPr>
              <a:t>13–67 นาที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035040" y="3474720"/>
            <a:ext cx="2651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4A5070"/>
                </a:solidFill>
              </a:rPr>
              <a:t>เวลาผิวไหม้ที่ UVI 10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35040" y="3785615"/>
            <a:ext cx="548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4A5070"/>
                </a:solidFill>
              </a:rPr>
              <a:t>ผิว I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583679" y="3813048"/>
            <a:ext cx="337099" cy="146304"/>
          </a:xfrm>
          <a:prstGeom prst="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966499" y="3776472"/>
            <a:ext cx="731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E36B12"/>
                </a:solidFill>
              </a:rPr>
              <a:t>13 นาที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035040" y="4059936"/>
            <a:ext cx="548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4A5070"/>
                </a:solidFill>
              </a:rPr>
              <a:t>ผิว VI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583679" y="4087368"/>
            <a:ext cx="1737360" cy="146304"/>
          </a:xfrm>
          <a:prstGeom prst="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366760" y="4050791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E36B12"/>
                </a:solidFill>
              </a:rPr>
              <a:t>67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035040" y="4297680"/>
            <a:ext cx="2651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4A5070"/>
                </a:solidFill>
              </a:rPr>
              <a:t>ต่างกันประมาณ 5 เท่า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ภาพรวมระบบ</a:t>
            </a:r>
            <a:endParaRPr lang="en-US" sz="2600" dirty="0"/>
          </a:p>
        </p:txBody>
      </p:sp>
      <p:sp>
        <p:nvSpPr>
          <p:cNvPr id="3" name="card-16"/>
          <p:cNvSpPr/>
          <p:nvPr/>
        </p:nvSpPr>
        <p:spPr>
          <a:xfrm>
            <a:off x="457200" y="1051560"/>
            <a:ext cx="1298448" cy="1965960"/>
          </a:xfrm>
          <a:prstGeom prst="roundRect">
            <a:avLst>
              <a:gd name="adj" fmla="val 563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dot-17"/>
          <p:cNvSpPr/>
          <p:nvPr/>
        </p:nvSpPr>
        <p:spPr>
          <a:xfrm>
            <a:off x="877824" y="1234440"/>
            <a:ext cx="457200" cy="457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dotlabel-18"/>
          <p:cNvSpPr txBox="1"/>
          <p:nvPr/>
        </p:nvSpPr>
        <p:spPr>
          <a:xfrm>
            <a:off x="877824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6" name="text-19"/>
          <p:cNvSpPr txBox="1"/>
          <p:nvPr/>
        </p:nvSpPr>
        <p:spPr>
          <a:xfrm>
            <a:off x="530352" y="1801368"/>
            <a:ext cx="1152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อินพุต</a:t>
            </a:r>
            <a:endParaRPr lang="en-US" sz="1300" dirty="0"/>
          </a:p>
        </p:txBody>
      </p:sp>
      <p:sp>
        <p:nvSpPr>
          <p:cNvPr id="7" name="text-20"/>
          <p:cNvSpPr txBox="1"/>
          <p:nvPr/>
        </p:nvSpPr>
        <p:spPr>
          <a:xfrm>
            <a:off x="530352" y="2194560"/>
            <a:ext cx="11521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GPS, เวลา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สภาพอากาศ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ฝุ่น/AOD</a:t>
            </a:r>
            <a:endParaRPr lang="en-US" sz="1000" dirty="0"/>
          </a:p>
        </p:txBody>
      </p:sp>
      <p:sp>
        <p:nvSpPr>
          <p:cNvPr id="8" name="card-21"/>
          <p:cNvSpPr/>
          <p:nvPr/>
        </p:nvSpPr>
        <p:spPr>
          <a:xfrm>
            <a:off x="1843430" y="1051560"/>
            <a:ext cx="1298448" cy="1965960"/>
          </a:xfrm>
          <a:prstGeom prst="roundRect">
            <a:avLst>
              <a:gd name="adj" fmla="val 563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dot-22"/>
          <p:cNvSpPr/>
          <p:nvPr/>
        </p:nvSpPr>
        <p:spPr>
          <a:xfrm>
            <a:off x="2264054" y="1234440"/>
            <a:ext cx="457200" cy="457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0" name="dotlabel-23"/>
          <p:cNvSpPr txBox="1"/>
          <p:nvPr/>
        </p:nvSpPr>
        <p:spPr>
          <a:xfrm>
            <a:off x="2264054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1" name="text-24"/>
          <p:cNvSpPr txBox="1"/>
          <p:nvPr/>
        </p:nvSpPr>
        <p:spPr>
          <a:xfrm>
            <a:off x="1916582" y="1801368"/>
            <a:ext cx="1152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ฟิสิกส์ฟ้าใส</a:t>
            </a:r>
            <a:endParaRPr lang="en-US" sz="1300" dirty="0"/>
          </a:p>
        </p:txBody>
      </p:sp>
      <p:sp>
        <p:nvSpPr>
          <p:cNvPr id="12" name="text-25"/>
          <p:cNvSpPr txBox="1"/>
          <p:nvPr/>
        </p:nvSpPr>
        <p:spPr>
          <a:xfrm>
            <a:off x="1916582" y="2194560"/>
            <a:ext cx="11521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UVI: Madronich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UVA/UVB: SPECTRL2</a:t>
            </a:r>
            <a:endParaRPr lang="en-US" sz="1000" dirty="0"/>
          </a:p>
        </p:txBody>
      </p:sp>
      <p:sp>
        <p:nvSpPr>
          <p:cNvPr id="13" name="card-26"/>
          <p:cNvSpPr/>
          <p:nvPr/>
        </p:nvSpPr>
        <p:spPr>
          <a:xfrm>
            <a:off x="3229661" y="1051560"/>
            <a:ext cx="1298448" cy="1965960"/>
          </a:xfrm>
          <a:prstGeom prst="roundRect">
            <a:avLst>
              <a:gd name="adj" fmla="val 563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dot-27"/>
          <p:cNvSpPr/>
          <p:nvPr/>
        </p:nvSpPr>
        <p:spPr>
          <a:xfrm>
            <a:off x="3650285" y="12344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dotlabel-28"/>
          <p:cNvSpPr txBox="1"/>
          <p:nvPr/>
        </p:nvSpPr>
        <p:spPr>
          <a:xfrm>
            <a:off x="3650285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16" name="text-29"/>
          <p:cNvSpPr txBox="1"/>
          <p:nvPr/>
        </p:nvSpPr>
        <p:spPr>
          <a:xfrm>
            <a:off x="3302813" y="1801368"/>
            <a:ext cx="1152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XGBoost</a:t>
            </a:r>
            <a:endParaRPr lang="en-US" sz="1300" dirty="0"/>
          </a:p>
        </p:txBody>
      </p:sp>
      <p:sp>
        <p:nvSpPr>
          <p:cNvPr id="17" name="text-30"/>
          <p:cNvSpPr txBox="1"/>
          <p:nvPr/>
        </p:nvSpPr>
        <p:spPr>
          <a:xfrm>
            <a:off x="3302813" y="2194560"/>
            <a:ext cx="11521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ทาย CMF (0–1)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ผลของเมฆ + ฝุ่น</a:t>
            </a:r>
            <a:endParaRPr lang="en-US" sz="1000" dirty="0"/>
          </a:p>
        </p:txBody>
      </p:sp>
      <p:sp>
        <p:nvSpPr>
          <p:cNvPr id="18" name="card-31"/>
          <p:cNvSpPr/>
          <p:nvPr/>
        </p:nvSpPr>
        <p:spPr>
          <a:xfrm>
            <a:off x="4615891" y="1051560"/>
            <a:ext cx="1298448" cy="1965960"/>
          </a:xfrm>
          <a:prstGeom prst="roundRect">
            <a:avLst>
              <a:gd name="adj" fmla="val 563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dot-32"/>
          <p:cNvSpPr/>
          <p:nvPr/>
        </p:nvSpPr>
        <p:spPr>
          <a:xfrm>
            <a:off x="5036515" y="1234440"/>
            <a:ext cx="457200" cy="457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0" name="dotlabel-33"/>
          <p:cNvSpPr txBox="1"/>
          <p:nvPr/>
        </p:nvSpPr>
        <p:spPr>
          <a:xfrm>
            <a:off x="5036515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4</a:t>
            </a:r>
            <a:endParaRPr lang="en-US" sz="1200" dirty="0"/>
          </a:p>
        </p:txBody>
      </p:sp>
      <p:sp>
        <p:nvSpPr>
          <p:cNvPr id="21" name="text-34"/>
          <p:cNvSpPr txBox="1"/>
          <p:nvPr/>
        </p:nvSpPr>
        <p:spPr>
          <a:xfrm>
            <a:off x="4689043" y="1801368"/>
            <a:ext cx="1152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ช่วง q10–q90</a:t>
            </a:r>
            <a:endParaRPr lang="en-US" sz="1300" dirty="0"/>
          </a:p>
        </p:txBody>
      </p:sp>
      <p:sp>
        <p:nvSpPr>
          <p:cNvPr id="22" name="text-35"/>
          <p:cNvSpPr txBox="1"/>
          <p:nvPr/>
        </p:nvSpPr>
        <p:spPr>
          <a:xfrm>
            <a:off x="4689043" y="2194560"/>
            <a:ext cx="11521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Quantile XGBoost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+ CQR</a:t>
            </a:r>
            <a:endParaRPr lang="en-US" sz="1000" dirty="0"/>
          </a:p>
        </p:txBody>
      </p:sp>
      <p:sp>
        <p:nvSpPr>
          <p:cNvPr id="23" name="card-36"/>
          <p:cNvSpPr/>
          <p:nvPr/>
        </p:nvSpPr>
        <p:spPr>
          <a:xfrm>
            <a:off x="6002122" y="1051560"/>
            <a:ext cx="1298448" cy="1965960"/>
          </a:xfrm>
          <a:prstGeom prst="roundRect">
            <a:avLst>
              <a:gd name="adj" fmla="val 563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dot-37"/>
          <p:cNvSpPr/>
          <p:nvPr/>
        </p:nvSpPr>
        <p:spPr>
          <a:xfrm>
            <a:off x="6422746" y="1234440"/>
            <a:ext cx="457200" cy="457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5" name="dotlabel-38"/>
          <p:cNvSpPr txBox="1"/>
          <p:nvPr/>
        </p:nvSpPr>
        <p:spPr>
          <a:xfrm>
            <a:off x="6422746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5</a:t>
            </a:r>
            <a:endParaRPr lang="en-US" sz="1200" dirty="0"/>
          </a:p>
        </p:txBody>
      </p:sp>
      <p:sp>
        <p:nvSpPr>
          <p:cNvPr id="26" name="text-39"/>
          <p:cNvSpPr txBox="1"/>
          <p:nvPr/>
        </p:nvSpPr>
        <p:spPr>
          <a:xfrm>
            <a:off x="6075274" y="1801368"/>
            <a:ext cx="1152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Risk Engine</a:t>
            </a:r>
            <a:endParaRPr lang="en-US" sz="1300" dirty="0"/>
          </a:p>
        </p:txBody>
      </p:sp>
      <p:sp>
        <p:nvSpPr>
          <p:cNvPr id="27" name="text-40"/>
          <p:cNvSpPr txBox="1"/>
          <p:nvPr/>
        </p:nvSpPr>
        <p:spPr>
          <a:xfrm>
            <a:off x="6075274" y="2194560"/>
            <a:ext cx="11521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ระดับ WHO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เวลาผิวไหม้ (q90)</a:t>
            </a:r>
            <a:endParaRPr lang="en-US" sz="1000" dirty="0"/>
          </a:p>
        </p:txBody>
      </p:sp>
      <p:sp>
        <p:nvSpPr>
          <p:cNvPr id="28" name="card-41"/>
          <p:cNvSpPr/>
          <p:nvPr/>
        </p:nvSpPr>
        <p:spPr>
          <a:xfrm>
            <a:off x="7388352" y="1051560"/>
            <a:ext cx="1298448" cy="1965960"/>
          </a:xfrm>
          <a:prstGeom prst="roundRect">
            <a:avLst>
              <a:gd name="adj" fmla="val 563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dot-42"/>
          <p:cNvSpPr/>
          <p:nvPr/>
        </p:nvSpPr>
        <p:spPr>
          <a:xfrm>
            <a:off x="7808976" y="1234440"/>
            <a:ext cx="457200" cy="457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0" name="dotlabel-43"/>
          <p:cNvSpPr txBox="1"/>
          <p:nvPr/>
        </p:nvSpPr>
        <p:spPr>
          <a:xfrm>
            <a:off x="7808976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6</a:t>
            </a:r>
            <a:endParaRPr lang="en-US" sz="1200" dirty="0"/>
          </a:p>
        </p:txBody>
      </p:sp>
      <p:sp>
        <p:nvSpPr>
          <p:cNvPr id="31" name="text-44"/>
          <p:cNvSpPr txBox="1"/>
          <p:nvPr/>
        </p:nvSpPr>
        <p:spPr>
          <a:xfrm>
            <a:off x="7461504" y="1801368"/>
            <a:ext cx="1152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แอป + แจ้งเตือน</a:t>
            </a:r>
            <a:endParaRPr lang="en-US" sz="1300" dirty="0"/>
          </a:p>
        </p:txBody>
      </p:sp>
      <p:sp>
        <p:nvSpPr>
          <p:cNvPr id="32" name="text-45"/>
          <p:cNvSpPr txBox="1"/>
          <p:nvPr/>
        </p:nvSpPr>
        <p:spPr>
          <a:xfrm>
            <a:off x="7461504" y="2194560"/>
            <a:ext cx="11521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FastAPI → Expo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local + push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A50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  <p:sp>
        <p:nvSpPr>
          <p:cNvPr id="33" name="Oval 32"/>
          <p:cNvSpPr/>
          <p:nvPr/>
        </p:nvSpPr>
        <p:spPr>
          <a:xfrm>
            <a:off x="1700784" y="1362456"/>
            <a:ext cx="201168" cy="201168"/>
          </a:xfrm>
          <a:prstGeom prst="ellipse">
            <a:avLst/>
          </a:prstGeom>
          <a:solidFill>
            <a:srgbClr val="FFFFFF"/>
          </a:solidFill>
          <a:ln w="9525">
            <a:solidFill>
              <a:srgbClr val="B8B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Chevron 33"/>
          <p:cNvSpPr/>
          <p:nvPr/>
        </p:nvSpPr>
        <p:spPr>
          <a:xfrm>
            <a:off x="1764792" y="1412748"/>
            <a:ext cx="82296" cy="100584"/>
          </a:xfrm>
          <a:prstGeom prst="chevron">
            <a:avLst/>
          </a:prstGeom>
          <a:solidFill>
            <a:srgbClr val="4A5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3086100" y="1362456"/>
            <a:ext cx="201168" cy="201168"/>
          </a:xfrm>
          <a:prstGeom prst="ellipse">
            <a:avLst/>
          </a:prstGeom>
          <a:solidFill>
            <a:srgbClr val="FFFFFF"/>
          </a:solidFill>
          <a:ln w="9525">
            <a:solidFill>
              <a:srgbClr val="B8B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Chevron 35"/>
          <p:cNvSpPr/>
          <p:nvPr/>
        </p:nvSpPr>
        <p:spPr>
          <a:xfrm>
            <a:off x="3150108" y="1412748"/>
            <a:ext cx="82296" cy="100584"/>
          </a:xfrm>
          <a:prstGeom prst="chevron">
            <a:avLst/>
          </a:prstGeom>
          <a:solidFill>
            <a:srgbClr val="4A5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4471416" y="1362456"/>
            <a:ext cx="201168" cy="201168"/>
          </a:xfrm>
          <a:prstGeom prst="ellipse">
            <a:avLst/>
          </a:prstGeom>
          <a:solidFill>
            <a:srgbClr val="FFFFFF"/>
          </a:solidFill>
          <a:ln w="9525">
            <a:solidFill>
              <a:srgbClr val="B8B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Chevron 37"/>
          <p:cNvSpPr/>
          <p:nvPr/>
        </p:nvSpPr>
        <p:spPr>
          <a:xfrm>
            <a:off x="4535424" y="1412748"/>
            <a:ext cx="82296" cy="100584"/>
          </a:xfrm>
          <a:prstGeom prst="chevron">
            <a:avLst/>
          </a:prstGeom>
          <a:solidFill>
            <a:srgbClr val="4A5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856731" y="1362456"/>
            <a:ext cx="201168" cy="201168"/>
          </a:xfrm>
          <a:prstGeom prst="ellipse">
            <a:avLst/>
          </a:prstGeom>
          <a:solidFill>
            <a:srgbClr val="FFFFFF"/>
          </a:solidFill>
          <a:ln w="9525">
            <a:solidFill>
              <a:srgbClr val="B8B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Chevron 39"/>
          <p:cNvSpPr/>
          <p:nvPr/>
        </p:nvSpPr>
        <p:spPr>
          <a:xfrm>
            <a:off x="5920740" y="1412748"/>
            <a:ext cx="82296" cy="100584"/>
          </a:xfrm>
          <a:prstGeom prst="chevron">
            <a:avLst/>
          </a:prstGeom>
          <a:solidFill>
            <a:srgbClr val="4A5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7242047" y="1362456"/>
            <a:ext cx="201168" cy="201168"/>
          </a:xfrm>
          <a:prstGeom prst="ellipse">
            <a:avLst/>
          </a:prstGeom>
          <a:solidFill>
            <a:srgbClr val="FFFFFF"/>
          </a:solidFill>
          <a:ln w="9525">
            <a:solidFill>
              <a:srgbClr val="B8B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Chevron 41"/>
          <p:cNvSpPr/>
          <p:nvPr/>
        </p:nvSpPr>
        <p:spPr>
          <a:xfrm>
            <a:off x="7306055" y="1412748"/>
            <a:ext cx="82296" cy="100584"/>
          </a:xfrm>
          <a:prstGeom prst="chevron">
            <a:avLst/>
          </a:prstGeom>
          <a:solidFill>
            <a:srgbClr val="4A5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457200" y="3200400"/>
            <a:ext cx="2468880" cy="868680"/>
          </a:xfrm>
          <a:prstGeom prst="roundRect">
            <a:avLst>
              <a:gd name="adj" fmla="val 10000"/>
            </a:avLst>
          </a:prstGeom>
          <a:solidFill>
            <a:srgbClr val="F2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594360" y="3401568"/>
            <a:ext cx="475488" cy="475488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sun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477" y="3515685"/>
            <a:ext cx="247253" cy="247253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1188720" y="3246120"/>
            <a:ext cx="16916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1B1F3B"/>
                </a:solidFill>
              </a:rPr>
              <a:t>UV ตอนฟ้าใส</a:t>
            </a:r>
          </a:p>
          <a:p>
            <a:pPr algn="l"/>
            <a:r>
              <a:rPr sz="950" b="0">
                <a:solidFill>
                  <a:srgbClr val="4A5070"/>
                </a:solidFill>
              </a:rPr>
              <a:t>ฟิสิกส์คำนวณ (Madronich)</a:t>
            </a:r>
          </a:p>
          <a:p>
            <a:pPr algn="l"/>
            <a:r>
              <a:rPr sz="1050" b="1">
                <a:solidFill>
                  <a:srgbClr val="F28C28"/>
                </a:solidFill>
              </a:rPr>
              <a:t>เช่น 10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337560" y="3200400"/>
            <a:ext cx="2468880" cy="868680"/>
          </a:xfrm>
          <a:prstGeom prst="roundRect">
            <a:avLst>
              <a:gd name="adj" fmla="val 10000"/>
            </a:avLst>
          </a:prstGeom>
          <a:solidFill>
            <a:srgbClr val="F2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3474720" y="3401568"/>
            <a:ext cx="475488" cy="475488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9" name="Picture 48" descr="cloud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8837" y="3515685"/>
            <a:ext cx="247253" cy="247253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4069080" y="3246120"/>
            <a:ext cx="16916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1B1F3B"/>
                </a:solidFill>
              </a:rPr>
              <a:t>CMF (ML ทาย)</a:t>
            </a:r>
          </a:p>
          <a:p>
            <a:pPr algn="l"/>
            <a:r>
              <a:rPr sz="950" b="0">
                <a:solidFill>
                  <a:srgbClr val="4A5070"/>
                </a:solidFill>
              </a:rPr>
              <a:t>ผลของเมฆ + ฝุ่น, 0–1</a:t>
            </a:r>
          </a:p>
          <a:p>
            <a:pPr algn="l"/>
            <a:r>
              <a:rPr sz="1050" b="1">
                <a:solidFill>
                  <a:srgbClr val="F28C28"/>
                </a:solidFill>
              </a:rPr>
              <a:t>เช่น 0.7 = บังไป 30 %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217920" y="3200400"/>
            <a:ext cx="2468880" cy="868680"/>
          </a:xfrm>
          <a:prstGeom prst="roundRect">
            <a:avLst>
              <a:gd name="adj" fmla="val 10000"/>
            </a:avLst>
          </a:prstGeom>
          <a:solidFill>
            <a:srgbClr val="1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6355080" y="3401568"/>
            <a:ext cx="475488" cy="475488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3" name="Picture 52" descr="bolt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9197" y="3515685"/>
            <a:ext cx="247253" cy="247253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6949440" y="3246120"/>
            <a:ext cx="16916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</a:rPr>
              <a:t>UV จริง</a:t>
            </a:r>
          </a:p>
          <a:p>
            <a:pPr algn="l"/>
            <a:r>
              <a:rPr sz="950" b="0">
                <a:solidFill>
                  <a:srgbClr val="FFFFFF"/>
                </a:solidFill>
              </a:rPr>
              <a:t>ส่งต่อให้ Risk Engine</a:t>
            </a:r>
          </a:p>
          <a:p>
            <a:pPr algn="l"/>
            <a:r>
              <a:rPr sz="1050" b="1">
                <a:solidFill>
                  <a:srgbClr val="F28C28"/>
                </a:solidFill>
              </a:rPr>
              <a:t>10 × 0.7 = 7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926080" y="3200400"/>
            <a:ext cx="41148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00" b="1">
                <a:solidFill>
                  <a:srgbClr val="F28C28"/>
                </a:solidFill>
              </a:rPr>
              <a:t>×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806440" y="3200400"/>
            <a:ext cx="41148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00" b="1">
                <a:solidFill>
                  <a:srgbClr val="F28C28"/>
                </a:solidFill>
              </a:rPr>
              <a:t>=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7200" y="4187952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4A5070"/>
                </a:solidFill>
              </a:rPr>
              <a:t>ฟิสิกส์ให้รูปร่าง UV ทั้งวัน ML เรียนเฉพาะส่วนที่ฟิสิกส์ไม่รู้ คือเมฆและฝุ่น · CNN ภาพท้องฟ้าเป็นโมดูลแยก แสดงประกอบเท่านั้น ไม่เปลี่ยนค่า UVI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ข้อมูลและ Ground truth</a:t>
            </a:r>
            <a:endParaRPr lang="en-US" sz="2600" dirty="0"/>
          </a:p>
        </p:txBody>
      </p:sp>
      <p:graphicFrame>
        <p:nvGraphicFramePr>
          <p:cNvPr id="4" name="chart-49" descr=""/>
          <p:cNvGraphicFramePr/>
          <p:nvPr/>
        </p:nvGraphicFramePr>
        <p:xfrm>
          <a:off x="4937760" y="1051560"/>
          <a:ext cx="374904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-50"/>
          <p:cNvSpPr txBox="1"/>
          <p:nvPr/>
        </p:nvSpPr>
        <p:spPr>
          <a:xfrm>
            <a:off x="4937760" y="411480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กติกาตั้งก่อนดูผล: เลือก NASA POWER ถ้าดีกว่าเกิน 0.3 → ต่างกัน 1.29 (n = 275 วัน)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A50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457200" y="1005840"/>
            <a:ext cx="4206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B1F3B"/>
                </a:solidFill>
              </a:rPr>
              <a:t>สอน ML ด้วยโจทย์และเฉลย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1298448"/>
            <a:ext cx="1463040" cy="987552"/>
          </a:xfrm>
          <a:prstGeom prst="roundRect">
            <a:avLst>
              <a:gd name="adj" fmla="val 10000"/>
            </a:avLst>
          </a:prstGeom>
          <a:solidFill>
            <a:srgbClr val="F2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14984" y="1371600"/>
            <a:ext cx="347472" cy="347472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cloud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8377" y="1454993"/>
            <a:ext cx="180685" cy="180685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512064" y="1755648"/>
            <a:ext cx="1353312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1">
                <a:solidFill>
                  <a:srgbClr val="1B1F3B"/>
                </a:solidFill>
              </a:rPr>
              <a:t>โจทย์ 23 ตัว</a:t>
            </a:r>
          </a:p>
          <a:p>
            <a:pPr algn="ctr"/>
            <a:r>
              <a:rPr sz="850" b="0">
                <a:solidFill>
                  <a:srgbClr val="4A5070"/>
                </a:solidFill>
              </a:rPr>
              <a:t>อากาศ · ฝุ่น · มุมดวงอาทิตย์ (Open-Meteo)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148840" y="1298448"/>
            <a:ext cx="914400" cy="987552"/>
          </a:xfrm>
          <a:prstGeom prst="roundRect">
            <a:avLst>
              <a:gd name="adj" fmla="val 10000"/>
            </a:avLst>
          </a:prstGeom>
          <a:solidFill>
            <a:srgbClr val="F2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432304" y="1371600"/>
            <a:ext cx="347472" cy="347472"/>
          </a:xfrm>
          <a:prstGeom prst="ellipse">
            <a:avLst/>
          </a:prstGeom>
          <a:solidFill>
            <a:srgbClr val="1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cogs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15697" y="1454993"/>
            <a:ext cx="180685" cy="180685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203704" y="1755648"/>
            <a:ext cx="804672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1">
                <a:solidFill>
                  <a:srgbClr val="1B1F3B"/>
                </a:solidFill>
              </a:rPr>
              <a:t>XGBoost</a:t>
            </a:r>
          </a:p>
          <a:p>
            <a:pPr algn="ctr"/>
            <a:r>
              <a:rPr sz="850" b="0">
                <a:solidFill>
                  <a:srgbClr val="4A5070"/>
                </a:solidFill>
              </a:rPr>
              <a:t>เรียนรู้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291840" y="1298448"/>
            <a:ext cx="1371600" cy="987552"/>
          </a:xfrm>
          <a:prstGeom prst="roundRect">
            <a:avLst>
              <a:gd name="adj" fmla="val 10000"/>
            </a:avLst>
          </a:prstGeom>
          <a:solidFill>
            <a:srgbClr val="F2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3803903" y="1371600"/>
            <a:ext cx="347472" cy="347472"/>
          </a:xfrm>
          <a:prstGeom prst="ellipse">
            <a:avLst/>
          </a:prstGeom>
          <a:solidFill>
            <a:srgbClr val="3E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check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87297" y="1454993"/>
            <a:ext cx="180685" cy="180685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3346704" y="1755648"/>
            <a:ext cx="1261872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1">
                <a:solidFill>
                  <a:srgbClr val="1B1F3B"/>
                </a:solidFill>
              </a:rPr>
              <a:t>เฉลย</a:t>
            </a:r>
          </a:p>
          <a:p>
            <a:pPr algn="ctr"/>
            <a:r>
              <a:rPr sz="850" b="0">
                <a:solidFill>
                  <a:srgbClr val="4A5070"/>
                </a:solidFill>
              </a:rPr>
              <a:t>NASA POWER UVI/UVA/UVB รายชั่วโมง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947672" y="1792224"/>
            <a:ext cx="173736" cy="0"/>
          </a:xfrm>
          <a:prstGeom prst="line">
            <a:avLst/>
          </a:prstGeom>
          <a:ln w="19050">
            <a:solidFill>
              <a:srgbClr val="4A50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3081528" y="1792224"/>
            <a:ext cx="182880" cy="0"/>
          </a:xfrm>
          <a:prstGeom prst="line">
            <a:avLst/>
          </a:prstGeom>
          <a:ln w="19050">
            <a:solidFill>
              <a:srgbClr val="4A50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457200" y="2377440"/>
            <a:ext cx="4206240" cy="329184"/>
          </a:xfrm>
          <a:prstGeom prst="roundRect">
            <a:avLst>
              <a:gd name="adj" fmla="val 30000"/>
            </a:avLst>
          </a:prstGeom>
          <a:solidFill>
            <a:srgbClr val="FBE3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ban_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" y="2423160"/>
            <a:ext cx="237744" cy="237744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868680" y="2377440"/>
            <a:ext cx="374903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D22F3A"/>
                </a:solidFill>
              </a:rPr>
              <a:t>ห้ามเอาข้อมูล NASA เป็นโจทย์ = เห็นเฉลยก่อนสอบ (data leakage)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" y="2816352"/>
            <a:ext cx="4206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B1F3B"/>
                </a:solidFill>
              </a:rPr>
              <a:t>แบ่งข้อมูลตามปี เหมือนการเรียน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57200" y="3090672"/>
            <a:ext cx="1335024" cy="896112"/>
          </a:xfrm>
          <a:prstGeom prst="roundRect">
            <a:avLst>
              <a:gd name="adj" fmla="val 10000"/>
            </a:avLst>
          </a:prstGeom>
          <a:solidFill>
            <a:srgbClr val="F2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Picture 45" descr="book_o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6928" y="3182112"/>
            <a:ext cx="274320" cy="274320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914400" y="3154680"/>
            <a:ext cx="8229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1B1F3B"/>
                </a:solidFill>
              </a:rPr>
              <a:t>2023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6928" y="3520440"/>
            <a:ext cx="1143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B1F3B"/>
                </a:solidFill>
              </a:rPr>
              <a:t>การบ้าน</a:t>
            </a:r>
          </a:p>
          <a:p>
            <a:pPr algn="l"/>
            <a:r>
              <a:rPr sz="850" b="0">
                <a:solidFill>
                  <a:srgbClr val="4A5070"/>
                </a:solidFill>
              </a:rPr>
              <a:t>Train · ให้โมเดลเรียน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1801368" y="3538728"/>
            <a:ext cx="118872" cy="0"/>
          </a:xfrm>
          <a:prstGeom prst="line">
            <a:avLst/>
          </a:prstGeom>
          <a:ln w="15875">
            <a:solidFill>
              <a:srgbClr val="4A50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ounded Rectangle 49"/>
          <p:cNvSpPr/>
          <p:nvPr/>
        </p:nvSpPr>
        <p:spPr>
          <a:xfrm>
            <a:off x="1892808" y="3090672"/>
            <a:ext cx="1335024" cy="896112"/>
          </a:xfrm>
          <a:prstGeom prst="roundRect">
            <a:avLst>
              <a:gd name="adj" fmla="val 10000"/>
            </a:avLst>
          </a:prstGeom>
          <a:solidFill>
            <a:srgbClr val="F2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1" name="Picture 50" descr="pen_o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02536" y="3182112"/>
            <a:ext cx="274320" cy="274320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2350008" y="3154680"/>
            <a:ext cx="8229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1B1F3B"/>
                </a:solidFill>
              </a:rPr>
              <a:t>2024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002536" y="3520440"/>
            <a:ext cx="1143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B1F3B"/>
                </a:solidFill>
              </a:rPr>
              <a:t>สอบย่อย</a:t>
            </a:r>
          </a:p>
          <a:p>
            <a:pPr algn="l"/>
            <a:r>
              <a:rPr sz="850" b="0">
                <a:solidFill>
                  <a:srgbClr val="4A5070"/>
                </a:solidFill>
              </a:rPr>
              <a:t>Dev · เลือก/ปรับโมเดล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3236976" y="3538728"/>
            <a:ext cx="118872" cy="0"/>
          </a:xfrm>
          <a:prstGeom prst="line">
            <a:avLst/>
          </a:prstGeom>
          <a:ln w="15875">
            <a:solidFill>
              <a:srgbClr val="4A50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Rounded Rectangle 54"/>
          <p:cNvSpPr/>
          <p:nvPr/>
        </p:nvSpPr>
        <p:spPr>
          <a:xfrm>
            <a:off x="3328416" y="3090672"/>
            <a:ext cx="1335024" cy="896112"/>
          </a:xfrm>
          <a:prstGeom prst="roundRect">
            <a:avLst>
              <a:gd name="adj" fmla="val 10000"/>
            </a:avLst>
          </a:prstGeom>
          <a:solidFill>
            <a:srgbClr val="1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6" name="Picture 55" descr="lock_o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438144" y="3182112"/>
            <a:ext cx="274320" cy="274320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3785616" y="3154680"/>
            <a:ext cx="8229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F28C28"/>
                </a:solidFill>
              </a:rPr>
              <a:t>2025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438144" y="3520440"/>
            <a:ext cx="1143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สอบจริง</a:t>
            </a:r>
          </a:p>
          <a:p>
            <a:pPr algn="l"/>
            <a:r>
              <a:rPr sz="850" b="0">
                <a:solidFill>
                  <a:srgbClr val="FFFFFF"/>
                </a:solidFill>
              </a:rPr>
              <a:t>Test · เปิดครั้งเดียว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57200" y="4096512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4A5070"/>
                </a:solidFill>
              </a:rPr>
              <a:t>ตรวจอิสระเท่านั้น (ไม่ใช้ฝึก): ดาวเทียม OMI และ TEMIS</a:t>
            </a:r>
          </a:p>
          <a:p>
            <a:pPr algn="l"/>
            <a:r>
              <a:rPr sz="900" b="0">
                <a:solidFill>
                  <a:srgbClr val="4A5070"/>
                </a:solidFill>
              </a:rPr>
              <a:t>11,156 ชั่วโมงกลางวัน ที่ปทุมธานี (14.02 N, 100.52 E)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เลือกโมเดล CMF บน Dev 2024</a:t>
            </a:r>
            <a:endParaRPr lang="en-US" sz="2600" dirty="0"/>
          </a:p>
        </p:txBody>
      </p:sp>
      <p:graphicFrame>
        <p:nvGraphicFramePr>
          <p:cNvPr id="3" name="chart-51" descr=""/>
          <p:cNvGraphicFramePr/>
          <p:nvPr/>
        </p:nvGraphicFramePr>
        <p:xfrm>
          <a:off x="365760" y="1005840"/>
          <a:ext cx="512064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card-52"/>
          <p:cNvSpPr/>
          <p:nvPr/>
        </p:nvSpPr>
        <p:spPr>
          <a:xfrm>
            <a:off x="5760720" y="1097280"/>
            <a:ext cx="2926080" cy="3429000"/>
          </a:xfrm>
          <a:prstGeom prst="roundRect">
            <a:avLst>
              <a:gd name="adj" fmla="val 2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-53"/>
          <p:cNvSpPr txBox="1"/>
          <p:nvPr/>
        </p:nvSpPr>
        <p:spPr>
          <a:xfrm>
            <a:off x="5989320" y="123444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0.493</a:t>
            </a:r>
            <a:endParaRPr lang="en-US" sz="3400" dirty="0"/>
          </a:p>
        </p:txBody>
      </p:sp>
      <p:sp>
        <p:nvSpPr>
          <p:cNvPr id="6" name="text-54"/>
          <p:cNvSpPr txBox="1"/>
          <p:nvPr/>
        </p:nvSpPr>
        <p:spPr>
          <a:xfrm>
            <a:off x="5989320" y="1837944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MAE = ทายผิดเฉลี่ยกี่หน่วย UV · ± 0.078 จาก 5 folds (2023–2024)</a:t>
            </a:r>
            <a:endParaRPr lang="en-US" sz="1100" dirty="0"/>
          </a:p>
        </p:txBody>
      </p:sp>
      <p:sp>
        <p:nvSpPr>
          <p:cNvPr id="7" name="text-55"/>
          <p:cNvSpPr txBox="1"/>
          <p:nvPr/>
        </p:nvSpPr>
        <p:spPr>
          <a:xfrm>
            <a:off x="5989320" y="237744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2"/>
                </a:solidFill>
              </a:rPr>
              <a:t>5 / 5</a:t>
            </a:r>
            <a:endParaRPr lang="en-US" sz="3400" dirty="0"/>
          </a:p>
        </p:txBody>
      </p:sp>
      <p:sp>
        <p:nvSpPr>
          <p:cNvPr id="8" name="text-56"/>
          <p:cNvSpPr txBox="1"/>
          <p:nvPr/>
        </p:nvSpPr>
        <p:spPr>
          <a:xfrm>
            <a:off x="5989320" y="2980944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ตรวจ leakage ผ่าน (ไม่มีข้อมูล 2025, ไม่มี feature จาก NASA)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A50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5989320" y="3520440"/>
            <a:ext cx="2560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4A5070"/>
                </a:solidFill>
              </a:rPr>
              <a:t>โมเดลเดียว ทาย 3 ค่าพร้อมกัน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89320" y="3767328"/>
            <a:ext cx="868680" cy="658368"/>
          </a:xfrm>
          <a:prstGeom prst="roundRect">
            <a:avLst>
              <a:gd name="adj" fmla="val 12000"/>
            </a:avLst>
          </a:prstGeom>
          <a:solidFill>
            <a:srgbClr val="1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89320" y="3767328"/>
            <a:ext cx="86868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XGBoost</a:t>
            </a:r>
          </a:p>
          <a:p>
            <a:pPr algn="ctr"/>
            <a:r>
              <a:rPr sz="850" b="0">
                <a:solidFill>
                  <a:srgbClr val="C9CCE0"/>
                </a:solidFill>
              </a:rPr>
              <a:t>ทาย CMF</a:t>
            </a:r>
          </a:p>
        </p:txBody>
      </p:sp>
      <p:cxnSp>
        <p:nvCxnSpPr>
          <p:cNvPr id="29" name="Connector 28"/>
          <p:cNvCxnSpPr/>
          <p:nvPr/>
        </p:nvCxnSpPr>
        <p:spPr>
          <a:xfrm flipV="1">
            <a:off x="6876288" y="3858768"/>
            <a:ext cx="393192" cy="237744"/>
          </a:xfrm>
          <a:prstGeom prst="line">
            <a:avLst/>
          </a:prstGeom>
          <a:ln w="12700">
            <a:solidFill>
              <a:srgbClr val="4A50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7296912" y="3767328"/>
            <a:ext cx="1005840" cy="182880"/>
          </a:xfrm>
          <a:prstGeom prst="roundRect">
            <a:avLst>
              <a:gd name="adj" fmla="val 50000"/>
            </a:avLst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296912" y="3767328"/>
            <a:ext cx="100584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UVI</a:t>
            </a:r>
          </a:p>
        </p:txBody>
      </p:sp>
      <p:cxnSp>
        <p:nvCxnSpPr>
          <p:cNvPr id="32" name="Connector 31"/>
          <p:cNvCxnSpPr/>
          <p:nvPr/>
        </p:nvCxnSpPr>
        <p:spPr>
          <a:xfrm flipV="1">
            <a:off x="6876288" y="4096511"/>
            <a:ext cx="393192" cy="1"/>
          </a:xfrm>
          <a:prstGeom prst="line">
            <a:avLst/>
          </a:prstGeom>
          <a:ln w="12700">
            <a:solidFill>
              <a:srgbClr val="4A50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7296912" y="4005072"/>
            <a:ext cx="1005840" cy="182880"/>
          </a:xfrm>
          <a:prstGeom prst="roundRect">
            <a:avLst>
              <a:gd name="adj" fmla="val 50000"/>
            </a:avLst>
          </a:prstGeom>
          <a:solidFill>
            <a:srgbClr val="8A3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296912" y="4005072"/>
            <a:ext cx="100584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UVA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6876288" y="4096512"/>
            <a:ext cx="393192" cy="237744"/>
          </a:xfrm>
          <a:prstGeom prst="line">
            <a:avLst/>
          </a:prstGeom>
          <a:ln w="12700">
            <a:solidFill>
              <a:srgbClr val="4A50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7296912" y="4242816"/>
            <a:ext cx="1005840" cy="182880"/>
          </a:xfrm>
          <a:prstGeom prst="roundRect">
            <a:avLst>
              <a:gd name="adj" fmla="val 50000"/>
            </a:avLst>
          </a:prstGeom>
          <a:solidFill>
            <a:srgbClr val="3E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296912" y="4242816"/>
            <a:ext cx="100584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UVB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ช่วงความไม่แน่นอน: Quantile + CQR</a:t>
            </a:r>
            <a:endParaRPr lang="en-US" sz="2600" dirty="0"/>
          </a:p>
        </p:txBody>
      </p:sp>
      <p:pic>
        <p:nvPicPr>
          <p:cNvPr id="3" name="figure-58" descr="C:/Users/folkt/ML-CPE/Final-Project/docs/figures/quantile_exampl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5349240" cy="3108216"/>
          </a:xfrm>
          <a:prstGeom prst="rect">
            <a:avLst/>
          </a:prstGeom>
        </p:spPr>
      </p:pic>
      <p:sp>
        <p:nvSpPr>
          <p:cNvPr id="4" name="card-59"/>
          <p:cNvSpPr/>
          <p:nvPr/>
        </p:nvSpPr>
        <p:spPr>
          <a:xfrm>
            <a:off x="6035040" y="1051560"/>
            <a:ext cx="2651760" cy="352044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A50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6263640" y="1170432"/>
            <a:ext cx="2240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1B1F3B"/>
                </a:solidFill>
              </a:rPr>
              <a:t>ค่าจริงตกในช่วง q10–q90 กี่ 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909559" y="1463040"/>
            <a:ext cx="219456" cy="932688"/>
          </a:xfrm>
          <a:prstGeom prst="rect">
            <a:avLst/>
          </a:prstGeom>
          <a:solidFill>
            <a:srgbClr val="DCE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63640" y="1481328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4A5070"/>
                </a:solidFill>
              </a:rPr>
              <a:t>ก่อน CQR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63640" y="1682496"/>
            <a:ext cx="1272844" cy="201168"/>
          </a:xfrm>
          <a:prstGeom prst="rect">
            <a:avLst/>
          </a:prstGeom>
          <a:solidFill>
            <a:srgbClr val="B8BC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63640" y="1682496"/>
            <a:ext cx="121798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50" b="1">
                <a:solidFill>
                  <a:srgbClr val="1B1F3B"/>
                </a:solidFill>
              </a:rPr>
              <a:t>58 %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63640" y="1938528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4A5070"/>
                </a:solidFill>
              </a:rPr>
              <a:t>หลัง CQR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63640" y="2139696"/>
            <a:ext cx="1843430" cy="201168"/>
          </a:xfrm>
          <a:prstGeom prst="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63640" y="2139696"/>
            <a:ext cx="1788566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50" b="1">
                <a:solidFill>
                  <a:srgbClr val="FFFFFF"/>
                </a:solidFill>
              </a:rPr>
              <a:t>84 %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63640" y="2432304"/>
            <a:ext cx="2240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3E9B4F"/>
                </a:solidFill>
              </a:rPr>
              <a:t>แถบเขียว = เป้า 75–85 %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63640" y="2743200"/>
            <a:ext cx="2240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B1F3B"/>
                </a:solidFill>
              </a:rPr>
              <a:t>แอปบอกเป็นช่วง และเตือนที่ค่าบน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355079" y="3200400"/>
            <a:ext cx="1920240" cy="146304"/>
          </a:xfrm>
          <a:prstGeom prst="roundRect">
            <a:avLst>
              <a:gd name="adj" fmla="val 50000"/>
            </a:avLst>
          </a:prstGeom>
          <a:solidFill>
            <a:srgbClr val="F9C9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360919" y="3163824"/>
            <a:ext cx="219456" cy="219456"/>
          </a:xfrm>
          <a:prstGeom prst="ellipse">
            <a:avLst/>
          </a:prstGeom>
          <a:solidFill>
            <a:srgbClr val="1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132320" y="2990088"/>
            <a:ext cx="7315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0">
                <a:solidFill>
                  <a:srgbClr val="1B1F3B"/>
                </a:solidFill>
              </a:rPr>
              <a:t>ค่าจริง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63640" y="3383280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4A5070"/>
                </a:solidFill>
              </a:rPr>
              <a:t>q10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80960" y="3383280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E36B12"/>
                </a:solidFill>
              </a:rPr>
              <a:t>q90</a:t>
            </a:r>
          </a:p>
        </p:txBody>
      </p:sp>
      <p:sp>
        <p:nvSpPr>
          <p:cNvPr id="41" name="Oval 40"/>
          <p:cNvSpPr/>
          <p:nvPr/>
        </p:nvSpPr>
        <p:spPr>
          <a:xfrm>
            <a:off x="8202167" y="3127248"/>
            <a:ext cx="292608" cy="292608"/>
          </a:xfrm>
          <a:prstGeom prst="ellipse">
            <a:avLst/>
          </a:prstGeom>
          <a:solidFill>
            <a:srgbClr val="E36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bell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2393" y="3197473"/>
            <a:ext cx="152156" cy="152156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6263640" y="3657600"/>
            <a:ext cx="10058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>
                <a:solidFill>
                  <a:srgbClr val="8A3FC2"/>
                </a:solidFill>
              </a:rPr>
              <a:t>0.989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223759" y="3639312"/>
            <a:ext cx="132588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4A5070"/>
                </a:solidFill>
              </a:rPr>
              <a:t>ชั่วโมง "สูงมาก" ที่เตือนทัน (CV folds 3–5)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63640" y="4206240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4A5070"/>
                </a:solidFill>
              </a:rPr>
              <a:t>พลาดน้อย ยอมเตือนเกินบ้าง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ผลทดสอบปี 2025 (เปิดครั้งเดียว)</a:t>
            </a:r>
            <a:endParaRPr lang="en-US" sz="2600" dirty="0"/>
          </a:p>
        </p:txBody>
      </p:sp>
      <p:sp>
        <p:nvSpPr>
          <p:cNvPr id="3" name="text-65"/>
          <p:cNvSpPr txBox="1"/>
          <p:nvPr/>
        </p:nvSpPr>
        <p:spPr>
          <a:xfrm>
            <a:off x="457200" y="100584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0.479</a:t>
            </a:r>
            <a:endParaRPr lang="en-US" sz="3400" dirty="0"/>
          </a:p>
        </p:txBody>
      </p:sp>
      <p:sp>
        <p:nvSpPr>
          <p:cNvPr id="4" name="text-66"/>
          <p:cNvSpPr txBox="1"/>
          <p:nvPr/>
        </p:nvSpPr>
        <p:spPr>
          <a:xfrm>
            <a:off x="457200" y="1609344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UVI MAE รายชั่วโมง เทียบ NASA POWER (เกณฑ์ &lt; 1.0)</a:t>
            </a:r>
            <a:endParaRPr lang="en-US" sz="1100" dirty="0"/>
          </a:p>
        </p:txBody>
      </p:sp>
      <p:sp>
        <p:nvSpPr>
          <p:cNvPr id="5" name="text-67"/>
          <p:cNvSpPr txBox="1"/>
          <p:nvPr/>
        </p:nvSpPr>
        <p:spPr>
          <a:xfrm>
            <a:off x="2560320" y="100584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0.934</a:t>
            </a:r>
            <a:endParaRPr lang="en-US" sz="3400" dirty="0"/>
          </a:p>
        </p:txBody>
      </p:sp>
      <p:sp>
        <p:nvSpPr>
          <p:cNvPr id="6" name="text-68"/>
          <p:cNvSpPr txBox="1"/>
          <p:nvPr/>
        </p:nvSpPr>
        <p:spPr>
          <a:xfrm>
            <a:off x="2560320" y="1609344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R² (n = 3,718 ชั่วโมง)</a:t>
            </a:r>
            <a:endParaRPr lang="en-US" sz="1100" dirty="0"/>
          </a:p>
        </p:txBody>
      </p:sp>
      <p:sp>
        <p:nvSpPr>
          <p:cNvPr id="7" name="text-69"/>
          <p:cNvSpPr txBox="1"/>
          <p:nvPr/>
        </p:nvSpPr>
        <p:spPr>
          <a:xfrm>
            <a:off x="4663440" y="100584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2"/>
                </a:solidFill>
              </a:rPr>
              <a:t>14 / 15</a:t>
            </a:r>
            <a:endParaRPr lang="en-US" sz="3400" dirty="0"/>
          </a:p>
        </p:txBody>
      </p:sp>
      <p:sp>
        <p:nvSpPr>
          <p:cNvPr id="8" name="text-70"/>
          <p:cNvSpPr txBox="1"/>
          <p:nvPr/>
        </p:nvSpPr>
        <p:spPr>
          <a:xfrm>
            <a:off x="4663440" y="1609344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เกณฑ์ที่ตั้งไว้ก่อนเปิด test ผ่าน</a:t>
            </a:r>
            <a:endParaRPr lang="en-US" sz="1100" dirty="0"/>
          </a:p>
        </p:txBody>
      </p:sp>
      <p:sp>
        <p:nvSpPr>
          <p:cNvPr id="9" name="text-71"/>
          <p:cNvSpPr txBox="1"/>
          <p:nvPr/>
        </p:nvSpPr>
        <p:spPr>
          <a:xfrm>
            <a:off x="6766560" y="100584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6"/>
                </a:solidFill>
              </a:rPr>
              <a:t>0.986</a:t>
            </a:r>
            <a:endParaRPr lang="en-US" sz="3400" dirty="0"/>
          </a:p>
        </p:txBody>
      </p:sp>
      <p:sp>
        <p:nvSpPr>
          <p:cNvPr id="10" name="text-72"/>
          <p:cNvSpPr txBox="1"/>
          <p:nvPr/>
        </p:nvSpPr>
        <p:spPr>
          <a:xfrm>
            <a:off x="6766560" y="1609344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Recall "สูงมาก" ด้วย q90 · รุนแรงมาก 0.826</a:t>
            </a:r>
            <a:endParaRPr lang="en-US" sz="1100" dirty="0"/>
          </a:p>
        </p:txBody>
      </p:sp>
      <p:pic>
        <p:nvPicPr>
          <p:cNvPr id="11" name="figure-73" descr="C:/Users/folkt/ML-CPE/Final-Project/docs/figures/test2025_noon_scat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286000"/>
            <a:ext cx="6675120" cy="2146341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A50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  <p:sp>
        <p:nvSpPr>
          <p:cNvPr id="26" name="Oval 25"/>
          <p:cNvSpPr/>
          <p:nvPr/>
        </p:nvSpPr>
        <p:spPr>
          <a:xfrm>
            <a:off x="4681728" y="2048256"/>
            <a:ext cx="100584" cy="100584"/>
          </a:xfrm>
          <a:prstGeom prst="ellipse">
            <a:avLst/>
          </a:prstGeom>
          <a:solidFill>
            <a:srgbClr val="3E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805172" y="2048256"/>
            <a:ext cx="100584" cy="100584"/>
          </a:xfrm>
          <a:prstGeom prst="ellipse">
            <a:avLst/>
          </a:prstGeom>
          <a:solidFill>
            <a:srgbClr val="3E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928616" y="2048256"/>
            <a:ext cx="100584" cy="100584"/>
          </a:xfrm>
          <a:prstGeom prst="ellipse">
            <a:avLst/>
          </a:prstGeom>
          <a:solidFill>
            <a:srgbClr val="3E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052060" y="2048256"/>
            <a:ext cx="100584" cy="100584"/>
          </a:xfrm>
          <a:prstGeom prst="ellipse">
            <a:avLst/>
          </a:prstGeom>
          <a:solidFill>
            <a:srgbClr val="3E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175504" y="2048256"/>
            <a:ext cx="100584" cy="100584"/>
          </a:xfrm>
          <a:prstGeom prst="ellipse">
            <a:avLst/>
          </a:prstGeom>
          <a:solidFill>
            <a:srgbClr val="3E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298948" y="2048256"/>
            <a:ext cx="100584" cy="100584"/>
          </a:xfrm>
          <a:prstGeom prst="ellipse">
            <a:avLst/>
          </a:prstGeom>
          <a:solidFill>
            <a:srgbClr val="3E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422392" y="2048256"/>
            <a:ext cx="100584" cy="100584"/>
          </a:xfrm>
          <a:prstGeom prst="ellipse">
            <a:avLst/>
          </a:prstGeom>
          <a:solidFill>
            <a:srgbClr val="3E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545836" y="2048256"/>
            <a:ext cx="100584" cy="100584"/>
          </a:xfrm>
          <a:prstGeom prst="ellipse">
            <a:avLst/>
          </a:prstGeom>
          <a:solidFill>
            <a:srgbClr val="3E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5669280" y="2048256"/>
            <a:ext cx="100584" cy="100584"/>
          </a:xfrm>
          <a:prstGeom prst="ellipse">
            <a:avLst/>
          </a:prstGeom>
          <a:solidFill>
            <a:srgbClr val="D22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792724" y="2048256"/>
            <a:ext cx="100584" cy="100584"/>
          </a:xfrm>
          <a:prstGeom prst="ellipse">
            <a:avLst/>
          </a:prstGeom>
          <a:solidFill>
            <a:srgbClr val="3E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5916168" y="2048256"/>
            <a:ext cx="100584" cy="100584"/>
          </a:xfrm>
          <a:prstGeom prst="ellipse">
            <a:avLst/>
          </a:prstGeom>
          <a:solidFill>
            <a:srgbClr val="3E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039612" y="2048256"/>
            <a:ext cx="100584" cy="100584"/>
          </a:xfrm>
          <a:prstGeom prst="ellipse">
            <a:avLst/>
          </a:prstGeom>
          <a:solidFill>
            <a:srgbClr val="3E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163056" y="2048256"/>
            <a:ext cx="100584" cy="100584"/>
          </a:xfrm>
          <a:prstGeom prst="ellipse">
            <a:avLst/>
          </a:prstGeom>
          <a:solidFill>
            <a:srgbClr val="3E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6286500" y="2048256"/>
            <a:ext cx="100584" cy="100584"/>
          </a:xfrm>
          <a:prstGeom prst="ellipse">
            <a:avLst/>
          </a:prstGeom>
          <a:solidFill>
            <a:srgbClr val="3E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409944" y="2048256"/>
            <a:ext cx="100584" cy="100584"/>
          </a:xfrm>
          <a:prstGeom prst="ellipse">
            <a:avLst/>
          </a:prstGeom>
          <a:solidFill>
            <a:srgbClr val="3E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269480" y="2331720"/>
            <a:ext cx="14173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1B1F3B"/>
                </a:solidFill>
              </a:rPr>
              <a:t>เที่ยงวัน เทียบ OMI</a:t>
            </a:r>
          </a:p>
          <a:p>
            <a:pPr algn="l"/>
            <a:r>
              <a:rPr sz="850" b="0">
                <a:solidFill>
                  <a:srgbClr val="4A5070"/>
                </a:solidFill>
              </a:rPr>
              <a:t>ผิดเฉลี่ย (ต่ำ = ดี)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269480" y="2761488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4A5070"/>
                </a:solidFill>
              </a:rPr>
              <a:t>โมเดล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269480" y="2953512"/>
            <a:ext cx="543153" cy="182880"/>
          </a:xfrm>
          <a:prstGeom prst="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849209" y="2944368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E36B12"/>
                </a:solidFill>
              </a:rPr>
              <a:t>1.32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269480" y="3200400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4A5070"/>
                </a:solidFill>
              </a:rPr>
              <a:t>Open-Meteo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269480" y="3392424"/>
            <a:ext cx="971092" cy="182880"/>
          </a:xfrm>
          <a:prstGeom prst="rect">
            <a:avLst/>
          </a:prstGeom>
          <a:solidFill>
            <a:srgbClr val="B8BC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77148" y="3383280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4A5070"/>
                </a:solidFill>
              </a:rPr>
              <a:t>2.36</a:t>
            </a:r>
          </a:p>
        </p:txBody>
      </p:sp>
      <p:pic>
        <p:nvPicPr>
          <p:cNvPr id="48" name="Picture 47" descr="times_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9480" y="3767328"/>
            <a:ext cx="164592" cy="164592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7479792" y="3730752"/>
            <a:ext cx="120700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D22F3A"/>
                </a:solidFill>
              </a:rPr>
              <a:t>ไม่ผ่าน 1 ข้อ (T4): r ของ UVA/UVB กับ OMI ต่ำกว่า 0.7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พยากรณ์ 6–24 ชม.: LSTM ไม่ชนะ XGBoost</a:t>
            </a:r>
            <a:endParaRPr lang="en-US" sz="2600" dirty="0"/>
          </a:p>
        </p:txBody>
      </p:sp>
      <p:graphicFrame>
        <p:nvGraphicFramePr>
          <p:cNvPr id="3" name="chart-75" descr=""/>
          <p:cNvGraphicFramePr/>
          <p:nvPr/>
        </p:nvGraphicFramePr>
        <p:xfrm>
          <a:off x="365760" y="1005840"/>
          <a:ext cx="512064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card-76"/>
          <p:cNvSpPr/>
          <p:nvPr/>
        </p:nvSpPr>
        <p:spPr>
          <a:xfrm>
            <a:off x="5760720" y="1097280"/>
            <a:ext cx="2926080" cy="3429000"/>
          </a:xfrm>
          <a:prstGeom prst="roundRect">
            <a:avLst>
              <a:gd name="adj" fmla="val 2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-77"/>
          <p:cNvSpPr txBox="1"/>
          <p:nvPr/>
        </p:nvSpPr>
        <p:spPr>
          <a:xfrm>
            <a:off x="5989320" y="12344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กติกาตั้งก่อนทดลอง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A50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5989320" y="1627632"/>
            <a:ext cx="2560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4A5070"/>
                </a:solidFill>
              </a:rPr>
              <a:t>ผิดเฉลี่ยบน Dev 2024 (ต่ำ = ดี)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89320" y="1874519"/>
            <a:ext cx="1058091" cy="868680"/>
          </a:xfrm>
          <a:prstGeom prst="rect">
            <a:avLst/>
          </a:prstGeom>
          <a:solidFill>
            <a:srgbClr val="DCE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044183" y="1920240"/>
            <a:ext cx="966651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3E9B4F"/>
                </a:solidFill>
              </a:rPr>
              <a:t>โซนที่ LSTM ต้องเข้าให้ได้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989320" y="2514600"/>
            <a:ext cx="2468880" cy="0"/>
          </a:xfrm>
          <a:prstGeom prst="line">
            <a:avLst/>
          </a:prstGeom>
          <a:ln w="15875">
            <a:solidFill>
              <a:srgbClr val="4A5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7047411" y="1874519"/>
            <a:ext cx="0" cy="868681"/>
          </a:xfrm>
          <a:prstGeom prst="line">
            <a:avLst/>
          </a:prstGeom>
          <a:ln w="19050">
            <a:solidFill>
              <a:srgbClr val="3E9B4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7670509" y="2432304"/>
            <a:ext cx="164592" cy="164592"/>
          </a:xfrm>
          <a:prstGeom prst="ellipse">
            <a:avLst/>
          </a:prstGeom>
          <a:solidFill>
            <a:srgbClr val="1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84125" y="2176272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1">
                <a:solidFill>
                  <a:srgbClr val="1B1F3B"/>
                </a:solidFill>
              </a:rPr>
              <a:t>XGBoost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87045" y="2633472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1B1F3B"/>
                </a:solidFill>
              </a:rPr>
              <a:t>0.450</a:t>
            </a:r>
          </a:p>
        </p:txBody>
      </p:sp>
      <p:sp>
        <p:nvSpPr>
          <p:cNvPr id="34" name="Oval 33"/>
          <p:cNvSpPr/>
          <p:nvPr/>
        </p:nvSpPr>
        <p:spPr>
          <a:xfrm>
            <a:off x="8129016" y="2432304"/>
            <a:ext cx="164592" cy="164592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01584" y="2176272"/>
            <a:ext cx="548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F28C28"/>
                </a:solidFill>
              </a:rPr>
              <a:t>LSTM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45552" y="2633472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F28C28"/>
                </a:solidFill>
              </a:rPr>
              <a:t>0.463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81651" y="2788920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3E9B4F"/>
                </a:solidFill>
              </a:rPr>
              <a:t>0.430</a:t>
            </a:r>
          </a:p>
        </p:txBody>
      </p:sp>
      <p:pic>
        <p:nvPicPr>
          <p:cNvPr id="38" name="Picture 37" descr="times_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9320" y="3090672"/>
            <a:ext cx="164592" cy="164592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6227064" y="3063240"/>
            <a:ext cx="23317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1B1F3B"/>
                </a:solidFill>
              </a:rPr>
              <a:t>LSTM 0.463 ไม่ต่ำกว่า 0.430 (XGBoost 0.450 − 0.02) → ไม่ผ่าน</a:t>
            </a:r>
          </a:p>
        </p:txBody>
      </p:sp>
      <p:pic>
        <p:nvPicPr>
          <p:cNvPr id="40" name="Picture 39" descr="check_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9320" y="3502152"/>
            <a:ext cx="164592" cy="164592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6227064" y="3474720"/>
            <a:ext cx="23317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1B1F3B"/>
                </a:solidFill>
              </a:rPr>
              <a:t>Recall "สูงมาก" ไม่แย่ลงเกิน 0.03 → ผ่าน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989320" y="3931920"/>
            <a:ext cx="2560320" cy="457200"/>
          </a:xfrm>
          <a:prstGeom prst="roundRect">
            <a:avLst>
              <a:gd name="adj" fmla="val 20000"/>
            </a:avLst>
          </a:prstGeom>
          <a:solidFill>
            <a:srgbClr val="1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080759" y="393192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</a:rPr>
              <a:t>ใช้ XGBoost ตัวเดียว ทั้งค่าปัจจุบันและพยากรณ์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CNN ภาพท้องฟ้า: โมดูลเสริม</a:t>
            </a:r>
            <a:endParaRPr lang="en-US" sz="2600" dirty="0"/>
          </a:p>
        </p:txBody>
      </p:sp>
      <p:pic>
        <p:nvPicPr>
          <p:cNvPr id="3" name="figure-79" descr="C:/Users/folkt/ML-CPE/Final-Project/docs/figures/sky_samples_swimcat_ex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05840"/>
            <a:ext cx="2375977" cy="2926080"/>
          </a:xfrm>
          <a:prstGeom prst="rect">
            <a:avLst/>
          </a:prstGeom>
        </p:spPr>
      </p:pic>
      <p:sp>
        <p:nvSpPr>
          <p:cNvPr id="4" name="text-80"/>
          <p:cNvSpPr txBox="1"/>
          <p:nvPr/>
        </p:nvSpPr>
        <p:spPr>
          <a:xfrm>
            <a:off x="457200" y="39776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ตัวอย่าง SWIMCAT-ext (CC BY 4.0)</a:t>
            </a:r>
            <a:endParaRPr lang="en-US" sz="900" dirty="0"/>
          </a:p>
        </p:txBody>
      </p:sp>
      <p:sp>
        <p:nvSpPr>
          <p:cNvPr id="5" name="card-81"/>
          <p:cNvSpPr/>
          <p:nvPr/>
        </p:nvSpPr>
        <p:spPr>
          <a:xfrm>
            <a:off x="3154680" y="1051560"/>
            <a:ext cx="5532120" cy="77724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-82"/>
          <p:cNvSpPr txBox="1"/>
          <p:nvPr/>
        </p:nvSpPr>
        <p:spPr>
          <a:xfrm>
            <a:off x="3337560" y="1120139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</a:rPr>
              <a:t>0.975</a:t>
            </a:r>
            <a:endParaRPr lang="en-US" sz="2600" dirty="0"/>
          </a:p>
        </p:txBody>
      </p:sp>
      <p:sp>
        <p:nvSpPr>
          <p:cNvPr id="7" name="text-83"/>
          <p:cNvSpPr txBox="1"/>
          <p:nvPr/>
        </p:nvSpPr>
        <p:spPr>
          <a:xfrm>
            <a:off x="4617720" y="1120139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SWIMCAT-ext 6 ชนิดท้องฟ้า (accuracy, test)</a:t>
            </a:r>
            <a:endParaRPr lang="en-US" sz="1100" dirty="0"/>
          </a:p>
        </p:txBody>
      </p:sp>
      <p:sp>
        <p:nvSpPr>
          <p:cNvPr id="8" name="text-84"/>
          <p:cNvSpPr txBox="1"/>
          <p:nvPr/>
        </p:nvSpPr>
        <p:spPr>
          <a:xfrm>
            <a:off x="7406640" y="1120139"/>
            <a:ext cx="114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ใช้ในแอป</a:t>
            </a:r>
            <a:endParaRPr lang="en-US" sz="1000" dirty="0"/>
          </a:p>
        </p:txBody>
      </p:sp>
      <p:sp>
        <p:nvSpPr>
          <p:cNvPr id="9" name="card-85"/>
          <p:cNvSpPr/>
          <p:nvPr/>
        </p:nvSpPr>
        <p:spPr>
          <a:xfrm>
            <a:off x="3154680" y="1920239"/>
            <a:ext cx="5532120" cy="77724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-86"/>
          <p:cNvSpPr txBox="1"/>
          <p:nvPr/>
        </p:nvSpPr>
        <p:spPr>
          <a:xfrm>
            <a:off x="3337560" y="1988819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</a:rPr>
              <a:t>0.084</a:t>
            </a:r>
            <a:endParaRPr lang="en-US" sz="2600" dirty="0"/>
          </a:p>
        </p:txBody>
      </p:sp>
      <p:sp>
        <p:nvSpPr>
          <p:cNvPr id="11" name="text-87"/>
          <p:cNvSpPr txBox="1"/>
          <p:nvPr/>
        </p:nvSpPr>
        <p:spPr>
          <a:xfrm>
            <a:off x="4617720" y="1988819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สัดส่วนเมฆในภาพ (SWIMSEG, MAE) ดีกว่าวิธีสีแดง/น้ำเงิน 0.145</a:t>
            </a:r>
            <a:endParaRPr lang="en-US" sz="1100" dirty="0"/>
          </a:p>
        </p:txBody>
      </p:sp>
      <p:sp>
        <p:nvSpPr>
          <p:cNvPr id="12" name="text-88"/>
          <p:cNvSpPr txBox="1"/>
          <p:nvPr/>
        </p:nvSpPr>
        <p:spPr>
          <a:xfrm>
            <a:off x="7406640" y="1988819"/>
            <a:ext cx="114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ใช้ในแอป</a:t>
            </a:r>
            <a:endParaRPr lang="en-US" sz="1000" dirty="0"/>
          </a:p>
        </p:txBody>
      </p:sp>
      <p:sp>
        <p:nvSpPr>
          <p:cNvPr id="13" name="card-89"/>
          <p:cNvSpPr/>
          <p:nvPr/>
        </p:nvSpPr>
        <p:spPr>
          <a:xfrm>
            <a:off x="3154680" y="2788920"/>
            <a:ext cx="5532120" cy="77724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-90"/>
          <p:cNvSpPr txBox="1"/>
          <p:nvPr/>
        </p:nvSpPr>
        <p:spPr>
          <a:xfrm>
            <a:off x="3337560" y="2857500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5"/>
                </a:solidFill>
              </a:rPr>
              <a:t>0.486</a:t>
            </a:r>
            <a:endParaRPr lang="en-US" sz="2600" dirty="0"/>
          </a:p>
        </p:txBody>
      </p:sp>
      <p:sp>
        <p:nvSpPr>
          <p:cNvPr id="15" name="text-91"/>
          <p:cNvSpPr txBox="1"/>
          <p:nvPr/>
        </p:nvSpPr>
        <p:spPr>
          <a:xfrm>
            <a:off x="4617720" y="28575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CCSN 11 สกุลเมฆ (accuracy, เกณฑ์ ≥ 0.60)</a:t>
            </a:r>
            <a:endParaRPr lang="en-US" sz="1100" dirty="0"/>
          </a:p>
        </p:txBody>
      </p:sp>
      <p:sp>
        <p:nvSpPr>
          <p:cNvPr id="16" name="text-92"/>
          <p:cNvSpPr txBox="1"/>
          <p:nvPr/>
        </p:nvSpPr>
        <p:spPr>
          <a:xfrm>
            <a:off x="7406640" y="2857500"/>
            <a:ext cx="114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ไม่ผ่าน ไม่แสดง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A50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  <p:sp>
        <p:nvSpPr>
          <p:cNvPr id="26" name="Oval 25"/>
          <p:cNvSpPr/>
          <p:nvPr/>
        </p:nvSpPr>
        <p:spPr>
          <a:xfrm>
            <a:off x="3154680" y="3730752"/>
            <a:ext cx="329184" cy="329184"/>
          </a:xfrm>
          <a:prstGeom prst="ellipse">
            <a:avLst/>
          </a:prstGeom>
          <a:solidFill>
            <a:srgbClr val="3E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image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3684" y="3809756"/>
            <a:ext cx="171175" cy="171175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3566160" y="3730752"/>
            <a:ext cx="20574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1B1F3B"/>
                </a:solidFill>
              </a:rPr>
              <a:t>ภาพจาก dataset (แบบที่ใช้ฝึก)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596128" y="3895344"/>
            <a:ext cx="237744" cy="0"/>
          </a:xfrm>
          <a:prstGeom prst="line">
            <a:avLst/>
          </a:prstGeom>
          <a:ln w="15875">
            <a:solidFill>
              <a:srgbClr val="4A50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5870448" y="3767328"/>
            <a:ext cx="548640" cy="256032"/>
          </a:xfrm>
          <a:prstGeom prst="roundRect">
            <a:avLst>
              <a:gd name="adj" fmla="val 30000"/>
            </a:avLst>
          </a:prstGeom>
          <a:solidFill>
            <a:srgbClr val="1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870448" y="3767328"/>
            <a:ext cx="54864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CNN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455664" y="3895344"/>
            <a:ext cx="237744" cy="0"/>
          </a:xfrm>
          <a:prstGeom prst="line">
            <a:avLst/>
          </a:prstGeom>
          <a:ln w="15875">
            <a:solidFill>
              <a:srgbClr val="4A50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3" name="Picture 32" descr="check_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48272" y="3803904"/>
            <a:ext cx="182880" cy="18288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6986016" y="3730752"/>
            <a:ext cx="17373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3E9B4F"/>
                </a:solidFill>
              </a:rPr>
              <a:t>แม่น 97.5 %</a:t>
            </a:r>
          </a:p>
        </p:txBody>
      </p:sp>
      <p:sp>
        <p:nvSpPr>
          <p:cNvPr id="35" name="Oval 34"/>
          <p:cNvSpPr/>
          <p:nvPr/>
        </p:nvSpPr>
        <p:spPr>
          <a:xfrm>
            <a:off x="3154680" y="4133088"/>
            <a:ext cx="329184" cy="329184"/>
          </a:xfrm>
          <a:prstGeom prst="ellipse">
            <a:avLst/>
          </a:prstGeom>
          <a:solidFill>
            <a:srgbClr val="E36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camera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33684" y="4212092"/>
            <a:ext cx="171175" cy="171175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3566160" y="4133088"/>
            <a:ext cx="20574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1B1F3B"/>
                </a:solidFill>
              </a:rPr>
              <a:t>ภาพจากมือถือ (ต่างจากภาพฝึก)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5596128" y="4297680"/>
            <a:ext cx="237744" cy="0"/>
          </a:xfrm>
          <a:prstGeom prst="line">
            <a:avLst/>
          </a:prstGeom>
          <a:ln w="15875">
            <a:solidFill>
              <a:srgbClr val="4A50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5870448" y="4169664"/>
            <a:ext cx="548640" cy="256032"/>
          </a:xfrm>
          <a:prstGeom prst="roundRect">
            <a:avLst>
              <a:gd name="adj" fmla="val 30000"/>
            </a:avLst>
          </a:prstGeom>
          <a:solidFill>
            <a:srgbClr val="1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870448" y="4169664"/>
            <a:ext cx="54864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CNN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6455664" y="4297680"/>
            <a:ext cx="237744" cy="0"/>
          </a:xfrm>
          <a:prstGeom prst="line">
            <a:avLst/>
          </a:prstGeom>
          <a:ln w="15875">
            <a:solidFill>
              <a:srgbClr val="4A50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2" name="Picture 41" descr="warn_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48272" y="4206240"/>
            <a:ext cx="182880" cy="182880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6986016" y="4133088"/>
            <a:ext cx="17373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D22F3A"/>
                </a:solidFill>
              </a:rPr>
              <a:t>ยังไม่ได้วัดผล · แสดงประกอบเท่านั้น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Risk Engine: จากค่า UV สู่คำเตือนรายคน</a:t>
            </a:r>
            <a:endParaRPr lang="en-US" sz="2600" dirty="0"/>
          </a:p>
        </p:txBody>
      </p:sp>
      <p:sp>
        <p:nvSpPr>
          <p:cNvPr id="3" name="level-94"/>
          <p:cNvSpPr/>
          <p:nvPr/>
        </p:nvSpPr>
        <p:spPr>
          <a:xfrm>
            <a:off x="457200" y="1097280"/>
            <a:ext cx="932688" cy="868680"/>
          </a:xfrm>
          <a:prstGeom prst="roundRect">
            <a:avLst>
              <a:gd name="adj" fmla="val 8421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text-95"/>
          <p:cNvSpPr txBox="1"/>
          <p:nvPr/>
        </p:nvSpPr>
        <p:spPr>
          <a:xfrm>
            <a:off x="457200" y="1097280"/>
            <a:ext cx="9326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0–2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ต่ำ</a:t>
            </a:r>
            <a:endParaRPr lang="en-US" sz="1300" dirty="0"/>
          </a:p>
        </p:txBody>
      </p:sp>
      <p:sp>
        <p:nvSpPr>
          <p:cNvPr id="5" name="level-96"/>
          <p:cNvSpPr/>
          <p:nvPr/>
        </p:nvSpPr>
        <p:spPr>
          <a:xfrm>
            <a:off x="1481328" y="1097280"/>
            <a:ext cx="932688" cy="868680"/>
          </a:xfrm>
          <a:prstGeom prst="roundRect">
            <a:avLst>
              <a:gd name="adj" fmla="val 8421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" name="text-97"/>
          <p:cNvSpPr txBox="1"/>
          <p:nvPr/>
        </p:nvSpPr>
        <p:spPr>
          <a:xfrm>
            <a:off x="1481328" y="1097280"/>
            <a:ext cx="9326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3–5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ปานกลาง</a:t>
            </a:r>
            <a:endParaRPr lang="en-US" sz="1300" dirty="0"/>
          </a:p>
        </p:txBody>
      </p:sp>
      <p:sp>
        <p:nvSpPr>
          <p:cNvPr id="7" name="level-98"/>
          <p:cNvSpPr/>
          <p:nvPr/>
        </p:nvSpPr>
        <p:spPr>
          <a:xfrm>
            <a:off x="2505456" y="1097280"/>
            <a:ext cx="932688" cy="868680"/>
          </a:xfrm>
          <a:prstGeom prst="roundRect">
            <a:avLst>
              <a:gd name="adj" fmla="val 8421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8" name="text-99"/>
          <p:cNvSpPr txBox="1"/>
          <p:nvPr/>
        </p:nvSpPr>
        <p:spPr>
          <a:xfrm>
            <a:off x="2505456" y="1097280"/>
            <a:ext cx="9326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6–7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สูง</a:t>
            </a:r>
            <a:endParaRPr lang="en-US" sz="1300" dirty="0"/>
          </a:p>
        </p:txBody>
      </p:sp>
      <p:sp>
        <p:nvSpPr>
          <p:cNvPr id="9" name="level-100"/>
          <p:cNvSpPr/>
          <p:nvPr/>
        </p:nvSpPr>
        <p:spPr>
          <a:xfrm>
            <a:off x="3529584" y="1097280"/>
            <a:ext cx="932688" cy="868680"/>
          </a:xfrm>
          <a:prstGeom prst="roundRect">
            <a:avLst>
              <a:gd name="adj" fmla="val 8421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0" name="text-101"/>
          <p:cNvSpPr txBox="1"/>
          <p:nvPr/>
        </p:nvSpPr>
        <p:spPr>
          <a:xfrm>
            <a:off x="3529584" y="1097280"/>
            <a:ext cx="9326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8–10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สูงมาก</a:t>
            </a:r>
            <a:endParaRPr lang="en-US" sz="1300" dirty="0"/>
          </a:p>
        </p:txBody>
      </p:sp>
      <p:sp>
        <p:nvSpPr>
          <p:cNvPr id="11" name="level-102"/>
          <p:cNvSpPr/>
          <p:nvPr/>
        </p:nvSpPr>
        <p:spPr>
          <a:xfrm>
            <a:off x="4553712" y="1097280"/>
            <a:ext cx="932688" cy="868680"/>
          </a:xfrm>
          <a:prstGeom prst="roundRect">
            <a:avLst>
              <a:gd name="adj" fmla="val 8421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2" name="text-103"/>
          <p:cNvSpPr txBox="1"/>
          <p:nvPr/>
        </p:nvSpPr>
        <p:spPr>
          <a:xfrm>
            <a:off x="4553712" y="1097280"/>
            <a:ext cx="9326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11+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รุนแรงมาก</a:t>
            </a:r>
            <a:endParaRPr lang="en-US" sz="1300" dirty="0"/>
          </a:p>
        </p:txBody>
      </p:sp>
      <p:sp>
        <p:nvSpPr>
          <p:cNvPr id="13" name="text-104"/>
          <p:cNvSpPr txBox="1"/>
          <p:nvPr/>
        </p:nvSpPr>
        <p:spPr>
          <a:xfrm>
            <a:off x="457200" y="21945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เวลาผิวไหม้ (นาที) = MED ÷ (UVI × 0.025 × 60)</a:t>
            </a:r>
            <a:endParaRPr lang="en-US" sz="1400" dirty="0"/>
          </a:p>
        </p:txBody>
      </p:sp>
      <p:graphicFrame>
        <p:nvGraphicFramePr>
          <p:cNvPr id="15" name="chart-106" descr=""/>
          <p:cNvGraphicFramePr/>
          <p:nvPr/>
        </p:nvGraphicFramePr>
        <p:xfrm>
          <a:off x="5623560" y="1005840"/>
          <a:ext cx="310896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A50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457200" y="2633472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B1F3B"/>
                </a:solidFill>
              </a:rPr>
              <a:t>ตัวอย่าง: ผิวประเภท III (คนไทยทั่วไป) ที่ UVI 10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2944368"/>
            <a:ext cx="1417320" cy="960120"/>
          </a:xfrm>
          <a:prstGeom prst="roundRect">
            <a:avLst>
              <a:gd name="adj" fmla="val 10000"/>
            </a:avLst>
          </a:prstGeom>
          <a:solidFill>
            <a:srgbClr val="F2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30352" y="2990088"/>
            <a:ext cx="1271016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1B1F3B"/>
                </a:solidFill>
              </a:rPr>
              <a:t>MED ผิว III</a:t>
            </a:r>
          </a:p>
          <a:p>
            <a:pPr algn="ctr"/>
            <a:r>
              <a:rPr sz="2000" b="1">
                <a:solidFill>
                  <a:srgbClr val="F28C28"/>
                </a:solidFill>
              </a:rPr>
              <a:t>350</a:t>
            </a:r>
          </a:p>
          <a:p>
            <a:pPr algn="ctr"/>
            <a:r>
              <a:rPr sz="850" b="0">
                <a:solidFill>
                  <a:srgbClr val="4A5070"/>
                </a:solidFill>
              </a:rPr>
              <a:t>J/m² · ปริมาณที่ผิวเริ่มแดง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103120" y="2944368"/>
            <a:ext cx="1554480" cy="960120"/>
          </a:xfrm>
          <a:prstGeom prst="roundRect">
            <a:avLst>
              <a:gd name="adj" fmla="val 10000"/>
            </a:avLst>
          </a:prstGeom>
          <a:solidFill>
            <a:srgbClr val="F2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176272" y="2990088"/>
            <a:ext cx="1408176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1B1F3B"/>
                </a:solidFill>
              </a:rPr>
              <a:t>UV ที่ได้รับต่อนาที</a:t>
            </a:r>
          </a:p>
          <a:p>
            <a:pPr algn="ctr"/>
            <a:r>
              <a:rPr sz="2000" b="1">
                <a:solidFill>
                  <a:srgbClr val="F28C28"/>
                </a:solidFill>
              </a:rPr>
              <a:t>15</a:t>
            </a:r>
          </a:p>
          <a:p>
            <a:pPr algn="ctr"/>
            <a:r>
              <a:rPr sz="850" b="0">
                <a:solidFill>
                  <a:srgbClr val="4A5070"/>
                </a:solidFill>
              </a:rPr>
              <a:t>10 × 0.025 × 60 J/m²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886200" y="2944368"/>
            <a:ext cx="1600200" cy="960120"/>
          </a:xfrm>
          <a:prstGeom prst="roundRect">
            <a:avLst>
              <a:gd name="adj" fmla="val 10000"/>
            </a:avLst>
          </a:prstGeom>
          <a:solidFill>
            <a:srgbClr val="1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959352" y="2990088"/>
            <a:ext cx="1453896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</a:rPr>
              <a:t>เวลาก่อนผิวไหม้</a:t>
            </a:r>
          </a:p>
          <a:p>
            <a:pPr algn="ctr"/>
            <a:r>
              <a:rPr sz="2000" b="1">
                <a:solidFill>
                  <a:srgbClr val="F28C28"/>
                </a:solidFill>
              </a:rPr>
              <a:t>≈ 23 นาที</a:t>
            </a:r>
          </a:p>
          <a:p>
            <a:pPr algn="ctr"/>
            <a:r>
              <a:rPr sz="850" b="0">
                <a:solidFill>
                  <a:srgbClr val="C9CCE0"/>
                </a:solidFill>
              </a:rPr>
              <a:t>แอปเตือนก่อนถึงเวลานี้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874519" y="2944368"/>
            <a:ext cx="22860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F28C28"/>
                </a:solidFill>
              </a:rPr>
              <a:t>÷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0" y="2944368"/>
            <a:ext cx="22860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F28C28"/>
                </a:solidFill>
              </a:rPr>
              <a:t>=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4005072"/>
            <a:ext cx="5029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4A5070"/>
                </a:solidFill>
              </a:rPr>
              <a:t>MED (J/m²): I 200 · II 250 · III 350 · IV 450 · V 600 · VI 1000</a:t>
            </a:r>
          </a:p>
          <a:p>
            <a:pPr algn="l"/>
            <a:r>
              <a:rPr sz="900" b="0">
                <a:solidFill>
                  <a:srgbClr val="4A5070"/>
                </a:solidFill>
              </a:rPr>
              <a:t>ใช้ค่าบน q90 ของ UVI เสมอ · ประเภทผิวจากแบบสอบถาม 5 ข้อในแอป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แอปมือถือและการแจ้งเตือน</a:t>
            </a:r>
            <a:endParaRPr lang="en-US" sz="2600" dirty="0"/>
          </a:p>
        </p:txBody>
      </p:sp>
      <p:sp>
        <p:nvSpPr>
          <p:cNvPr id="3" name="card-107"/>
          <p:cNvSpPr/>
          <p:nvPr/>
        </p:nvSpPr>
        <p:spPr>
          <a:xfrm>
            <a:off x="457200" y="1051560"/>
            <a:ext cx="2615184" cy="2514600"/>
          </a:xfrm>
          <a:prstGeom prst="roundRect">
            <a:avLst>
              <a:gd name="adj" fmla="val 29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dot-108"/>
          <p:cNvSpPr/>
          <p:nvPr/>
        </p:nvSpPr>
        <p:spPr>
          <a:xfrm>
            <a:off x="685800" y="1207008"/>
            <a:ext cx="329184" cy="329184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text-109"/>
          <p:cNvSpPr txBox="1"/>
          <p:nvPr/>
        </p:nvSpPr>
        <p:spPr>
          <a:xfrm>
            <a:off x="1115568" y="1207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หน้าจอ</a:t>
            </a:r>
            <a:endParaRPr lang="en-US" sz="1400" dirty="0"/>
          </a:p>
        </p:txBody>
      </p:sp>
      <p:sp>
        <p:nvSpPr>
          <p:cNvPr id="6" name="list-110"/>
          <p:cNvSpPr txBox="1"/>
          <p:nvPr/>
        </p:nvSpPr>
        <p:spPr>
          <a:xfrm>
            <a:off x="685800" y="1691640"/>
            <a:ext cx="2240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หน้าหลัก: UV ตอนนี้, UVA/UVB, เวลาผิวไหม้, กราฟรายชั่วโมง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ถ่ายท้องฟ้า: ชนิดฟ้า + สัดส่วนเมฆ (ประกอบ)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ตั้งค่า: เกณฑ์เตือน, จังหวัดถ้าไม่ให้ GPS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ข้อความในแอปเป็นภาษาไทยทั้งหมด</a:t>
            </a:r>
            <a:endParaRPr lang="en-US" sz="1100" dirty="0"/>
          </a:p>
        </p:txBody>
      </p:sp>
      <p:sp>
        <p:nvSpPr>
          <p:cNvPr id="7" name="card-111"/>
          <p:cNvSpPr/>
          <p:nvPr/>
        </p:nvSpPr>
        <p:spPr>
          <a:xfrm>
            <a:off x="3273552" y="1051560"/>
            <a:ext cx="2615184" cy="2514600"/>
          </a:xfrm>
          <a:prstGeom prst="roundRect">
            <a:avLst>
              <a:gd name="adj" fmla="val 29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dot-112"/>
          <p:cNvSpPr/>
          <p:nvPr/>
        </p:nvSpPr>
        <p:spPr>
          <a:xfrm>
            <a:off x="3502152" y="1207008"/>
            <a:ext cx="329184" cy="32918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-113"/>
          <p:cNvSpPr txBox="1"/>
          <p:nvPr/>
        </p:nvSpPr>
        <p:spPr>
          <a:xfrm>
            <a:off x="3931920" y="1207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แจ้งเตือนในเครื่อง</a:t>
            </a:r>
            <a:endParaRPr lang="en-US" sz="1400" dirty="0"/>
          </a:p>
        </p:txBody>
      </p:sp>
      <p:sp>
        <p:nvSpPr>
          <p:cNvPr id="10" name="list-114"/>
          <p:cNvSpPr txBox="1"/>
          <p:nvPr/>
        </p:nvSpPr>
        <p:spPr>
          <a:xfrm>
            <a:off x="3502152" y="1691640"/>
            <a:ext cx="2240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UV สูงตามพยากรณ์ และ "ปลอดภัยแล้ว"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สรุปเช้า 07:00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ปุ่ม "ออกแดด": เตือนก่อนผิวไหม้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เตือนทาครีมซ้ำทุก 2 ชม.</a:t>
            </a:r>
            <a:endParaRPr lang="en-US" sz="1100" dirty="0"/>
          </a:p>
        </p:txBody>
      </p:sp>
      <p:sp>
        <p:nvSpPr>
          <p:cNvPr id="11" name="card-115"/>
          <p:cNvSpPr/>
          <p:nvPr/>
        </p:nvSpPr>
        <p:spPr>
          <a:xfrm>
            <a:off x="6089904" y="1051560"/>
            <a:ext cx="2615184" cy="2514600"/>
          </a:xfrm>
          <a:prstGeom prst="roundRect">
            <a:avLst>
              <a:gd name="adj" fmla="val 29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dot-116"/>
          <p:cNvSpPr/>
          <p:nvPr/>
        </p:nvSpPr>
        <p:spPr>
          <a:xfrm>
            <a:off x="6318504" y="1207008"/>
            <a:ext cx="329184" cy="329184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3" name="text-117"/>
          <p:cNvSpPr txBox="1"/>
          <p:nvPr/>
        </p:nvSpPr>
        <p:spPr>
          <a:xfrm>
            <a:off x="6748272" y="1207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Push จากเซิร์ฟเวอร์</a:t>
            </a:r>
            <a:endParaRPr lang="en-US" sz="1400" dirty="0"/>
          </a:p>
        </p:txBody>
      </p:sp>
      <p:sp>
        <p:nvSpPr>
          <p:cNvPr id="14" name="list-118"/>
          <p:cNvSpPr txBox="1"/>
          <p:nvPr/>
        </p:nvSpPr>
        <p:spPr>
          <a:xfrm>
            <a:off x="6318504" y="1691640"/>
            <a:ext cx="2240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APScheduler ทุก 30 นาที ผ่าน Expo Push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cooldown 3 ชม., เตือนที่ ≥ 8, "ปลอดภัย" ที่ &lt; 6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เงียบหลังพระอาทิตย์ตก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ต้องยินยอม ส่งแค่ชื่อจังหวัด</a:t>
            </a:r>
            <a:endParaRPr lang="en-US" sz="1100" dirty="0"/>
          </a:p>
        </p:txBody>
      </p:sp>
      <p:sp>
        <p:nvSpPr>
          <p:cNvPr id="15" name="card-119"/>
          <p:cNvSpPr/>
          <p:nvPr/>
        </p:nvSpPr>
        <p:spPr>
          <a:xfrm>
            <a:off x="457200" y="3730752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FDF1E6"/>
          </a:solidFill>
          <a:ln w="12700">
            <a:solidFill>
              <a:srgbClr val="FDF1E6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A50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  <p:pic>
        <p:nvPicPr>
          <p:cNvPr id="26" name="Picture 25" descr="phone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220" y="1279428"/>
            <a:ext cx="184343" cy="184343"/>
          </a:xfrm>
          <a:prstGeom prst="rect">
            <a:avLst/>
          </a:prstGeom>
        </p:spPr>
      </p:pic>
      <p:pic>
        <p:nvPicPr>
          <p:cNvPr id="27" name="Picture 26" descr="bell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74572" y="1279428"/>
            <a:ext cx="184343" cy="184343"/>
          </a:xfrm>
          <a:prstGeom prst="rect">
            <a:avLst/>
          </a:prstGeom>
        </p:spPr>
      </p:pic>
      <p:pic>
        <p:nvPicPr>
          <p:cNvPr id="28" name="Picture 27" descr="server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90924" y="1279428"/>
            <a:ext cx="184343" cy="184343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685800" y="3749039"/>
            <a:ext cx="146304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E36B12"/>
                </a:solidFill>
              </a:rPr>
              <a:t>ใช้ได้แม้ไม่ให้สิทธิ์</a:t>
            </a:r>
          </a:p>
        </p:txBody>
      </p:sp>
      <p:sp>
        <p:nvSpPr>
          <p:cNvPr id="30" name="Oval 29"/>
          <p:cNvSpPr/>
          <p:nvPr/>
        </p:nvSpPr>
        <p:spPr>
          <a:xfrm>
            <a:off x="2240280" y="3913632"/>
            <a:ext cx="384048" cy="38404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map_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31720" y="4005072"/>
            <a:ext cx="201168" cy="201168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2715768" y="3840480"/>
            <a:ext cx="16002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1B1F3B"/>
                </a:solidFill>
              </a:rPr>
              <a:t>ไม่ให้ GPS</a:t>
            </a:r>
          </a:p>
          <a:p>
            <a:pPr algn="l"/>
            <a:r>
              <a:rPr sz="900" b="0">
                <a:solidFill>
                  <a:srgbClr val="4A5070"/>
                </a:solidFill>
              </a:rPr>
              <a:t>เลือกจังหวัดเองได้</a:t>
            </a:r>
          </a:p>
        </p:txBody>
      </p:sp>
      <p:sp>
        <p:nvSpPr>
          <p:cNvPr id="33" name="Oval 32"/>
          <p:cNvSpPr/>
          <p:nvPr/>
        </p:nvSpPr>
        <p:spPr>
          <a:xfrm>
            <a:off x="4389120" y="3913632"/>
            <a:ext cx="384048" cy="38404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bell_o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80560" y="4005072"/>
            <a:ext cx="201168" cy="201168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4864608" y="3840480"/>
            <a:ext cx="16002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1B1F3B"/>
                </a:solidFill>
              </a:rPr>
              <a:t>ไม่ให้แจ้งเตือน</a:t>
            </a:r>
          </a:p>
          <a:p>
            <a:pPr algn="l"/>
            <a:r>
              <a:rPr sz="900" b="0">
                <a:solidFill>
                  <a:srgbClr val="4A5070"/>
                </a:solidFill>
              </a:rPr>
              <a:t>ยังเปิดดูค่าได้</a:t>
            </a:r>
          </a:p>
        </p:txBody>
      </p:sp>
      <p:sp>
        <p:nvSpPr>
          <p:cNvPr id="36" name="Oval 35"/>
          <p:cNvSpPr/>
          <p:nvPr/>
        </p:nvSpPr>
        <p:spPr>
          <a:xfrm>
            <a:off x="6537960" y="3913632"/>
            <a:ext cx="384048" cy="38404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shield_o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29400" y="4005072"/>
            <a:ext cx="201168" cy="201168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7013448" y="3840480"/>
            <a:ext cx="16002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1B1F3B"/>
                </a:solidFill>
              </a:rPr>
              <a:t>ความเป็นส่วนตัว</a:t>
            </a:r>
          </a:p>
          <a:p>
            <a:pPr algn="l"/>
            <a:r>
              <a:rPr sz="900" b="0">
                <a:solidFill>
                  <a:srgbClr val="4A5070"/>
                </a:solidFill>
              </a:rPr>
              <a:t>เซิร์ฟเวอร์รู้แค่ชื่อจังหวัด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ทดสอบภาคสนามบนมือถือจริง (4 ต.ค. 2026)</a:t>
            </a:r>
            <a:endParaRPr lang="en-US" sz="2600" dirty="0"/>
          </a:p>
        </p:txBody>
      </p:sp>
      <p:sp>
        <p:nvSpPr>
          <p:cNvPr id="3" name="dot-121"/>
          <p:cNvSpPr/>
          <p:nvPr/>
        </p:nvSpPr>
        <p:spPr>
          <a:xfrm>
            <a:off x="457200" y="118872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p/>
        </p:txBody>
      </p:sp>
      <p:sp>
        <p:nvSpPr>
          <p:cNvPr id="4" name="dotlabel-122"/>
          <p:cNvSpPr txBox="1"/>
          <p:nvPr/>
        </p:nvSpPr>
        <p:spPr>
          <a:xfrm>
            <a:off x="457200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5" name="text-123"/>
          <p:cNvSpPr txBox="1"/>
          <p:nvPr/>
        </p:nvSpPr>
        <p:spPr>
          <a:xfrm>
            <a:off x="1097280" y="1115568"/>
            <a:ext cx="1188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แจ้งเตือน</a:t>
            </a:r>
            <a:endParaRPr lang="en-US" sz="1400" dirty="0"/>
          </a:p>
        </p:txBody>
      </p:sp>
      <p:sp>
        <p:nvSpPr>
          <p:cNvPr id="6" name="text-124"/>
          <p:cNvSpPr txBox="1"/>
          <p:nvPr/>
        </p:nvSpPr>
        <p:spPr>
          <a:xfrm>
            <a:off x="2103120" y="1115568"/>
            <a:ext cx="3886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3 รายการที่ยืนยันเวลาได้ มาช้า 2–9 นาที (เฉลี่ย 5.7 นาที) · เตือนผิวไหม้รอบแรกไม่ได้รับ</a:t>
            </a:r>
            <a:endParaRPr lang="en-US" sz="1300" dirty="0"/>
          </a:p>
        </p:txBody>
      </p:sp>
      <p:sp>
        <p:nvSpPr>
          <p:cNvPr id="7" name="dot-125"/>
          <p:cNvSpPr/>
          <p:nvPr/>
        </p:nvSpPr>
        <p:spPr>
          <a:xfrm>
            <a:off x="457200" y="2029968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p/>
        </p:txBody>
      </p:sp>
      <p:sp>
        <p:nvSpPr>
          <p:cNvPr id="8" name="dotlabel-126"/>
          <p:cNvSpPr txBox="1"/>
          <p:nvPr/>
        </p:nvSpPr>
        <p:spPr>
          <a:xfrm>
            <a:off x="457200" y="2029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9" name="text-127"/>
          <p:cNvSpPr txBox="1"/>
          <p:nvPr/>
        </p:nvSpPr>
        <p:spPr>
          <a:xfrm>
            <a:off x="1097280" y="1956816"/>
            <a:ext cx="1188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สูตร</a:t>
            </a:r>
            <a:endParaRPr lang="en-US" sz="1400" dirty="0"/>
          </a:p>
        </p:txBody>
      </p:sp>
      <p:sp>
        <p:nvSpPr>
          <p:cNvPr id="10" name="text-128"/>
          <p:cNvSpPr txBox="1"/>
          <p:nvPr/>
        </p:nvSpPr>
        <p:spPr>
          <a:xfrm>
            <a:off x="2103120" y="1956816"/>
            <a:ext cx="3886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เวลาเตือนและ % ของ MED ตรงกับสูตร (ออกแดด 10:08 → เตือน 10:31 · 160 % เทียบ 162 %)</a:t>
            </a:r>
            <a:endParaRPr lang="en-US" sz="1300" dirty="0"/>
          </a:p>
        </p:txBody>
      </p:sp>
      <p:sp>
        <p:nvSpPr>
          <p:cNvPr id="11" name="dot-129"/>
          <p:cNvSpPr/>
          <p:nvPr/>
        </p:nvSpPr>
        <p:spPr>
          <a:xfrm>
            <a:off x="457200" y="2871216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p/>
        </p:txBody>
      </p:sp>
      <p:sp>
        <p:nvSpPr>
          <p:cNvPr id="12" name="dotlabel-130"/>
          <p:cNvSpPr txBox="1"/>
          <p:nvPr/>
        </p:nvSpPr>
        <p:spPr>
          <a:xfrm>
            <a:off x="457200" y="28712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13" name="text-131"/>
          <p:cNvSpPr txBox="1"/>
          <p:nvPr/>
        </p:nvSpPr>
        <p:spPr>
          <a:xfrm>
            <a:off x="1097280" y="2798064"/>
            <a:ext cx="1188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บั๊ก 4 ตัว</a:t>
            </a:r>
            <a:endParaRPr lang="en-US" sz="1400" dirty="0"/>
          </a:p>
        </p:txBody>
      </p:sp>
      <p:sp>
        <p:nvSpPr>
          <p:cNvPr id="14" name="text-132"/>
          <p:cNvSpPr txBox="1"/>
          <p:nvPr/>
        </p:nvSpPr>
        <p:spPr>
          <a:xfrm>
            <a:off x="2103120" y="2798064"/>
            <a:ext cx="3886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พบบนเครื่องจริงหลังเทสต์อัตโนมัติผ่านหมด แก้แล้วพร้อมเทสต์ (Jest 329 ข้อ)</a:t>
            </a:r>
            <a:endParaRPr lang="en-US" sz="1300" dirty="0"/>
          </a:p>
        </p:txBody>
      </p:sp>
      <p:sp>
        <p:nvSpPr>
          <p:cNvPr id="15" name="dot-133"/>
          <p:cNvSpPr/>
          <p:nvPr/>
        </p:nvSpPr>
        <p:spPr>
          <a:xfrm>
            <a:off x="457200" y="3712464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16" name="dotlabel-134"/>
          <p:cNvSpPr txBox="1"/>
          <p:nvPr/>
        </p:nvSpPr>
        <p:spPr>
          <a:xfrm>
            <a:off x="457200" y="37124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4</a:t>
            </a:r>
            <a:endParaRPr lang="en-US" sz="1200" dirty="0"/>
          </a:p>
        </p:txBody>
      </p:sp>
      <p:sp>
        <p:nvSpPr>
          <p:cNvPr id="17" name="text-135"/>
          <p:cNvSpPr txBox="1"/>
          <p:nvPr/>
        </p:nvSpPr>
        <p:spPr>
          <a:xfrm>
            <a:off x="1097280" y="3639312"/>
            <a:ext cx="1188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กล้อง</a:t>
            </a:r>
            <a:endParaRPr lang="en-US" sz="1400" dirty="0"/>
          </a:p>
        </p:txBody>
      </p:sp>
      <p:sp>
        <p:nvSpPr>
          <p:cNvPr id="18" name="text-136"/>
          <p:cNvSpPr txBox="1"/>
          <p:nvPr/>
        </p:nvSpPr>
        <p:spPr>
          <a:xfrm>
            <a:off x="2103120" y="3639312"/>
            <a:ext cx="3886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ภาพที่ส่งไม่มี EXIF · CNN ตอบ "เมฆบางสีขาว 100 %" ทั้ง 4 ภาพ ขณะฟ้าจริงเป็นเมฆบางส่วน</a:t>
            </a:r>
            <a:endParaRPr lang="en-US" sz="1300" dirty="0"/>
          </a:p>
        </p:txBody>
      </p:sp>
      <p:sp>
        <p:nvSpPr>
          <p:cNvPr id="19" name="text-137"/>
          <p:cNvSpPr txBox="1"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Galaxy S23 Ultra (Android 16) · development build · ปทุมธานี วันเดียว · ยังไม่ได้ทดสอบ: push จริง (FCM), iOS, สรุป 07:00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A50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6172200" y="1024128"/>
            <a:ext cx="2514600" cy="3310128"/>
          </a:xfrm>
          <a:prstGeom prst="roundRect">
            <a:avLst>
              <a:gd name="adj" fmla="val 6000"/>
            </a:avLst>
          </a:prstGeom>
          <a:solidFill>
            <a:srgbClr val="F2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55080" y="111556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B1F3B"/>
                </a:solidFill>
              </a:rPr>
              <a:t>ไทม์ไลน์วันทดสอบ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492240" y="1645920"/>
            <a:ext cx="0" cy="2194560"/>
          </a:xfrm>
          <a:prstGeom prst="line">
            <a:avLst/>
          </a:prstGeom>
          <a:ln w="25400">
            <a:solidFill>
              <a:srgbClr val="B8BC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6400800" y="1572768"/>
            <a:ext cx="182880" cy="182880"/>
          </a:xfrm>
          <a:prstGeom prst="ellipse">
            <a:avLst/>
          </a:prstGeom>
          <a:solidFill>
            <a:srgbClr val="3E9B4F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93408" y="1517904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3E9B4F"/>
                </a:solidFill>
              </a:rPr>
              <a:t>10:08</a:t>
            </a:r>
          </a:p>
          <a:p>
            <a:pPr algn="l"/>
            <a:r>
              <a:rPr sz="900" b="0">
                <a:solidFill>
                  <a:srgbClr val="1B1F3B"/>
                </a:solidFill>
              </a:rPr>
              <a:t>กด "ออกแดด"</a:t>
            </a:r>
          </a:p>
        </p:txBody>
      </p:sp>
      <p:sp>
        <p:nvSpPr>
          <p:cNvPr id="31" name="Oval 30"/>
          <p:cNvSpPr/>
          <p:nvPr/>
        </p:nvSpPr>
        <p:spPr>
          <a:xfrm>
            <a:off x="6400800" y="2121408"/>
            <a:ext cx="182880" cy="182880"/>
          </a:xfrm>
          <a:prstGeom prst="ellipse">
            <a:avLst/>
          </a:prstGeom>
          <a:solidFill>
            <a:srgbClr val="3E9B4F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93408" y="2066543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3E9B4F"/>
                </a:solidFill>
              </a:rPr>
              <a:t>10:31</a:t>
            </a:r>
          </a:p>
          <a:p>
            <a:pPr algn="l"/>
            <a:r>
              <a:rPr sz="900" b="0">
                <a:solidFill>
                  <a:srgbClr val="1B1F3B"/>
                </a:solidFill>
              </a:rPr>
              <a:t>เตือนผิวไหม้ (ตรงตามสูตร)</a:t>
            </a:r>
          </a:p>
        </p:txBody>
      </p:sp>
      <p:sp>
        <p:nvSpPr>
          <p:cNvPr id="33" name="Oval 32"/>
          <p:cNvSpPr/>
          <p:nvPr/>
        </p:nvSpPr>
        <p:spPr>
          <a:xfrm>
            <a:off x="6400800" y="2670048"/>
            <a:ext cx="182880" cy="182880"/>
          </a:xfrm>
          <a:prstGeom prst="ellipse">
            <a:avLst/>
          </a:prstGeom>
          <a:solidFill>
            <a:srgbClr val="F28C2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93408" y="2615184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F28C28"/>
                </a:solidFill>
              </a:rPr>
              <a:t>11:51</a:t>
            </a:r>
          </a:p>
          <a:p>
            <a:pPr algn="l"/>
            <a:r>
              <a:rPr sz="900" b="0">
                <a:solidFill>
                  <a:srgbClr val="1B1F3B"/>
                </a:solidFill>
              </a:rPr>
              <a:t>แจ้ง "ใกล้ถึงเวลาผิวไหม้"</a:t>
            </a:r>
          </a:p>
        </p:txBody>
      </p:sp>
      <p:sp>
        <p:nvSpPr>
          <p:cNvPr id="35" name="Oval 34"/>
          <p:cNvSpPr/>
          <p:nvPr/>
        </p:nvSpPr>
        <p:spPr>
          <a:xfrm>
            <a:off x="6400800" y="3218687"/>
            <a:ext cx="182880" cy="182880"/>
          </a:xfrm>
          <a:prstGeom prst="ellipse">
            <a:avLst/>
          </a:prstGeom>
          <a:solidFill>
            <a:srgbClr val="F28C2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93408" y="3163823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F28C28"/>
                </a:solidFill>
              </a:rPr>
              <a:t>11:54</a:t>
            </a:r>
          </a:p>
          <a:p>
            <a:pPr algn="l"/>
            <a:r>
              <a:rPr sz="900" b="0">
                <a:solidFill>
                  <a:srgbClr val="1B1F3B"/>
                </a:solidFill>
              </a:rPr>
              <a:t>แจ้ง "ทาครีมซ้ำ"</a:t>
            </a:r>
          </a:p>
        </p:txBody>
      </p:sp>
      <p:sp>
        <p:nvSpPr>
          <p:cNvPr id="37" name="Oval 36"/>
          <p:cNvSpPr/>
          <p:nvPr/>
        </p:nvSpPr>
        <p:spPr>
          <a:xfrm>
            <a:off x="6400800" y="3767328"/>
            <a:ext cx="182880" cy="182880"/>
          </a:xfrm>
          <a:prstGeom prst="ellipse">
            <a:avLst/>
          </a:prstGeom>
          <a:solidFill>
            <a:srgbClr val="D22F3A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93408" y="3712464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D22F3A"/>
                </a:solidFill>
              </a:rPr>
              <a:t>15:09</a:t>
            </a:r>
          </a:p>
          <a:p>
            <a:pPr algn="l"/>
            <a:r>
              <a:rPr sz="900" b="0">
                <a:solidFill>
                  <a:srgbClr val="1B1F3B"/>
                </a:solidFill>
              </a:rPr>
              <a:t>แจ้ง "UV ลดลงแล้ว" (ช้า 9 นาที)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ภาพจากมือถือจริง (4 ต.ค. 2026)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A50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  <p:pic>
        <p:nvPicPr>
          <p:cNvPr id="26" name="shot-02" descr="หน้าหลัก 10:06: UVI 7.1 และแถบเตือนตามค่าบน (q90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1456969" cy="2926080"/>
          </a:xfrm>
          <a:prstGeom prst="rect">
            <a:avLst/>
          </a:prstGeom>
        </p:spPr>
      </p:pic>
      <p:sp>
        <p:nvSpPr>
          <p:cNvPr id="19" name="text-137"/>
          <p:cNvSpPr txBox="1"/>
          <p:nvPr/>
        </p:nvSpPr>
        <p:spPr>
          <a:xfrm>
            <a:off x="347472" y="4023359"/>
            <a:ext cx="173128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หน้าหลัก 10:06: UVI 7.1 และแถบเตือนตามค่าบน (q90)</a:t>
            </a:r>
            <a:endParaRPr lang="en-US" sz="1050" dirty="0"/>
          </a:p>
        </p:txBody>
      </p:sp>
      <p:pic>
        <p:nvPicPr>
          <p:cNvPr id="27" name="shot-04" descr="การ์ด &quot;อยู่กลางแจ้ง&quot; 10:33 (ภาพก่อนแก้บั๊ก % ค้าง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8217" y="1051560"/>
            <a:ext cx="1456969" cy="2926080"/>
          </a:xfrm>
          <a:prstGeom prst="rect">
            <a:avLst/>
          </a:prstGeom>
        </p:spPr>
      </p:pic>
      <p:sp>
        <p:nvSpPr>
          <p:cNvPr id="19" name="text-137"/>
          <p:cNvSpPr txBox="1"/>
          <p:nvPr/>
        </p:nvSpPr>
        <p:spPr>
          <a:xfrm>
            <a:off x="2188489" y="4023359"/>
            <a:ext cx="173128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การ์ด "อยู่กลางแจ้ง" 10:33 (ภาพก่อนแก้บั๊ก % ค้าง)</a:t>
            </a:r>
            <a:endParaRPr lang="en-US" sz="1050" dirty="0"/>
          </a:p>
        </p:txBody>
      </p:sp>
      <p:pic>
        <p:nvPicPr>
          <p:cNvPr id="28" name="shot-06" descr="ถ่ายท้องฟ้า: ผลจาก CNN และป้ายมุมต่ำ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39234" y="1051560"/>
            <a:ext cx="1456969" cy="2926080"/>
          </a:xfrm>
          <a:prstGeom prst="rect">
            <a:avLst/>
          </a:prstGeom>
        </p:spPr>
      </p:pic>
      <p:sp>
        <p:nvSpPr>
          <p:cNvPr id="19" name="text-137"/>
          <p:cNvSpPr txBox="1"/>
          <p:nvPr/>
        </p:nvSpPr>
        <p:spPr>
          <a:xfrm>
            <a:off x="4029506" y="4023359"/>
            <a:ext cx="173128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ถ่ายท้องฟ้า: ผลจาก CNN และป้ายมุมต่ำ</a:t>
            </a:r>
            <a:endParaRPr lang="en-US" sz="1050" dirty="0"/>
          </a:p>
        </p:txBody>
      </p:sp>
      <p:pic>
        <p:nvPicPr>
          <p:cNvPr id="29" name="shot-09" descr="แจ้งเตือนทาครีมซ้ำ 11:54 และใกล้ถึงเวลาผิวไหม้ 11:5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0251" y="1051560"/>
            <a:ext cx="2706548" cy="1375829"/>
          </a:xfrm>
          <a:prstGeom prst="rect">
            <a:avLst/>
          </a:prstGeom>
        </p:spPr>
      </p:pic>
      <p:sp>
        <p:nvSpPr>
          <p:cNvPr id="19" name="text-137"/>
          <p:cNvSpPr txBox="1"/>
          <p:nvPr/>
        </p:nvSpPr>
        <p:spPr>
          <a:xfrm>
            <a:off x="5888811" y="2454820"/>
            <a:ext cx="28894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แจ้งเตือน "ทาครีมซ้ำ" 11:54 และ "ใกล้ถึงเวลาผิวไหม้" 11:51</a:t>
            </a:r>
            <a:endParaRPr lang="en-US" sz="1050" dirty="0"/>
          </a:p>
        </p:txBody>
      </p:sp>
      <p:pic>
        <p:nvPicPr>
          <p:cNvPr id="30" name="shot-10" descr="แจ้งเตือน UV ลดลงแล้ว ตั้งแต่ 15:00 ได้รับ 15:0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80251" y="2976028"/>
            <a:ext cx="2706548" cy="620251"/>
          </a:xfrm>
          <a:prstGeom prst="rect">
            <a:avLst/>
          </a:prstGeom>
        </p:spPr>
      </p:pic>
      <p:sp>
        <p:nvSpPr>
          <p:cNvPr id="19" name="text-137"/>
          <p:cNvSpPr txBox="1"/>
          <p:nvPr/>
        </p:nvSpPr>
        <p:spPr>
          <a:xfrm>
            <a:off x="5888811" y="3623711"/>
            <a:ext cx="28894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แจ้งเตือน "UV ลดลงแล้ว ตั้งแต่ 15:00" ได้รับ 15:09 (ช้า 9 นาที)</a:t>
            </a:r>
            <a:endParaRPr lang="en-US" sz="1050" dirty="0"/>
          </a:p>
        </p:txBody>
      </p:sp>
      <p:sp>
        <p:nvSpPr>
          <p:cNvPr id="19" name="text-137"/>
          <p:cNvSpPr txBox="1"/>
          <p:nvPr/>
        </p:nvSpPr>
        <p:spPr>
          <a:xfrm>
            <a:off x="5888811" y="4163207"/>
            <a:ext cx="28894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ตัดแถบสถานะของมือถือออก · ปุ่มเฟืองสีเทาเป็นปุ่มเครื่องมือของ development build ไม่ใช่ส่วนของแอป</a:t>
            </a:r>
            <a:endParaRPr lang="en-US" sz="1050" dirty="0"/>
          </a:p>
        </p:txBody>
      </p:sp>
      <p:sp>
        <p:nvSpPr>
          <p:cNvPr id="31" name="Rounded Rectangle 30"/>
          <p:cNvSpPr/>
          <p:nvPr/>
        </p:nvSpPr>
        <p:spPr>
          <a:xfrm>
            <a:off x="502920" y="1097280"/>
            <a:ext cx="1130198" cy="219456"/>
          </a:xfrm>
          <a:prstGeom prst="roundRect">
            <a:avLst>
              <a:gd name="adj" fmla="val 50000"/>
            </a:avLst>
          </a:prstGeom>
          <a:solidFill>
            <a:srgbClr val="3E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1097280"/>
            <a:ext cx="1130198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</a:rPr>
              <a:t>ค่า + ช่วง q10–q90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343936" y="1097280"/>
            <a:ext cx="903427" cy="219456"/>
          </a:xfrm>
          <a:prstGeom prst="roundRect">
            <a:avLst>
              <a:gd name="adj" fmla="val 50000"/>
            </a:avLst>
          </a:prstGeom>
          <a:solidFill>
            <a:srgbClr val="D9A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343936" y="1097280"/>
            <a:ext cx="903427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</a:rPr>
              <a:t>ภาพก่อนแก้บั๊ก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184953" y="1097280"/>
            <a:ext cx="1186891" cy="219456"/>
          </a:xfrm>
          <a:prstGeom prst="roundRect">
            <a:avLst>
              <a:gd name="adj" fmla="val 50000"/>
            </a:avLst>
          </a:prstGeom>
          <a:solidFill>
            <a:srgbClr val="8A3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184953" y="1097280"/>
            <a:ext cx="1186891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</a:rPr>
              <a:t>CNN: ประกอบเท่านั้น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025971" y="1097280"/>
            <a:ext cx="1130198" cy="219456"/>
          </a:xfrm>
          <a:prstGeom prst="roundRect">
            <a:avLst>
              <a:gd name="adj" fmla="val 50000"/>
            </a:avLst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025971" y="1097280"/>
            <a:ext cx="1130198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</a:rPr>
              <a:t>แจ้งเตือนในเครื่อง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การทดลองเสริม: เมฆจากดาวเทียม Himawari-9</a:t>
            </a:r>
            <a:endParaRPr lang="en-US" sz="2600" dirty="0"/>
          </a:p>
        </p:txBody>
      </p:sp>
      <p:sp>
        <p:nvSpPr>
          <p:cNvPr id="3" name="dot-121"/>
          <p:cNvSpPr/>
          <p:nvPr/>
        </p:nvSpPr>
        <p:spPr>
          <a:xfrm>
            <a:off x="457200" y="118872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p/>
        </p:txBody>
      </p:sp>
      <p:sp>
        <p:nvSpPr>
          <p:cNvPr id="4" name="dotlabel-122"/>
          <p:cNvSpPr txBox="1"/>
          <p:nvPr/>
        </p:nvSpPr>
        <p:spPr>
          <a:xfrm>
            <a:off x="457200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5" name="text-123"/>
          <p:cNvSpPr txBox="1"/>
          <p:nvPr/>
        </p:nvSpPr>
        <p:spPr>
          <a:xfrm>
            <a:off x="1097280" y="1115568"/>
            <a:ext cx="1188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คำถาม</a:t>
            </a:r>
            <a:endParaRPr lang="en-US" sz="1400" dirty="0"/>
          </a:p>
        </p:txBody>
      </p:sp>
      <p:sp>
        <p:nvSpPr>
          <p:cNvPr id="6" name="text-124"/>
          <p:cNvSpPr txBox="1"/>
          <p:nvPr/>
        </p:nvSpPr>
        <p:spPr>
          <a:xfrm>
            <a:off x="2103120" y="1115568"/>
            <a:ext cx="3520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เพิ่มข้อมูลดาวเทียม (5 กม., ทุก 10 นาที) เป็น feature แล้ว MAE ดีขึ้นจริงไหม · ประกาศเกณฑ์ก่อนดู test</a:t>
            </a:r>
            <a:endParaRPr lang="en-US" sz="1300" dirty="0"/>
          </a:p>
        </p:txBody>
      </p:sp>
      <p:sp>
        <p:nvSpPr>
          <p:cNvPr id="7" name="dot-125"/>
          <p:cNvSpPr/>
          <p:nvPr/>
        </p:nvSpPr>
        <p:spPr>
          <a:xfrm>
            <a:off x="457200" y="2029968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p/>
        </p:txBody>
      </p:sp>
      <p:sp>
        <p:nvSpPr>
          <p:cNvPr id="8" name="dotlabel-126"/>
          <p:cNvSpPr txBox="1"/>
          <p:nvPr/>
        </p:nvSpPr>
        <p:spPr>
          <a:xfrm>
            <a:off x="457200" y="2029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9" name="text-127"/>
          <p:cNvSpPr txBox="1"/>
          <p:nvPr/>
        </p:nvSpPr>
        <p:spPr>
          <a:xfrm>
            <a:off x="1097280" y="1956816"/>
            <a:ext cx="1188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Dev</a:t>
            </a:r>
            <a:endParaRPr lang="en-US" sz="1400" dirty="0"/>
          </a:p>
        </p:txBody>
      </p:sp>
      <p:sp>
        <p:nvSpPr>
          <p:cNvPr id="10" name="text-128"/>
          <p:cNvSpPr txBox="1"/>
          <p:nvPr/>
        </p:nvSpPr>
        <p:spPr>
          <a:xfrm>
            <a:off x="2103120" y="1956816"/>
            <a:ext cx="3520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MAE 0.451 → 0.411 (ดีขึ้น 0.040, 95 % CI 0.031–0.049) ผ่านทุกข้อ จึงไปต่อ</a:t>
            </a:r>
            <a:endParaRPr lang="en-US" sz="1300" dirty="0"/>
          </a:p>
        </p:txBody>
      </p:sp>
      <p:sp>
        <p:nvSpPr>
          <p:cNvPr id="11" name="dot-129"/>
          <p:cNvSpPr/>
          <p:nvPr/>
        </p:nvSpPr>
        <p:spPr>
          <a:xfrm>
            <a:off x="457200" y="2871216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p/>
        </p:txBody>
      </p:sp>
      <p:sp>
        <p:nvSpPr>
          <p:cNvPr id="12" name="dotlabel-130"/>
          <p:cNvSpPr txBox="1"/>
          <p:nvPr/>
        </p:nvSpPr>
        <p:spPr>
          <a:xfrm>
            <a:off x="457200" y="28712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13" name="text-131"/>
          <p:cNvSpPr txBox="1"/>
          <p:nvPr/>
        </p:nvSpPr>
        <p:spPr>
          <a:xfrm>
            <a:off x="1097280" y="2798064"/>
            <a:ext cx="1188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Test</a:t>
            </a:r>
            <a:endParaRPr lang="en-US" sz="1400" dirty="0"/>
          </a:p>
        </p:txBody>
      </p:sp>
      <p:sp>
        <p:nvSpPr>
          <p:cNvPr id="14" name="text-132"/>
          <p:cNvSpPr txBox="1"/>
          <p:nvPr/>
        </p:nvSpPr>
        <p:spPr>
          <a:xfrm>
            <a:off x="2103120" y="2798064"/>
            <a:ext cx="3520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ม.ค.–มิ.ย. 1,845 ชม.: 0.461 → 0.454 ดีขึ้นแค่ 0.007 (เกณฑ์ &gt; 0.02) CI คร่อม 0 → ไม่ผ่าน ไม่ใส่ในแอป</a:t>
            </a:r>
            <a:endParaRPr lang="en-US" sz="1300" dirty="0"/>
          </a:p>
        </p:txBody>
      </p:sp>
      <p:sp>
        <p:nvSpPr>
          <p:cNvPr id="15" name="dot-133"/>
          <p:cNvSpPr/>
          <p:nvPr/>
        </p:nvSpPr>
        <p:spPr>
          <a:xfrm>
            <a:off x="457200" y="3712464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16" name="dotlabel-134"/>
          <p:cNvSpPr txBox="1"/>
          <p:nvPr/>
        </p:nvSpPr>
        <p:spPr>
          <a:xfrm>
            <a:off x="457200" y="37124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4</a:t>
            </a:r>
            <a:endParaRPr lang="en-US" sz="1200" dirty="0"/>
          </a:p>
        </p:txBody>
      </p:sp>
      <p:sp>
        <p:nvSpPr>
          <p:cNvPr id="17" name="text-135"/>
          <p:cNvSpPr txBox="1"/>
          <p:nvPr/>
        </p:nvSpPr>
        <p:spPr>
          <a:xfrm>
            <a:off x="1097280" y="3639312"/>
            <a:ext cx="1188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โมเดลหลัก</a:t>
            </a:r>
            <a:endParaRPr lang="en-US" sz="1400" dirty="0"/>
          </a:p>
        </p:txBody>
      </p:sp>
      <p:sp>
        <p:nvSpPr>
          <p:cNvPr id="18" name="text-136"/>
          <p:cNvSpPr txBox="1"/>
          <p:nvPr/>
        </p:nvSpPr>
        <p:spPr>
          <a:xfrm>
            <a:off x="2103120" y="3639312"/>
            <a:ext cx="3520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บนข้อมูลใหม่ 2026 ได้ MAE 0.470 (test 2025: 0.479) ยืนยันว่าไม่ได้ดีเฉพาะปีเดียว</a:t>
            </a:r>
            <a:endParaRPr lang="en-US" sz="1300" dirty="0"/>
          </a:p>
        </p:txBody>
      </p:sp>
      <p:sp>
        <p:nvSpPr>
          <p:cNvPr id="19" name="text-137"/>
          <p:cNvSpPr txBox="1"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branch exp/himawari-sat-features · Open-Meteo Satellite Radiation API (CC BY 4.0), Himawari-9 data: JAXA P-Tree, JMA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A50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852160" y="1024128"/>
            <a:ext cx="2834640" cy="3200400"/>
          </a:xfrm>
          <a:prstGeom prst="roundRect">
            <a:avLst>
              <a:gd name="adj" fmla="val 6000"/>
            </a:avLst>
          </a:prstGeom>
          <a:solidFill>
            <a:srgbClr val="F2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35040" y="1097280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1B1F3B"/>
                </a:solidFill>
              </a:rPr>
              <a:t>MAE ลดลงเท่าไร</a:t>
            </a:r>
          </a:p>
          <a:p>
            <a:pPr algn="l"/>
            <a:r>
              <a:rPr sz="850" b="0">
                <a:solidFill>
                  <a:srgbClr val="4A5070"/>
                </a:solidFill>
              </a:rPr>
              <a:t>จุด = ค่าเฉลี่ย · เส้น = ช่วงความเชื่อมั่น 95 %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560820" y="1783080"/>
            <a:ext cx="0" cy="1463040"/>
          </a:xfrm>
          <a:prstGeom prst="line">
            <a:avLst/>
          </a:prstGeom>
          <a:ln w="15875">
            <a:solidFill>
              <a:srgbClr val="B8BC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7338060" y="1783080"/>
            <a:ext cx="0" cy="1463040"/>
          </a:xfrm>
          <a:prstGeom prst="line">
            <a:avLst/>
          </a:prstGeom>
          <a:ln w="19050">
            <a:solidFill>
              <a:srgbClr val="F28C2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926580" y="1600200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1">
                <a:solidFill>
                  <a:srgbClr val="E36B12"/>
                </a:solidFill>
              </a:rPr>
              <a:t>เกณฑ์ 0.02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72200" y="1901952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3E9B4F"/>
                </a:solidFill>
              </a:rPr>
              <a:t>Dev 2024 ผ่าน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95260" y="237744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3E9B4F"/>
                </a:solidFill>
              </a:rPr>
              <a:t>+0.040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7765542" y="2267712"/>
            <a:ext cx="699516" cy="0"/>
          </a:xfrm>
          <a:prstGeom prst="line">
            <a:avLst/>
          </a:prstGeom>
          <a:ln w="31750">
            <a:solidFill>
              <a:srgbClr val="3E9B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7765542" y="2194560"/>
            <a:ext cx="0" cy="146304"/>
          </a:xfrm>
          <a:prstGeom prst="line">
            <a:avLst/>
          </a:prstGeom>
          <a:ln w="25400">
            <a:solidFill>
              <a:srgbClr val="3E9B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8465058" y="2194560"/>
            <a:ext cx="0" cy="146304"/>
          </a:xfrm>
          <a:prstGeom prst="line">
            <a:avLst/>
          </a:prstGeom>
          <a:ln w="25400">
            <a:solidFill>
              <a:srgbClr val="3E9B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Oval 35"/>
          <p:cNvSpPr/>
          <p:nvPr/>
        </p:nvSpPr>
        <p:spPr>
          <a:xfrm>
            <a:off x="8033004" y="2185416"/>
            <a:ext cx="164592" cy="164592"/>
          </a:xfrm>
          <a:prstGeom prst="ellipse">
            <a:avLst/>
          </a:prstGeom>
          <a:solidFill>
            <a:srgbClr val="3E9B4F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72200" y="2587752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D22F3A"/>
                </a:solidFill>
              </a:rPr>
              <a:t>Test 2026 ไม่ผ่าน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12814" y="306324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D22F3A"/>
                </a:solidFill>
              </a:rPr>
              <a:t>+0.007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6288786" y="2953512"/>
            <a:ext cx="1049274" cy="0"/>
          </a:xfrm>
          <a:prstGeom prst="line">
            <a:avLst/>
          </a:prstGeom>
          <a:ln w="31750">
            <a:solidFill>
              <a:srgbClr val="D22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6288786" y="2880360"/>
            <a:ext cx="0" cy="146304"/>
          </a:xfrm>
          <a:prstGeom prst="line">
            <a:avLst/>
          </a:prstGeom>
          <a:ln w="25400">
            <a:solidFill>
              <a:srgbClr val="D22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7338060" y="2880360"/>
            <a:ext cx="0" cy="146304"/>
          </a:xfrm>
          <a:prstGeom prst="line">
            <a:avLst/>
          </a:prstGeom>
          <a:ln w="25400">
            <a:solidFill>
              <a:srgbClr val="D22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>
            <a:off x="6750558" y="2871216"/>
            <a:ext cx="164592" cy="164592"/>
          </a:xfrm>
          <a:prstGeom prst="ellipse">
            <a:avLst/>
          </a:prstGeom>
          <a:solidFill>
            <a:srgbClr val="D22F3A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86500" y="3291840"/>
            <a:ext cx="548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4A5070"/>
                </a:solidFill>
              </a:rPr>
              <a:t>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63740" y="3291840"/>
            <a:ext cx="548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4A5070"/>
                </a:solidFill>
              </a:rPr>
              <a:t>0.02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840979" y="3291840"/>
            <a:ext cx="548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4A5070"/>
                </a:solidFill>
              </a:rPr>
              <a:t>0.04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035040" y="3584448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1B1F3B"/>
                </a:solidFill>
              </a:rPr>
              <a:t>เส้นของ Test คร่อม 0 = บอกไม่ได้ว่าดีขึ้นจริง จึงไม่ใส่ในแอป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ข้อจำกัด</a:t>
            </a:r>
            <a:endParaRPr lang="en-US" sz="2600" dirty="0"/>
          </a:p>
        </p:txBody>
      </p:sp>
      <p:sp>
        <p:nvSpPr>
          <p:cNvPr id="3" name="card-138"/>
          <p:cNvSpPr/>
          <p:nvPr/>
        </p:nvSpPr>
        <p:spPr>
          <a:xfrm>
            <a:off x="457200" y="1051560"/>
            <a:ext cx="402336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-139"/>
          <p:cNvSpPr txBox="1"/>
          <p:nvPr/>
        </p:nvSpPr>
        <p:spPr>
          <a:xfrm>
            <a:off x="658368" y="1179576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ไม่มีเครื่องวัด UV จริง</a:t>
            </a:r>
            <a:endParaRPr lang="en-US" sz="1300" dirty="0"/>
          </a:p>
        </p:txBody>
      </p:sp>
      <p:sp>
        <p:nvSpPr>
          <p:cNvPr id="5" name="text-140"/>
          <p:cNvSpPr txBox="1"/>
          <p:nvPr/>
        </p:nvSpPr>
        <p:spPr>
          <a:xfrm>
            <a:off x="658368" y="152704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Target และตัวตรวจเป็นข้อมูลดาวเทียม/แบบจำลองทั้งหมด</a:t>
            </a:r>
            <a:endParaRPr lang="en-US" sz="1100" dirty="0"/>
          </a:p>
        </p:txBody>
      </p:sp>
      <p:sp>
        <p:nvSpPr>
          <p:cNvPr id="6" name="card-141"/>
          <p:cNvSpPr/>
          <p:nvPr/>
        </p:nvSpPr>
        <p:spPr>
          <a:xfrm>
            <a:off x="4663440" y="1051560"/>
            <a:ext cx="402336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-142"/>
          <p:cNvSpPr txBox="1"/>
          <p:nvPr/>
        </p:nvSpPr>
        <p:spPr>
          <a:xfrm>
            <a:off x="4864608" y="1179576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ค่าต่ำกว่าจริงวันฟ้าใส</a:t>
            </a:r>
            <a:endParaRPr lang="en-US" sz="1300" dirty="0"/>
          </a:p>
        </p:txBody>
      </p:sp>
      <p:sp>
        <p:nvSpPr>
          <p:cNvPr id="8" name="text-143"/>
          <p:cNvSpPr txBox="1"/>
          <p:nvPr/>
        </p:nvSpPr>
        <p:spPr>
          <a:xfrm>
            <a:off x="4864608" y="152704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−1.36 UVI เทียบ TEMIS (สืบทอดจาก NASA POWER −1.58)</a:t>
            </a:r>
            <a:endParaRPr lang="en-US" sz="1100" dirty="0"/>
          </a:p>
        </p:txBody>
      </p:sp>
      <p:sp>
        <p:nvSpPr>
          <p:cNvPr id="9" name="card-144"/>
          <p:cNvSpPr/>
          <p:nvPr/>
        </p:nvSpPr>
        <p:spPr>
          <a:xfrm>
            <a:off x="457200" y="2212848"/>
            <a:ext cx="402336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-145"/>
          <p:cNvSpPr txBox="1"/>
          <p:nvPr/>
        </p:nvSpPr>
        <p:spPr>
          <a:xfrm>
            <a:off x="658368" y="2340864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ที่เดียว ปีเดียว</a:t>
            </a:r>
            <a:endParaRPr lang="en-US" sz="1300" dirty="0"/>
          </a:p>
        </p:txBody>
      </p:sp>
      <p:sp>
        <p:nvSpPr>
          <p:cNvPr id="11" name="text-146"/>
          <p:cNvSpPr txBox="1"/>
          <p:nvPr/>
        </p:nvSpPr>
        <p:spPr>
          <a:xfrm>
            <a:off x="658368" y="2688336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ฝึกและทดสอบที่ปทุมธานี · ภาคสนามวันเดียว มือถือเครื่องเดียว</a:t>
            </a:r>
            <a:endParaRPr lang="en-US" sz="1100" dirty="0"/>
          </a:p>
        </p:txBody>
      </p:sp>
      <p:sp>
        <p:nvSpPr>
          <p:cNvPr id="12" name="card-147"/>
          <p:cNvSpPr/>
          <p:nvPr/>
        </p:nvSpPr>
        <p:spPr>
          <a:xfrm>
            <a:off x="4663440" y="2212848"/>
            <a:ext cx="402336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-148"/>
          <p:cNvSpPr txBox="1"/>
          <p:nvPr/>
        </p:nvSpPr>
        <p:spPr>
          <a:xfrm>
            <a:off x="4864608" y="2340864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ระดับรุนแรงมากมีน้อย</a:t>
            </a:r>
            <a:endParaRPr lang="en-US" sz="1300" dirty="0"/>
          </a:p>
        </p:txBody>
      </p:sp>
      <p:sp>
        <p:nvSpPr>
          <p:cNvPr id="14" name="text-149"/>
          <p:cNvSpPr txBox="1"/>
          <p:nvPr/>
        </p:nvSpPr>
        <p:spPr>
          <a:xfrm>
            <a:off x="4864608" y="2688336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23 ชั่วโมงในปี 2025 · precision 0.17</a:t>
            </a:r>
            <a:endParaRPr lang="en-US" sz="1100" dirty="0"/>
          </a:p>
        </p:txBody>
      </p:sp>
      <p:sp>
        <p:nvSpPr>
          <p:cNvPr id="15" name="card-150"/>
          <p:cNvSpPr/>
          <p:nvPr/>
        </p:nvSpPr>
        <p:spPr>
          <a:xfrm>
            <a:off x="457200" y="3374136"/>
            <a:ext cx="402336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-151"/>
          <p:cNvSpPr txBox="1"/>
          <p:nvPr/>
        </p:nvSpPr>
        <p:spPr>
          <a:xfrm>
            <a:off x="658368" y="3502152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พยากรณ์จาก run แรก</a:t>
            </a:r>
            <a:endParaRPr lang="en-US" sz="1300" dirty="0"/>
          </a:p>
        </p:txBody>
      </p:sp>
      <p:sp>
        <p:nvSpPr>
          <p:cNvPr id="17" name="text-152"/>
          <p:cNvSpPr txBox="1"/>
          <p:nvPr/>
        </p:nvSpPr>
        <p:spPr>
          <a:xfrm>
            <a:off x="658368" y="3849624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Historical Forecast API ไม่ใช่พยากรณ์ล่วงหน้า 24 ชม. จริง</a:t>
            </a:r>
            <a:endParaRPr lang="en-US" sz="1100" dirty="0"/>
          </a:p>
        </p:txBody>
      </p:sp>
      <p:sp>
        <p:nvSpPr>
          <p:cNvPr id="18" name="card-153"/>
          <p:cNvSpPr/>
          <p:nvPr/>
        </p:nvSpPr>
        <p:spPr>
          <a:xfrm>
            <a:off x="4663440" y="3374136"/>
            <a:ext cx="402336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text-154"/>
          <p:cNvSpPr txBox="1"/>
          <p:nvPr/>
        </p:nvSpPr>
        <p:spPr>
          <a:xfrm>
            <a:off x="4864608" y="3502152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CNN กับภาพมือถือ</a:t>
            </a:r>
            <a:endParaRPr lang="en-US" sz="1300" dirty="0"/>
          </a:p>
        </p:txBody>
      </p:sp>
      <p:sp>
        <p:nvSpPr>
          <p:cNvPr id="20" name="text-155"/>
          <p:cNvSpPr txBox="1"/>
          <p:nvPr/>
        </p:nvSpPr>
        <p:spPr>
          <a:xfrm>
            <a:off x="4864608" y="3849624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4 จาก 4 ภาพจากมือถือได้ "เมฆบางสีขาว 100 %" ยังไม่ได้วัดผลกับภาพจากมือถือ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A50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  <p:sp>
        <p:nvSpPr>
          <p:cNvPr id="26" name="Oval 25"/>
          <p:cNvSpPr/>
          <p:nvPr/>
        </p:nvSpPr>
        <p:spPr>
          <a:xfrm>
            <a:off x="3822192" y="1298448"/>
            <a:ext cx="512064" cy="512064"/>
          </a:xfrm>
          <a:prstGeom prst="ellipse">
            <a:avLst/>
          </a:prstGeom>
          <a:solidFill>
            <a:srgbClr val="FBE3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ruler_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920" y="1408176"/>
            <a:ext cx="292608" cy="292608"/>
          </a:xfrm>
          <a:prstGeom prst="rect">
            <a:avLst/>
          </a:prstGeom>
        </p:spPr>
      </p:pic>
      <p:sp>
        <p:nvSpPr>
          <p:cNvPr id="28" name="Oval 27"/>
          <p:cNvSpPr/>
          <p:nvPr/>
        </p:nvSpPr>
        <p:spPr>
          <a:xfrm>
            <a:off x="8028431" y="1298448"/>
            <a:ext cx="512064" cy="512064"/>
          </a:xfrm>
          <a:prstGeom prst="ellipse">
            <a:avLst/>
          </a:prstGeom>
          <a:solidFill>
            <a:srgbClr val="FBE3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temp_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60" y="1408176"/>
            <a:ext cx="292608" cy="292608"/>
          </a:xfrm>
          <a:prstGeom prst="rect">
            <a:avLst/>
          </a:prstGeom>
        </p:spPr>
      </p:pic>
      <p:sp>
        <p:nvSpPr>
          <p:cNvPr id="30" name="Oval 29"/>
          <p:cNvSpPr/>
          <p:nvPr/>
        </p:nvSpPr>
        <p:spPr>
          <a:xfrm>
            <a:off x="3822192" y="2459736"/>
            <a:ext cx="512064" cy="512064"/>
          </a:xfrm>
          <a:prstGeom prst="ellipse">
            <a:avLst/>
          </a:prstGeom>
          <a:solidFill>
            <a:srgbClr val="FBE3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map_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31920" y="2569464"/>
            <a:ext cx="292608" cy="292608"/>
          </a:xfrm>
          <a:prstGeom prst="rect">
            <a:avLst/>
          </a:prstGeom>
        </p:spPr>
      </p:pic>
      <p:sp>
        <p:nvSpPr>
          <p:cNvPr id="32" name="Oval 31"/>
          <p:cNvSpPr/>
          <p:nvPr/>
        </p:nvSpPr>
        <p:spPr>
          <a:xfrm>
            <a:off x="8028431" y="2459736"/>
            <a:ext cx="512064" cy="512064"/>
          </a:xfrm>
          <a:prstGeom prst="ellipse">
            <a:avLst/>
          </a:prstGeom>
          <a:solidFill>
            <a:srgbClr val="FBE3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warn_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38160" y="2569464"/>
            <a:ext cx="292608" cy="292608"/>
          </a:xfrm>
          <a:prstGeom prst="rect">
            <a:avLst/>
          </a:prstGeom>
        </p:spPr>
      </p:pic>
      <p:sp>
        <p:nvSpPr>
          <p:cNvPr id="34" name="Oval 33"/>
          <p:cNvSpPr/>
          <p:nvPr/>
        </p:nvSpPr>
        <p:spPr>
          <a:xfrm>
            <a:off x="3822192" y="3621024"/>
            <a:ext cx="512064" cy="512064"/>
          </a:xfrm>
          <a:prstGeom prst="ellipse">
            <a:avLst/>
          </a:prstGeom>
          <a:solidFill>
            <a:srgbClr val="FBE3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clock_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31920" y="3730752"/>
            <a:ext cx="292608" cy="292608"/>
          </a:xfrm>
          <a:prstGeom prst="rect">
            <a:avLst/>
          </a:prstGeom>
        </p:spPr>
      </p:pic>
      <p:sp>
        <p:nvSpPr>
          <p:cNvPr id="36" name="Oval 35"/>
          <p:cNvSpPr/>
          <p:nvPr/>
        </p:nvSpPr>
        <p:spPr>
          <a:xfrm>
            <a:off x="8028431" y="3621024"/>
            <a:ext cx="512064" cy="512064"/>
          </a:xfrm>
          <a:prstGeom prst="ellipse">
            <a:avLst/>
          </a:prstGeom>
          <a:solidFill>
            <a:srgbClr val="FBE3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camera_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38160" y="3730752"/>
            <a:ext cx="292608" cy="29260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t-156"/>
          <p:cNvSpPr/>
          <p:nvPr/>
        </p:nvSpPr>
        <p:spPr>
          <a:xfrm>
            <a:off x="7086600" y="502920"/>
            <a:ext cx="1371600" cy="13716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3" name="halo-157"/>
          <p:cNvSpPr/>
          <p:nvPr/>
        </p:nvSpPr>
        <p:spPr>
          <a:xfrm>
            <a:off x="6720840" y="137160"/>
            <a:ext cx="2103120" cy="2103120"/>
          </a:xfrm>
          <a:prstGeom prst="ellipse">
            <a:avLst/>
          </a:prstGeom>
          <a:solidFill>
            <a:schemeClr val="accent1">
              <a:alpha val="20000"/>
            </a:schemeClr>
          </a:solidFill>
          <a:ln w="12700">
            <a:solidFill>
              <a:schemeClr val="accent1">
                <a:alpha val="20000"/>
              </a:schemeClr>
            </a:solidFill>
            <a:prstDash val="solid"/>
          </a:ln>
        </p:spPr>
        <p:txBody>
          <a:bodyPr/>
          <a:p/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141732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สรุป</a:t>
            </a:r>
            <a:endParaRPr lang="en-US" sz="44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548640" y="25146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ประเมิน UV และเตือนก่อนผิวไหม้ ด้วยสมาร์ทโฟนเครื่องเดียว</a:t>
            </a:r>
            <a:endParaRPr lang="en-US" sz="1800" dirty="0"/>
          </a:p>
        </p:txBody>
      </p:sp>
      <p:sp>
        <p:nvSpPr>
          <p:cNvPr id="6" name="text-158"/>
          <p:cNvSpPr txBox="1"/>
          <p:nvPr/>
        </p:nvSpPr>
        <p:spPr>
          <a:xfrm>
            <a:off x="548640" y="37947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งานต่อยอด: push จริง (FCM), iOS, ปรับเทียบ lux, ภาพท้องฟ้าจากมือถือ, เครื่องวัด UV ภาคพื้น, Himawari ฤดูฝน</a:t>
            </a:r>
            <a:endParaRPr lang="en-US" sz="1300" dirty="0"/>
          </a:p>
        </p:txBody>
      </p:sp>
      <p:sp>
        <p:nvSpPr>
          <p:cNvPr id="7" name="text-159"/>
          <p:cNvSpPr txBox="1"/>
          <p:nvPr/>
        </p:nvSpPr>
        <p:spPr>
          <a:xfrm>
            <a:off x="548640" y="42976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1"/>
                </a:solidFill>
              </a:rPr>
              <a:t>ค่าทั้งหมดเป็นค่าประมาณเพื่อการศึกษาและการเตือน ไม่ใช่การวินิจฉัยทางการแพทย์</a:t>
            </a:r>
            <a:endParaRPr lang="en-US" sz="1100" dirty="0"/>
          </a:p>
        </p:txBody>
      </p:sp>
      <p:sp>
        <p:nvSpPr>
          <p:cNvPr id="8" name="TextBox 7"/>
          <p:cNvSpPr txBox="1"/>
          <p:nvPr/>
        </p:nvSpPr>
        <p:spPr>
          <a:xfrm>
            <a:off x="548640" y="292608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28C28"/>
                </a:solidFill>
              </a:rPr>
              <a:t>0.479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38328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</a:rPr>
              <a:t>UVI ผิดเฉลี่ย (test 2025)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4640" y="292608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28C28"/>
                </a:solidFill>
              </a:rPr>
              <a:t>2.6×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338328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</a:rPr>
              <a:t>แม่นกว่า Open-Meteo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0" y="292608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28C28"/>
                </a:solidFill>
              </a:rPr>
              <a:t>98.6 %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0" y="338328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</a:rPr>
              <a:t>ชั่วโมง "สูงมาก" เตือนทัน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UV Guard">
  <a:themeElements>
    <a:clrScheme name="UV Guard">
      <a:dk1>
        <a:srgbClr val="1B1F3B"/>
      </a:dk1>
      <a:lt1>
        <a:srgbClr val="FFFFFF"/>
      </a:lt1>
      <a:dk2>
        <a:srgbClr val="4A5070"/>
      </a:dk2>
      <a:lt2>
        <a:srgbClr val="F2F3F8"/>
      </a:lt2>
      <a:accent1>
        <a:srgbClr val="F28C28"/>
      </a:accent1>
      <a:accent2>
        <a:srgbClr val="3E9B4F"/>
      </a:accent2>
      <a:accent3>
        <a:srgbClr val="D9A400"/>
      </a:accent3>
      <a:accent4>
        <a:srgbClr val="E36B12"/>
      </a:accent4>
      <a:accent5>
        <a:srgbClr val="D22F3A"/>
      </a:accent5>
      <a:accent6>
        <a:srgbClr val="8A3FC2"/>
      </a:accent6>
      <a:hlink>
        <a:srgbClr val="2F6FD6"/>
      </a:hlink>
      <a:folHlink>
        <a:srgbClr val="8A3FC2"/>
      </a:folHlink>
    </a:clrScheme>
    <a:fontScheme name="UV Guard">
      <a:majorFont>
        <a:latin typeface="Leelawadee UI"/>
        <a:ea typeface=""/>
        <a:cs typeface="Leelawadee UI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Leelawadee UI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eelawadee UI"/>
        <a:ea typeface=""/>
        <a:cs typeface="Leelawadee UI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Leelawadee UI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UV Guard</dc:title>
  <dc:subject>PptxGenJS Presentation</dc:subject>
  <dc:creator>Folktom04</dc:creator>
  <cp:lastModifiedBy>Folktom04</cp:lastModifiedBy>
  <cp:revision>1</cp:revision>
  <dcterms:created xsi:type="dcterms:W3CDTF">2026-10-02T20:39:13Z</dcterms:created>
  <dcterms:modified xsi:type="dcterms:W3CDTF">2026-10-02T20:39:13Z</dcterms:modified>
</cp:coreProperties>
</file>